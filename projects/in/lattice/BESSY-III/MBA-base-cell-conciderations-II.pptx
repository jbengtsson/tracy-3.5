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81" r:id="rId3"/>
    <p:sldId id="266" r:id="rId4"/>
    <p:sldId id="302" r:id="rId5"/>
    <p:sldId id="305" r:id="rId6"/>
    <p:sldId id="303" r:id="rId7"/>
    <p:sldId id="304" r:id="rId8"/>
    <p:sldId id="301" r:id="rId9"/>
    <p:sldId id="306" r:id="rId10"/>
    <p:sldId id="279" r:id="rId11"/>
    <p:sldId id="307" r:id="rId12"/>
    <p:sldId id="308" r:id="rId13"/>
    <p:sldId id="317" r:id="rId14"/>
    <p:sldId id="309" r:id="rId15"/>
    <p:sldId id="318" r:id="rId16"/>
    <p:sldId id="311" r:id="rId17"/>
    <p:sldId id="319" r:id="rId18"/>
    <p:sldId id="349" r:id="rId19"/>
    <p:sldId id="350" r:id="rId20"/>
    <p:sldId id="314" r:id="rId21"/>
    <p:sldId id="321" r:id="rId22"/>
    <p:sldId id="357" r:id="rId23"/>
    <p:sldId id="344" r:id="rId24"/>
    <p:sldId id="351" r:id="rId25"/>
    <p:sldId id="335" r:id="rId26"/>
    <p:sldId id="376" r:id="rId27"/>
    <p:sldId id="322" r:id="rId28"/>
    <p:sldId id="367" r:id="rId29"/>
    <p:sldId id="355" r:id="rId30"/>
    <p:sldId id="364" r:id="rId31"/>
    <p:sldId id="359" r:id="rId32"/>
    <p:sldId id="358" r:id="rId33"/>
    <p:sldId id="365" r:id="rId34"/>
    <p:sldId id="362" r:id="rId35"/>
    <p:sldId id="363" r:id="rId36"/>
    <p:sldId id="366" r:id="rId37"/>
    <p:sldId id="368" r:id="rId38"/>
    <p:sldId id="369" r:id="rId39"/>
    <p:sldId id="370" r:id="rId40"/>
    <p:sldId id="373" r:id="rId41"/>
    <p:sldId id="361" r:id="rId42"/>
    <p:sldId id="372" r:id="rId43"/>
    <p:sldId id="371" r:id="rId44"/>
    <p:sldId id="374" r:id="rId45"/>
    <p:sldId id="375" r:id="rId46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534">
          <p15:clr>
            <a:srgbClr val="A4A3A4"/>
          </p15:clr>
        </p15:guide>
        <p15:guide id="2" orient="horz" pos="2024">
          <p15:clr>
            <a:srgbClr val="A4A3A4"/>
          </p15:clr>
        </p15:guide>
        <p15:guide id="3" pos="5559">
          <p15:clr>
            <a:srgbClr val="A4A3A4"/>
          </p15:clr>
        </p15:guide>
        <p15:guide id="4" pos="1837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FFFF"/>
    <a:srgbClr val="00589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>
      <p:cViewPr varScale="1">
        <p:scale>
          <a:sx n="77" d="100"/>
          <a:sy n="77" d="100"/>
        </p:scale>
        <p:origin x="-930" y="-96"/>
      </p:cViewPr>
      <p:guideLst>
        <p:guide orient="horz" pos="1534"/>
        <p:guide orient="horz" pos="2024"/>
        <p:guide pos="5559"/>
        <p:guide pos="183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796" y="-120"/>
      </p:cViewPr>
      <p:guideLst>
        <p:guide orient="horz" pos="2880"/>
        <p:guide pos="2160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E9034CD-87BA-4FFD-BF8D-CE8D8F7D4242}" type="datetimeFigureOut">
              <a:rPr lang="de-DE"/>
              <a:pPr>
                <a:defRPr/>
              </a:pPr>
              <a:t>25.11.2020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14CBDC0C-9817-4470-81EA-B3A12ACEE5CB}" type="slidenum">
              <a:rPr lang="de-DE" altLang="en-US"/>
              <a:pPr/>
              <a:t>‹Nr.›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2989990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6" descr="Wissenschaftl_Info_ab_Willkommen.bmp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35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2 Fotos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9200" y="1018800"/>
            <a:ext cx="8671689" cy="825104"/>
          </a:xfrm>
        </p:spPr>
        <p:txBody>
          <a:bodyPr/>
          <a:lstStyle>
            <a:lvl1pPr marL="0" indent="0">
              <a:lnSpc>
                <a:spcPts val="2800"/>
              </a:lnSpc>
              <a:defRPr/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143240" y="2435224"/>
            <a:ext cx="5000660" cy="230832"/>
          </a:xfrm>
        </p:spPr>
        <p:txBody>
          <a:bodyPr wrap="square">
            <a:spAutoFit/>
          </a:bodyPr>
          <a:lstStyle>
            <a:lvl1pPr marL="0" indent="0">
              <a:lnSpc>
                <a:spcPts val="1800"/>
              </a:lnSpc>
              <a:defRPr sz="1400" b="0" cap="none" baseline="0">
                <a:solidFill>
                  <a:schemeClr val="tx1"/>
                </a:solidFill>
              </a:defRPr>
            </a:lvl1pPr>
            <a:lvl2pPr>
              <a:lnSpc>
                <a:spcPts val="2400"/>
              </a:lnSpc>
              <a:buFont typeface="Arial" pitchFamily="34" charset="0"/>
              <a:buChar char="•"/>
              <a:defRPr b="1"/>
            </a:lvl2pPr>
          </a:lstStyle>
          <a:p>
            <a:pPr lvl="0"/>
            <a:r>
              <a:rPr lang="de-DE" dirty="0" smtClean="0"/>
              <a:t>Textmasterformate durch Klicken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4"/>
          </p:nvPr>
        </p:nvSpPr>
        <p:spPr>
          <a:xfrm>
            <a:off x="3836386" y="3429000"/>
            <a:ext cx="5236208" cy="785818"/>
          </a:xfrm>
        </p:spPr>
        <p:txBody>
          <a:bodyPr>
            <a:noAutofit/>
          </a:bodyPr>
          <a:lstStyle>
            <a:lvl1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1pPr>
            <a:lvl2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2pPr>
            <a:lvl3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3pPr>
            <a:lvl4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4pPr>
            <a:lvl5pPr marL="265113" indent="-265113" defTabSz="358775">
              <a:lnSpc>
                <a:spcPts val="2400"/>
              </a:lnSpc>
              <a:buFont typeface="Arial" pitchFamily="34" charset="0"/>
              <a:buChar char="•"/>
              <a:defRPr sz="1800" b="1" cap="none"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FA576645-5E5F-4892-A2AA-3F784726F915}" type="slidenum">
              <a:rPr lang="de-DE" altLang="en-US"/>
              <a:pPr/>
              <a:t>‹Nr.›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58777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9200" y="1018800"/>
            <a:ext cx="8671689" cy="825104"/>
          </a:xfrm>
        </p:spPr>
        <p:txBody>
          <a:bodyPr/>
          <a:lstStyle>
            <a:lvl1pPr marL="0" indent="0">
              <a:lnSpc>
                <a:spcPts val="2800"/>
              </a:lnSpc>
              <a:spcBef>
                <a:spcPts val="0"/>
              </a:spcBef>
              <a:defRPr>
                <a:solidFill>
                  <a:srgbClr val="00589C"/>
                </a:solidFill>
              </a:defRPr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1285852" y="1981967"/>
            <a:ext cx="7110433" cy="307777"/>
          </a:xfrm>
        </p:spPr>
        <p:txBody>
          <a:bodyPr>
            <a:spAutoFit/>
          </a:bodyPr>
          <a:lstStyle>
            <a:lvl1pPr marL="265113" indent="-265113">
              <a:lnSpc>
                <a:spcPts val="2400"/>
              </a:lnSpc>
              <a:buFont typeface="Arial" pitchFamily="34" charset="0"/>
              <a:buChar char="•"/>
              <a:defRPr sz="1800" b="1" cap="none" baseline="0">
                <a:solidFill>
                  <a:schemeClr val="tx1"/>
                </a:solidFill>
              </a:defRPr>
            </a:lvl1pPr>
            <a:lvl2pPr>
              <a:lnSpc>
                <a:spcPts val="2400"/>
              </a:lnSpc>
              <a:buFont typeface="Arial" pitchFamily="34" charset="0"/>
              <a:buChar char="•"/>
              <a:defRPr b="1"/>
            </a:lvl2pPr>
          </a:lstStyle>
          <a:p>
            <a:pPr lvl="0"/>
            <a:r>
              <a:rPr lang="de-DE" dirty="0" smtClean="0"/>
              <a:t>Textmasterformate durch Klicken</a:t>
            </a:r>
            <a:endParaRPr lang="de-DE" dirty="0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fld id="{C3FD5781-ABFD-4250-8CCF-E55B27600506}" type="slidenum">
              <a:rPr lang="de-DE" altLang="en-US"/>
              <a:pPr/>
              <a:t>‹Nr.›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3905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800100" y="142875"/>
            <a:ext cx="82296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smtClean="0"/>
              <a:t>HIER STEHT EIN KOLUMNENTITEL IN VERSALIEN 14 PT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7188" y="1019175"/>
            <a:ext cx="8766175" cy="4778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96088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589C"/>
                </a:solidFill>
              </a:defRPr>
            </a:lvl1pPr>
          </a:lstStyle>
          <a:p>
            <a:fld id="{10CFB329-BD44-4E9A-9B40-BDAE5C2D4876}" type="slidenum">
              <a:rPr lang="de-DE" altLang="en-US"/>
              <a:pPr/>
              <a:t>‹Nr.›</a:t>
            </a:fld>
            <a:endParaRPr lang="de-DE" altLang="en-US"/>
          </a:p>
        </p:txBody>
      </p:sp>
      <p:pic>
        <p:nvPicPr>
          <p:cNvPr id="1029" name="Grafik 8" descr="Wissenschaftl_Info_a_Kopf.bmp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6" r:id="rId2"/>
    <p:sldLayoutId id="2147483667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400" b="1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5156200" indent="-5156200" algn="l" rtl="0" eaLnBrk="0" fontAlgn="base" hangingPunct="0">
        <a:lnSpc>
          <a:spcPts val="2800"/>
        </a:lnSpc>
        <a:spcBef>
          <a:spcPct val="20000"/>
        </a:spcBef>
        <a:spcAft>
          <a:spcPct val="0"/>
        </a:spcAft>
        <a:buFont typeface="Arial" panose="020B0604020202020204" pitchFamily="34" charset="0"/>
        <a:defRPr sz="2100" b="1" kern="1200" cap="all">
          <a:solidFill>
            <a:srgbClr val="00589C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922963" indent="-1809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>
          <a:tab pos="1169988" algn="l"/>
        </a:tabLst>
        <a:defRPr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32480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Untertitel 2"/>
          <p:cNvSpPr>
            <a:spLocks noGrp="1"/>
          </p:cNvSpPr>
          <p:nvPr>
            <p:ph type="subTitle" idx="4294967295"/>
          </p:nvPr>
        </p:nvSpPr>
        <p:spPr bwMode="auto">
          <a:xfrm>
            <a:off x="1928813" y="3143250"/>
            <a:ext cx="6858000" cy="180049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1" hangingPunct="1">
              <a:lnSpc>
                <a:spcPts val="2400"/>
              </a:lnSpc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LIMITS OF</a:t>
            </a:r>
          </a:p>
          <a:p>
            <a:pPr marL="0" indent="0" eaLnBrk="1" hangingPunct="1">
              <a:lnSpc>
                <a:spcPts val="2400"/>
              </a:lnSpc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MBA–LATTICES WITH </a:t>
            </a:r>
            <a:r>
              <a:rPr lang="de-DE" altLang="en-US" sz="2000" cap="none" dirty="0">
                <a:solidFill>
                  <a:schemeClr val="bg1"/>
                </a:solidFill>
              </a:rPr>
              <a:t>REVERSE </a:t>
            </a:r>
            <a:r>
              <a:rPr lang="de-DE" altLang="en-US" sz="2000" cap="none" dirty="0" smtClean="0">
                <a:solidFill>
                  <a:schemeClr val="bg1"/>
                </a:solidFill>
              </a:rPr>
              <a:t>BENDS</a:t>
            </a:r>
          </a:p>
          <a:p>
            <a:pPr marL="0" indent="0" eaLnBrk="1" hangingPunct="1">
              <a:lnSpc>
                <a:spcPts val="2400"/>
              </a:lnSpc>
            </a:pPr>
            <a:r>
              <a:rPr lang="de-DE" altLang="en-US" sz="2000" cap="none" dirty="0">
                <a:solidFill>
                  <a:schemeClr val="bg1"/>
                </a:solidFill>
              </a:rPr>
              <a:t>USING SEPERATED FUNCTION </a:t>
            </a:r>
            <a:r>
              <a:rPr lang="de-DE" altLang="en-US" sz="2000" cap="none" dirty="0" smtClean="0">
                <a:solidFill>
                  <a:schemeClr val="bg1"/>
                </a:solidFill>
              </a:rPr>
              <a:t>MAGNETS </a:t>
            </a:r>
          </a:p>
          <a:p>
            <a:pPr marL="0" indent="0" eaLnBrk="1" hangingPunct="1">
              <a:lnSpc>
                <a:spcPts val="2400"/>
              </a:lnSpc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PART II</a:t>
            </a:r>
          </a:p>
          <a:p>
            <a:pPr marL="0" indent="0" eaLnBrk="1" hangingPunct="1">
              <a:lnSpc>
                <a:spcPts val="2400"/>
              </a:lnSpc>
              <a:spcBef>
                <a:spcPts val="600"/>
              </a:spcBef>
            </a:pPr>
            <a:r>
              <a:rPr lang="de-DE" altLang="en-US" sz="2000" cap="none" dirty="0" smtClean="0">
                <a:solidFill>
                  <a:schemeClr val="bg1"/>
                </a:solidFill>
              </a:rPr>
              <a:t>Bettina Kuske, 11-2020</a:t>
            </a:r>
          </a:p>
        </p:txBody>
      </p:sp>
      <p:sp>
        <p:nvSpPr>
          <p:cNvPr id="3075" name="Titel 1"/>
          <p:cNvSpPr>
            <a:spLocks noGrp="1"/>
          </p:cNvSpPr>
          <p:nvPr>
            <p:ph type="ctrTitle" idx="4294967295"/>
          </p:nvPr>
        </p:nvSpPr>
        <p:spPr>
          <a:xfrm>
            <a:off x="1000125" y="1928813"/>
            <a:ext cx="5072063" cy="785812"/>
          </a:xfrm>
        </p:spPr>
        <p:txBody>
          <a:bodyPr/>
          <a:lstStyle/>
          <a:p>
            <a:pPr eaLnBrk="1" hangingPunct="1"/>
            <a:r>
              <a:rPr lang="de-DE" altLang="en-US" sz="2400" dirty="0" smtClean="0">
                <a:solidFill>
                  <a:srgbClr val="00589C"/>
                </a:solidFill>
              </a:rPr>
              <a:t>BIII – </a:t>
            </a:r>
            <a:r>
              <a:rPr lang="en-US" altLang="en-US" sz="2400" dirty="0" smtClean="0">
                <a:solidFill>
                  <a:srgbClr val="00589C"/>
                </a:solidFill>
              </a:rPr>
              <a:t>Lattice</a:t>
            </a:r>
            <a:r>
              <a:rPr lang="de-DE" altLang="en-US" sz="2400" dirty="0" smtClean="0">
                <a:solidFill>
                  <a:srgbClr val="00589C"/>
                </a:solidFill>
              </a:rPr>
              <a:t>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 Content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</a:t>
            </a:fld>
            <a:endParaRPr lang="de-DE" altLang="en-US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477000" y="1482067"/>
            <a:ext cx="8370000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smtClean="0"/>
              <a:t>Structure of  this talk: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Short recapitulation of last talks results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Matching cell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Further boundary conditions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Restrictions on </a:t>
            </a:r>
            <a:r>
              <a:rPr lang="en-US" dirty="0" smtClean="0">
                <a:latin typeface="Symbol" panose="05050102010706020507" pitchFamily="18" charset="2"/>
              </a:rPr>
              <a:t>a 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Restrictions of normalized chromaticity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Options to relax previous boundary conditions in order to meet new ones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Lattice options for BIII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85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 smtClean="0"/>
              <a:t>Summary last talk I</a:t>
            </a:r>
            <a:endParaRPr lang="en-US" sz="1800" dirty="0"/>
          </a:p>
        </p:txBody>
      </p:sp>
      <p:sp>
        <p:nvSpPr>
          <p:cNvPr id="5123" name="Foliennummernplatzhalter 5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E81FAFB-47D4-49EE-AB5E-989078B373F4}" type="slidenum">
              <a:rPr lang="de-DE" altLang="en-US" sz="1200"/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de-DE" altLang="en-US" sz="1200"/>
          </a:p>
        </p:txBody>
      </p:sp>
      <p:sp>
        <p:nvSpPr>
          <p:cNvPr id="7" name="Textfeld 6"/>
          <p:cNvSpPr txBox="1"/>
          <p:nvPr/>
        </p:nvSpPr>
        <p:spPr>
          <a:xfrm>
            <a:off x="307882" y="864000"/>
            <a:ext cx="8847358" cy="48320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b="1" dirty="0" smtClean="0"/>
              <a:t>„</a:t>
            </a:r>
            <a:r>
              <a:rPr lang="en-US" b="1" dirty="0"/>
              <a:t>Prototype“ lattices:</a:t>
            </a:r>
          </a:p>
          <a:p>
            <a:pPr lvl="1"/>
            <a:r>
              <a:rPr lang="en-US" i="1" dirty="0"/>
              <a:t>Typical lattice solutions </a:t>
            </a:r>
            <a:r>
              <a:rPr lang="en-US" i="1" dirty="0" smtClean="0"/>
              <a:t>that emerge from certain </a:t>
            </a:r>
            <a:r>
              <a:rPr lang="en-US" i="1" dirty="0"/>
              <a:t>boundary </a:t>
            </a:r>
            <a:r>
              <a:rPr lang="en-US" i="1" dirty="0" smtClean="0"/>
              <a:t>conditions</a:t>
            </a:r>
          </a:p>
          <a:p>
            <a:pPr lvl="1"/>
            <a:endParaRPr lang="en-US" i="1" dirty="0"/>
          </a:p>
          <a:p>
            <a:pPr>
              <a:defRPr/>
            </a:pPr>
            <a:r>
              <a:rPr lang="en-US" b="1" dirty="0" smtClean="0">
                <a:latin typeface="Arial" charset="0"/>
                <a:cs typeface="Arial" charset="0"/>
              </a:rPr>
              <a:t>Standard MBA lattices:</a:t>
            </a:r>
            <a:endParaRPr lang="en-US" b="1" dirty="0">
              <a:latin typeface="Arial" charset="0"/>
              <a:cs typeface="Arial" charset="0"/>
            </a:endParaRP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(using separated function magnets and reverse bends)</a:t>
            </a:r>
          </a:p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Achromatic arc: </a:t>
            </a:r>
            <a:r>
              <a:rPr lang="en-US" dirty="0">
                <a:latin typeface="Arial" charset="0"/>
                <a:cs typeface="Arial" charset="0"/>
              </a:rPr>
              <a:t>identical MBA-cells and 2 matching cells at each end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Optimization criteria: 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lang="en-US" dirty="0" smtClean="0">
                <a:latin typeface="Arial" charset="0"/>
                <a:cs typeface="Arial" charset="0"/>
              </a:rPr>
              <a:t>TME: theoretical minimal emittance 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lang="en-US" dirty="0" smtClean="0">
                <a:latin typeface="Arial" charset="0"/>
                <a:cs typeface="Arial" charset="0"/>
              </a:rPr>
              <a:t>minimal circumference</a:t>
            </a:r>
          </a:p>
          <a:p>
            <a:pPr lvl="1">
              <a:defRPr/>
            </a:pPr>
            <a:r>
              <a:rPr lang="en-US" dirty="0">
                <a:solidFill>
                  <a:srgbClr val="00589C"/>
                </a:solidFill>
              </a:rPr>
              <a:t>(TME conditions are an important ‘anchor’ in the multi-parameter </a:t>
            </a:r>
            <a:r>
              <a:rPr lang="en-US" dirty="0" smtClean="0">
                <a:solidFill>
                  <a:srgbClr val="00589C"/>
                </a:solidFill>
              </a:rPr>
              <a:t>space</a:t>
            </a:r>
            <a:r>
              <a:rPr lang="en-US" dirty="0">
                <a:solidFill>
                  <a:srgbClr val="00589C"/>
                </a:solidFill>
              </a:rPr>
              <a:t>)</a:t>
            </a:r>
            <a:endParaRPr lang="en-US" dirty="0" smtClean="0">
              <a:latin typeface="Arial" charset="0"/>
              <a:cs typeface="Arial" charset="0"/>
            </a:endParaRPr>
          </a:p>
          <a:p>
            <a:pPr marL="285750" indent="-285750" eaLnBrk="1" hangingPunct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Development </a:t>
            </a:r>
            <a:r>
              <a:rPr lang="en-US" dirty="0">
                <a:latin typeface="Arial" charset="0"/>
                <a:cs typeface="Arial" charset="0"/>
              </a:rPr>
              <a:t>of MBA-cell can follow “deterministic procedure”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  <a:defRPr/>
            </a:pPr>
            <a:r>
              <a:rPr lang="en-US" dirty="0" smtClean="0">
                <a:latin typeface="Arial" charset="0"/>
                <a:cs typeface="Arial" charset="0"/>
              </a:rPr>
              <a:t>Half MBA-cell: Transfer line with “TME” initial conditions (</a:t>
            </a:r>
            <a:r>
              <a:rPr lang="en-US" dirty="0" err="1" smtClean="0">
                <a:latin typeface="Symbol" panose="05050102010706020507" pitchFamily="18" charset="2"/>
                <a:cs typeface="Arial" charset="0"/>
              </a:rPr>
              <a:t>b</a:t>
            </a:r>
            <a:r>
              <a:rPr lang="en-US" baseline="-25000" dirty="0" err="1" smtClean="0">
                <a:latin typeface="Arial" charset="0"/>
                <a:cs typeface="Arial" charset="0"/>
              </a:rPr>
              <a:t>x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dirty="0" err="1" smtClean="0">
                <a:latin typeface="Symbol" panose="05050102010706020507" pitchFamily="18" charset="2"/>
                <a:cs typeface="Arial" charset="0"/>
              </a:rPr>
              <a:t>h</a:t>
            </a:r>
            <a:r>
              <a:rPr lang="en-US" baseline="-25000" dirty="0" err="1" smtClean="0">
                <a:latin typeface="Arial" charset="0"/>
                <a:cs typeface="Arial" charset="0"/>
              </a:rPr>
              <a:t>x</a:t>
            </a:r>
            <a:r>
              <a:rPr lang="en-US" dirty="0" smtClean="0">
                <a:latin typeface="Arial" charset="0"/>
                <a:cs typeface="Arial" charset="0"/>
              </a:rPr>
              <a:t>)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  <a:defRPr/>
            </a:pPr>
            <a:r>
              <a:rPr lang="en-US" dirty="0" smtClean="0">
                <a:latin typeface="Arial" charset="0"/>
                <a:cs typeface="Arial" charset="0"/>
              </a:rPr>
              <a:t>QF, QD </a:t>
            </a:r>
            <a:r>
              <a:rPr lang="en-US" dirty="0">
                <a:latin typeface="Arial" charset="0"/>
                <a:cs typeface="Arial" charset="0"/>
              </a:rPr>
              <a:t>and reverse bend angle to fit </a:t>
            </a:r>
            <a:r>
              <a:rPr lang="en-US" dirty="0" smtClean="0">
                <a:latin typeface="Symbol" panose="05050102010706020507" pitchFamily="18" charset="2"/>
                <a:cs typeface="Arial" charset="0"/>
              </a:rPr>
              <a:t>a</a:t>
            </a:r>
            <a:r>
              <a:rPr lang="en-US" baseline="-25000" dirty="0" smtClean="0">
                <a:latin typeface="Arial" charset="0"/>
                <a:cs typeface="Arial" charset="0"/>
              </a:rPr>
              <a:t>x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+mj-lt"/>
                <a:cs typeface="Arial" charset="0"/>
              </a:rPr>
              <a:t>=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Symbol" panose="05050102010706020507" pitchFamily="18" charset="2"/>
                <a:cs typeface="Arial" charset="0"/>
              </a:rPr>
              <a:t>a</a:t>
            </a:r>
            <a:r>
              <a:rPr lang="en-US" baseline="-25000" dirty="0" smtClean="0">
                <a:latin typeface="Arial" charset="0"/>
                <a:cs typeface="Arial" charset="0"/>
              </a:rPr>
              <a:t>y </a:t>
            </a:r>
            <a:r>
              <a:rPr lang="en-US" dirty="0" smtClean="0">
                <a:latin typeface="+mj-lt"/>
                <a:cs typeface="Arial" charset="0"/>
              </a:rPr>
              <a:t>=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Symbol" panose="05050102010706020507" pitchFamily="18" charset="2"/>
                <a:cs typeface="Arial" charset="0"/>
              </a:rPr>
              <a:t>h</a:t>
            </a:r>
            <a:r>
              <a:rPr lang="en-US" dirty="0" err="1" smtClean="0">
                <a:latin typeface="Cambria Math"/>
                <a:ea typeface="Cambria Math"/>
                <a:cs typeface="Arial" charset="0"/>
              </a:rPr>
              <a:t>'</a:t>
            </a:r>
            <a:r>
              <a:rPr lang="en-US" baseline="-25000" dirty="0" err="1" smtClean="0">
                <a:latin typeface="Arial" charset="0"/>
                <a:cs typeface="Arial" charset="0"/>
              </a:rPr>
              <a:t>x</a:t>
            </a:r>
            <a:r>
              <a:rPr lang="en-US" baseline="-25000" dirty="0" smtClean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+mj-lt"/>
                <a:cs typeface="Arial" charset="0"/>
              </a:rPr>
              <a:t>= 0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smtClean="0"/>
              <a:t>@end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Arial" charset="0"/>
                <a:cs typeface="Arial" charset="0"/>
              </a:rPr>
              <a:t>Reverse bend: negligible impact on </a:t>
            </a:r>
            <a:r>
              <a:rPr lang="en-US" dirty="0" smtClean="0">
                <a:latin typeface="Symbol" panose="05050102010706020507" pitchFamily="18" charset="2"/>
                <a:cs typeface="Arial" charset="0"/>
              </a:rPr>
              <a:t>e,</a:t>
            </a:r>
            <a:r>
              <a:rPr lang="de-DE" dirty="0" smtClean="0">
                <a:latin typeface="Arial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needed for compactness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Hardware: Maximal </a:t>
            </a:r>
            <a:r>
              <a:rPr lang="en-US" dirty="0"/>
              <a:t>fields and gradients (B~1.5T, </a:t>
            </a:r>
            <a:r>
              <a:rPr lang="en-US" dirty="0" smtClean="0"/>
              <a:t>G&lt;100T/m), </a:t>
            </a:r>
            <a:r>
              <a:rPr lang="en-US" dirty="0"/>
              <a:t>equal drifts of 0.1m </a:t>
            </a:r>
          </a:p>
        </p:txBody>
      </p:sp>
    </p:spTree>
    <p:extLst>
      <p:ext uri="{BB962C8B-B14F-4D97-AF65-F5344CB8AC3E}">
        <p14:creationId xmlns:p14="http://schemas.microsoft.com/office/powerpoint/2010/main" val="8719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 </a:t>
            </a:r>
            <a:r>
              <a:rPr lang="en-US" sz="1800" dirty="0"/>
              <a:t>Summary last talk </a:t>
            </a:r>
            <a:r>
              <a:rPr lang="en-US" sz="1800" dirty="0" smtClean="0"/>
              <a:t>II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4</a:t>
            </a:fld>
            <a:endParaRPr lang="de-DE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27000" y="4337839"/>
            <a:ext cx="5502468" cy="1431161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Smallest emittance is not of highest priority</a:t>
            </a:r>
            <a:r>
              <a:rPr lang="en-US" dirty="0">
                <a:solidFill>
                  <a:srgbClr val="00589C"/>
                </a:solidFill>
              </a:rPr>
              <a:t> </a:t>
            </a:r>
            <a:r>
              <a:rPr lang="en-US" dirty="0" smtClean="0">
                <a:solidFill>
                  <a:srgbClr val="00589C"/>
                </a:solidFill>
                <a:sym typeface="Wingdings" panose="05000000000000000000" pitchFamily="2" charset="2"/>
              </a:rPr>
              <a:t></a:t>
            </a:r>
            <a:endParaRPr lang="en-US" dirty="0">
              <a:solidFill>
                <a:srgbClr val="00589C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dirty="0" smtClean="0">
                <a:solidFill>
                  <a:srgbClr val="00589C"/>
                </a:solidFill>
              </a:rPr>
              <a:t>5 bend achromat (3MBA-cells) and </a:t>
            </a:r>
            <a:r>
              <a:rPr lang="en-US" dirty="0">
                <a:solidFill>
                  <a:srgbClr val="00589C"/>
                </a:solidFill>
              </a:rPr>
              <a:t>20 </a:t>
            </a:r>
            <a:r>
              <a:rPr lang="en-US" dirty="0" smtClean="0">
                <a:solidFill>
                  <a:srgbClr val="00589C"/>
                </a:solidFill>
              </a:rPr>
              <a:t>periods:</a:t>
            </a:r>
            <a:endParaRPr lang="en-US" dirty="0">
              <a:solidFill>
                <a:srgbClr val="00589C"/>
              </a:solidFill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00589C"/>
                </a:solidFill>
              </a:rPr>
              <a:t>But: </a:t>
            </a:r>
            <a:r>
              <a:rPr lang="en-US" dirty="0">
                <a:solidFill>
                  <a:srgbClr val="00589C"/>
                </a:solidFill>
              </a:rPr>
              <a:t>results hold for 16 and 18 periods as well</a:t>
            </a:r>
          </a:p>
          <a:p>
            <a:pPr lvl="1">
              <a:spcBef>
                <a:spcPts val="600"/>
              </a:spcBef>
            </a:pPr>
            <a:r>
              <a:rPr lang="de-DE" dirty="0">
                <a:solidFill>
                  <a:srgbClr val="00589C"/>
                </a:solidFill>
              </a:rPr>
              <a:t>(</a:t>
            </a:r>
            <a:r>
              <a:rPr lang="en-US" dirty="0">
                <a:solidFill>
                  <a:srgbClr val="00589C"/>
                </a:solidFill>
              </a:rPr>
              <a:t>different combination of very similar structures</a:t>
            </a:r>
            <a:r>
              <a:rPr lang="en-US" dirty="0" smtClean="0">
                <a:solidFill>
                  <a:srgbClr val="00589C"/>
                </a:solidFill>
              </a:rPr>
              <a:t>)</a:t>
            </a:r>
            <a:endParaRPr lang="en-US" dirty="0">
              <a:solidFill>
                <a:srgbClr val="00589C"/>
              </a:solidFill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313992"/>
              </p:ext>
            </p:extLst>
          </p:nvPr>
        </p:nvGraphicFramePr>
        <p:xfrm>
          <a:off x="792000" y="864000"/>
          <a:ext cx="7515000" cy="2495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021">
                  <a:extLst>
                    <a:ext uri="{9D8B030D-6E8A-4147-A177-3AD203B41FA5}">
                      <a16:colId xmlns="" xmlns:a16="http://schemas.microsoft.com/office/drawing/2014/main" val="1971273616"/>
                    </a:ext>
                  </a:extLst>
                </a:gridCol>
                <a:gridCol w="1208804">
                  <a:extLst>
                    <a:ext uri="{9D8B030D-6E8A-4147-A177-3AD203B41FA5}">
                      <a16:colId xmlns="" xmlns:a16="http://schemas.microsoft.com/office/drawing/2014/main" val="4111015750"/>
                    </a:ext>
                  </a:extLst>
                </a:gridCol>
                <a:gridCol w="1187175">
                  <a:extLst>
                    <a:ext uri="{9D8B030D-6E8A-4147-A177-3AD203B41FA5}">
                      <a16:colId xmlns="" xmlns:a16="http://schemas.microsoft.com/office/drawing/2014/main" val="893517194"/>
                    </a:ext>
                  </a:extLst>
                </a:gridCol>
                <a:gridCol w="1125000">
                  <a:extLst>
                    <a:ext uri="{9D8B030D-6E8A-4147-A177-3AD203B41FA5}">
                      <a16:colId xmlns="" xmlns:a16="http://schemas.microsoft.com/office/drawing/2014/main" val="3609498401"/>
                    </a:ext>
                  </a:extLst>
                </a:gridCol>
                <a:gridCol w="1170000">
                  <a:extLst>
                    <a:ext uri="{9D8B030D-6E8A-4147-A177-3AD203B41FA5}">
                      <a16:colId xmlns="" xmlns:a16="http://schemas.microsoft.com/office/drawing/2014/main" val="2921236950"/>
                    </a:ext>
                  </a:extLst>
                </a:gridCol>
              </a:tblGrid>
              <a:tr h="666901">
                <a:tc gridSpan="2">
                  <a:txBody>
                    <a:bodyPr/>
                    <a:lstStyle/>
                    <a:p>
                      <a:r>
                        <a:rPr lang="de-DE" dirty="0" smtClean="0"/>
                        <a:t>                                                              </a:t>
                      </a:r>
                    </a:p>
                    <a:p>
                      <a:r>
                        <a:rPr lang="de-DE" dirty="0" smtClean="0"/>
                        <a:t>                                      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# achromats / straights</a:t>
                      </a:r>
                    </a:p>
                    <a:p>
                      <a:pPr algn="ctr"/>
                      <a:r>
                        <a:rPr lang="en-US" noProof="0" dirty="0" smtClean="0"/>
                        <a:t>16</a:t>
                      </a:r>
                      <a:r>
                        <a:rPr lang="en-US" baseline="0" noProof="0" dirty="0" smtClean="0"/>
                        <a:t>          </a:t>
                      </a:r>
                      <a:r>
                        <a:rPr lang="de-DE" dirty="0" smtClean="0"/>
                        <a:t>      18</a:t>
                      </a:r>
                      <a:r>
                        <a:rPr lang="en-US" baseline="0" dirty="0" smtClean="0"/>
                        <a:t>                </a:t>
                      </a:r>
                      <a:r>
                        <a:rPr lang="de-DE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96660155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MBA-cell/arc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5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73632561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Angle</a:t>
                      </a:r>
                      <a:r>
                        <a:rPr lang="en-US" baseline="0" noProof="0" dirty="0" smtClean="0"/>
                        <a:t> </a:t>
                      </a:r>
                      <a:r>
                        <a:rPr lang="en-US" noProof="0" dirty="0" smtClean="0"/>
                        <a:t>main-dipole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[°]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2.0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2.4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35351760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Circumference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[m]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332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327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09756561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Emittance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[pm rad]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66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112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73681306"/>
                  </a:ext>
                </a:extLst>
              </a:tr>
              <a:tr h="351951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Efficiency (free space / </a:t>
                      </a:r>
                      <a:r>
                        <a:rPr lang="en-US" noProof="0" dirty="0" err="1" smtClean="0"/>
                        <a:t>circ</a:t>
                      </a:r>
                      <a:r>
                        <a:rPr lang="en-US" noProof="0" dirty="0" smtClean="0"/>
                        <a:t>)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[%]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24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Oval 2"/>
          <p:cNvSpPr/>
          <p:nvPr/>
        </p:nvSpPr>
        <p:spPr>
          <a:xfrm>
            <a:off x="7092000" y="1238941"/>
            <a:ext cx="1252688" cy="237005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eck 3"/>
          <p:cNvSpPr/>
          <p:nvPr/>
        </p:nvSpPr>
        <p:spPr>
          <a:xfrm>
            <a:off x="96056" y="6084000"/>
            <a:ext cx="810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LER workshop 2020, link to talks: https</a:t>
            </a:r>
            <a:r>
              <a:rPr lang="en-US" i="1" dirty="0"/>
              <a:t>://agenda.infn.it/event/20813/timetable/#20201026.detailed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879537" y="3789000"/>
            <a:ext cx="688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Efficiency: SLS2: 17%, Soleil2: 45%, Elettra: 30%, Diamond: 25%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8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Requirements for matching cell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5</a:t>
            </a:fld>
            <a:endParaRPr lang="de-DE" altLang="en-US"/>
          </a:p>
        </p:txBody>
      </p:sp>
      <p:sp>
        <p:nvSpPr>
          <p:cNvPr id="6" name="Textfeld 5"/>
          <p:cNvSpPr txBox="1"/>
          <p:nvPr/>
        </p:nvSpPr>
        <p:spPr>
          <a:xfrm>
            <a:off x="387000" y="1095731"/>
            <a:ext cx="8685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Tasks of matching cell: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Suppress dispersion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Fit beta functions in straight section: injection, optimal conditions for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Need high degree of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As short as possible (1/2 MBA-cell)</a:t>
            </a:r>
          </a:p>
        </p:txBody>
      </p:sp>
      <p:grpSp>
        <p:nvGrpSpPr>
          <p:cNvPr id="7" name="Gruppieren 6"/>
          <p:cNvGrpSpPr>
            <a:grpSpLocks/>
          </p:cNvGrpSpPr>
          <p:nvPr/>
        </p:nvGrpSpPr>
        <p:grpSpPr bwMode="auto">
          <a:xfrm>
            <a:off x="72000" y="4509000"/>
            <a:ext cx="8742362" cy="1513886"/>
            <a:chOff x="77892" y="4640061"/>
            <a:chExt cx="8742580" cy="1513991"/>
          </a:xfrm>
        </p:grpSpPr>
        <p:grpSp>
          <p:nvGrpSpPr>
            <p:cNvPr id="8" name="Gruppieren 70"/>
            <p:cNvGrpSpPr>
              <a:grpSpLocks/>
            </p:cNvGrpSpPr>
            <p:nvPr/>
          </p:nvGrpSpPr>
          <p:grpSpPr bwMode="auto">
            <a:xfrm>
              <a:off x="77892" y="4640061"/>
              <a:ext cx="8742580" cy="1513991"/>
              <a:chOff x="149900" y="2708137"/>
              <a:chExt cx="8742580" cy="1513991"/>
            </a:xfrm>
          </p:grpSpPr>
          <p:sp>
            <p:nvSpPr>
              <p:cNvPr id="12" name="Rechteck 11"/>
              <p:cNvSpPr/>
              <p:nvPr/>
            </p:nvSpPr>
            <p:spPr>
              <a:xfrm>
                <a:off x="541998" y="2981862"/>
                <a:ext cx="577864" cy="836670"/>
              </a:xfrm>
              <a:prstGeom prst="rect">
                <a:avLst/>
              </a:prstGeom>
              <a:solidFill>
                <a:srgbClr val="FFFF00">
                  <a:alpha val="52941"/>
                </a:srgb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3" name="Gerade Verbindung 12"/>
              <p:cNvCxnSpPr/>
              <p:nvPr/>
            </p:nvCxnSpPr>
            <p:spPr>
              <a:xfrm flipV="1">
                <a:off x="1111949" y="2708137"/>
                <a:ext cx="4762" cy="11668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 Verbindung 13"/>
              <p:cNvCxnSpPr/>
              <p:nvPr/>
            </p:nvCxnSpPr>
            <p:spPr>
              <a:xfrm flipV="1">
                <a:off x="3772665" y="2708137"/>
                <a:ext cx="11112" cy="111291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uppieren 14"/>
              <p:cNvGrpSpPr>
                <a:grpSpLocks/>
              </p:cNvGrpSpPr>
              <p:nvPr/>
            </p:nvGrpSpPr>
            <p:grpSpPr bwMode="auto">
              <a:xfrm>
                <a:off x="324529" y="2979619"/>
                <a:ext cx="7343958" cy="1234095"/>
                <a:chOff x="-467327" y="2414798"/>
                <a:chExt cx="13339350" cy="1487898"/>
              </a:xfrm>
            </p:grpSpPr>
            <p:cxnSp>
              <p:nvCxnSpPr>
                <p:cNvPr id="25" name="Gerade Verbindung 24"/>
                <p:cNvCxnSpPr/>
                <p:nvPr/>
              </p:nvCxnSpPr>
              <p:spPr>
                <a:xfrm>
                  <a:off x="-467327" y="3429279"/>
                  <a:ext cx="1333935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Rechteck 25"/>
                <p:cNvSpPr/>
                <p:nvPr/>
              </p:nvSpPr>
              <p:spPr>
                <a:xfrm>
                  <a:off x="970508" y="2414798"/>
                  <a:ext cx="1081336" cy="1008739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7" name="Rechteck 26"/>
                <p:cNvSpPr/>
                <p:nvPr/>
              </p:nvSpPr>
              <p:spPr>
                <a:xfrm>
                  <a:off x="2419074" y="2696172"/>
                  <a:ext cx="504624" cy="721623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" name="Rechteck 27"/>
                <p:cNvSpPr/>
                <p:nvPr/>
              </p:nvSpPr>
              <p:spPr>
                <a:xfrm>
                  <a:off x="4064275" y="2696173"/>
                  <a:ext cx="504624" cy="72162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" name="Rechteck 28"/>
                <p:cNvSpPr/>
                <p:nvPr/>
              </p:nvSpPr>
              <p:spPr>
                <a:xfrm>
                  <a:off x="4940797" y="3441395"/>
                  <a:ext cx="271055" cy="461301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" name="Rechteck 29"/>
                <p:cNvSpPr/>
                <p:nvPr/>
              </p:nvSpPr>
              <p:spPr>
                <a:xfrm>
                  <a:off x="3347622" y="2727884"/>
                  <a:ext cx="350236" cy="692118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" name="Rechteck 30"/>
                <p:cNvSpPr/>
                <p:nvPr/>
              </p:nvSpPr>
              <p:spPr>
                <a:xfrm>
                  <a:off x="5616985" y="2706564"/>
                  <a:ext cx="178781" cy="71457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16" name="Gruppieren 14"/>
              <p:cNvGrpSpPr>
                <a:grpSpLocks/>
              </p:cNvGrpSpPr>
              <p:nvPr/>
            </p:nvGrpSpPr>
            <p:grpSpPr bwMode="auto">
              <a:xfrm flipH="1">
                <a:off x="149900" y="2984382"/>
                <a:ext cx="8742580" cy="1237746"/>
                <a:chOff x="-4153754" y="2421225"/>
                <a:chExt cx="17025518" cy="1506545"/>
              </a:xfrm>
            </p:grpSpPr>
            <p:cxnSp>
              <p:nvCxnSpPr>
                <p:cNvPr id="18" name="Gerade Verbindung 17"/>
                <p:cNvCxnSpPr/>
                <p:nvPr/>
              </p:nvCxnSpPr>
              <p:spPr>
                <a:xfrm flipV="1">
                  <a:off x="-4153754" y="3436065"/>
                  <a:ext cx="17025518" cy="773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Rechteck 18"/>
                <p:cNvSpPr/>
                <p:nvPr/>
              </p:nvSpPr>
              <p:spPr>
                <a:xfrm>
                  <a:off x="972142" y="2421225"/>
                  <a:ext cx="1078972" cy="100677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" name="Rechteck 19"/>
                <p:cNvSpPr/>
                <p:nvPr/>
              </p:nvSpPr>
              <p:spPr>
                <a:xfrm>
                  <a:off x="2409711" y="2707956"/>
                  <a:ext cx="507025" cy="72078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" name="Rechteck 20"/>
                <p:cNvSpPr/>
                <p:nvPr/>
              </p:nvSpPr>
              <p:spPr>
                <a:xfrm>
                  <a:off x="4066847" y="2709151"/>
                  <a:ext cx="503934" cy="718849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" name="Rechteck 21"/>
                <p:cNvSpPr/>
                <p:nvPr/>
              </p:nvSpPr>
              <p:spPr>
                <a:xfrm>
                  <a:off x="4879052" y="3443436"/>
                  <a:ext cx="268971" cy="48433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" name="Rechteck 22"/>
                <p:cNvSpPr/>
                <p:nvPr/>
              </p:nvSpPr>
              <p:spPr>
                <a:xfrm>
                  <a:off x="3326390" y="2707251"/>
                  <a:ext cx="361718" cy="720782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" name="Rechteck 23"/>
                <p:cNvSpPr/>
                <p:nvPr/>
              </p:nvSpPr>
              <p:spPr>
                <a:xfrm>
                  <a:off x="5609563" y="2709151"/>
                  <a:ext cx="185497" cy="718849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</p:grpSp>
        <p:sp>
          <p:nvSpPr>
            <p:cNvPr id="9" name="Rechteck 8"/>
            <p:cNvSpPr/>
            <p:nvPr/>
          </p:nvSpPr>
          <p:spPr bwMode="auto">
            <a:xfrm flipH="1">
              <a:off x="6495889" y="5151298"/>
              <a:ext cx="258769" cy="59376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hteck 9"/>
            <p:cNvSpPr/>
            <p:nvPr/>
          </p:nvSpPr>
          <p:spPr bwMode="auto">
            <a:xfrm flipH="1">
              <a:off x="7006372" y="5151298"/>
              <a:ext cx="258769" cy="592178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hteck 10"/>
            <p:cNvSpPr/>
            <p:nvPr/>
          </p:nvSpPr>
          <p:spPr bwMode="auto">
            <a:xfrm flipH="1">
              <a:off x="7543161" y="5151298"/>
              <a:ext cx="258768" cy="59217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2" name="Textfeld 31"/>
          <p:cNvSpPr txBox="1">
            <a:spLocks noChangeArrowheads="1"/>
          </p:cNvSpPr>
          <p:nvPr/>
        </p:nvSpPr>
        <p:spPr bwMode="auto">
          <a:xfrm>
            <a:off x="3027363" y="4701350"/>
            <a:ext cx="1841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33" name="Freihandform 32"/>
          <p:cNvSpPr/>
          <p:nvPr/>
        </p:nvSpPr>
        <p:spPr>
          <a:xfrm>
            <a:off x="387000" y="5084663"/>
            <a:ext cx="3305525" cy="414337"/>
          </a:xfrm>
          <a:custGeom>
            <a:avLst/>
            <a:gdLst>
              <a:gd name="connsiteX0" fmla="*/ 0 w 2651760"/>
              <a:gd name="connsiteY0" fmla="*/ 400050 h 414418"/>
              <a:gd name="connsiteX1" fmla="*/ 822960 w 2651760"/>
              <a:gd name="connsiteY1" fmla="*/ 400050 h 414418"/>
              <a:gd name="connsiteX2" fmla="*/ 857250 w 2651760"/>
              <a:gd name="connsiteY2" fmla="*/ 388620 h 414418"/>
              <a:gd name="connsiteX3" fmla="*/ 925830 w 2651760"/>
              <a:gd name="connsiteY3" fmla="*/ 377190 h 414418"/>
              <a:gd name="connsiteX4" fmla="*/ 971550 w 2651760"/>
              <a:gd name="connsiteY4" fmla="*/ 365760 h 414418"/>
              <a:gd name="connsiteX5" fmla="*/ 1028700 w 2651760"/>
              <a:gd name="connsiteY5" fmla="*/ 354330 h 414418"/>
              <a:gd name="connsiteX6" fmla="*/ 1062990 w 2651760"/>
              <a:gd name="connsiteY6" fmla="*/ 342900 h 414418"/>
              <a:gd name="connsiteX7" fmla="*/ 1154430 w 2651760"/>
              <a:gd name="connsiteY7" fmla="*/ 320040 h 414418"/>
              <a:gd name="connsiteX8" fmla="*/ 1234440 w 2651760"/>
              <a:gd name="connsiteY8" fmla="*/ 297180 h 414418"/>
              <a:gd name="connsiteX9" fmla="*/ 1268730 w 2651760"/>
              <a:gd name="connsiteY9" fmla="*/ 274320 h 414418"/>
              <a:gd name="connsiteX10" fmla="*/ 1337310 w 2651760"/>
              <a:gd name="connsiteY10" fmla="*/ 251460 h 414418"/>
              <a:gd name="connsiteX11" fmla="*/ 1405890 w 2651760"/>
              <a:gd name="connsiteY11" fmla="*/ 205740 h 414418"/>
              <a:gd name="connsiteX12" fmla="*/ 1474470 w 2651760"/>
              <a:gd name="connsiteY12" fmla="*/ 182880 h 414418"/>
              <a:gd name="connsiteX13" fmla="*/ 1543050 w 2651760"/>
              <a:gd name="connsiteY13" fmla="*/ 148590 h 414418"/>
              <a:gd name="connsiteX14" fmla="*/ 1577340 w 2651760"/>
              <a:gd name="connsiteY14" fmla="*/ 125730 h 414418"/>
              <a:gd name="connsiteX15" fmla="*/ 1611630 w 2651760"/>
              <a:gd name="connsiteY15" fmla="*/ 114300 h 414418"/>
              <a:gd name="connsiteX16" fmla="*/ 1680210 w 2651760"/>
              <a:gd name="connsiteY16" fmla="*/ 68580 h 414418"/>
              <a:gd name="connsiteX17" fmla="*/ 1714500 w 2651760"/>
              <a:gd name="connsiteY17" fmla="*/ 45720 h 414418"/>
              <a:gd name="connsiteX18" fmla="*/ 1783080 w 2651760"/>
              <a:gd name="connsiteY18" fmla="*/ 22860 h 414418"/>
              <a:gd name="connsiteX19" fmla="*/ 1817370 w 2651760"/>
              <a:gd name="connsiteY19" fmla="*/ 11430 h 414418"/>
              <a:gd name="connsiteX20" fmla="*/ 1851660 w 2651760"/>
              <a:gd name="connsiteY20" fmla="*/ 0 h 414418"/>
              <a:gd name="connsiteX21" fmla="*/ 2651760 w 2651760"/>
              <a:gd name="connsiteY21" fmla="*/ 0 h 41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51760" h="414418">
                <a:moveTo>
                  <a:pt x="0" y="400050"/>
                </a:moveTo>
                <a:cubicBezTo>
                  <a:pt x="375285" y="418814"/>
                  <a:pt x="285361" y="419599"/>
                  <a:pt x="822960" y="400050"/>
                </a:cubicBezTo>
                <a:cubicBezTo>
                  <a:pt x="835000" y="399612"/>
                  <a:pt x="845489" y="391234"/>
                  <a:pt x="857250" y="388620"/>
                </a:cubicBezTo>
                <a:cubicBezTo>
                  <a:pt x="879873" y="383593"/>
                  <a:pt x="903105" y="381735"/>
                  <a:pt x="925830" y="377190"/>
                </a:cubicBezTo>
                <a:cubicBezTo>
                  <a:pt x="941234" y="374109"/>
                  <a:pt x="956215" y="369168"/>
                  <a:pt x="971550" y="365760"/>
                </a:cubicBezTo>
                <a:cubicBezTo>
                  <a:pt x="990515" y="361546"/>
                  <a:pt x="1009853" y="359042"/>
                  <a:pt x="1028700" y="354330"/>
                </a:cubicBezTo>
                <a:cubicBezTo>
                  <a:pt x="1040389" y="351408"/>
                  <a:pt x="1051366" y="346070"/>
                  <a:pt x="1062990" y="342900"/>
                </a:cubicBezTo>
                <a:cubicBezTo>
                  <a:pt x="1093301" y="334633"/>
                  <a:pt x="1124624" y="329975"/>
                  <a:pt x="1154430" y="320040"/>
                </a:cubicBezTo>
                <a:cubicBezTo>
                  <a:pt x="1203623" y="303642"/>
                  <a:pt x="1177031" y="311532"/>
                  <a:pt x="1234440" y="297180"/>
                </a:cubicBezTo>
                <a:cubicBezTo>
                  <a:pt x="1245870" y="289560"/>
                  <a:pt x="1256177" y="279899"/>
                  <a:pt x="1268730" y="274320"/>
                </a:cubicBezTo>
                <a:cubicBezTo>
                  <a:pt x="1290750" y="264533"/>
                  <a:pt x="1317260" y="264826"/>
                  <a:pt x="1337310" y="251460"/>
                </a:cubicBezTo>
                <a:cubicBezTo>
                  <a:pt x="1360170" y="236220"/>
                  <a:pt x="1379826" y="214428"/>
                  <a:pt x="1405890" y="205740"/>
                </a:cubicBezTo>
                <a:cubicBezTo>
                  <a:pt x="1428750" y="198120"/>
                  <a:pt x="1454420" y="196246"/>
                  <a:pt x="1474470" y="182880"/>
                </a:cubicBezTo>
                <a:cubicBezTo>
                  <a:pt x="1572740" y="117366"/>
                  <a:pt x="1448406" y="195912"/>
                  <a:pt x="1543050" y="148590"/>
                </a:cubicBezTo>
                <a:cubicBezTo>
                  <a:pt x="1555337" y="142447"/>
                  <a:pt x="1565053" y="131873"/>
                  <a:pt x="1577340" y="125730"/>
                </a:cubicBezTo>
                <a:cubicBezTo>
                  <a:pt x="1588116" y="120342"/>
                  <a:pt x="1601098" y="120151"/>
                  <a:pt x="1611630" y="114300"/>
                </a:cubicBezTo>
                <a:cubicBezTo>
                  <a:pt x="1635647" y="100957"/>
                  <a:pt x="1657350" y="83820"/>
                  <a:pt x="1680210" y="68580"/>
                </a:cubicBezTo>
                <a:cubicBezTo>
                  <a:pt x="1691640" y="60960"/>
                  <a:pt x="1701468" y="50064"/>
                  <a:pt x="1714500" y="45720"/>
                </a:cubicBezTo>
                <a:lnTo>
                  <a:pt x="1783080" y="22860"/>
                </a:lnTo>
                <a:lnTo>
                  <a:pt x="1817370" y="11430"/>
                </a:lnTo>
                <a:cubicBezTo>
                  <a:pt x="1828800" y="7620"/>
                  <a:pt x="1839612" y="0"/>
                  <a:pt x="1851660" y="0"/>
                </a:cubicBezTo>
                <a:lnTo>
                  <a:pt x="265176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Rechteck 33"/>
          <p:cNvSpPr>
            <a:spLocks noChangeArrowheads="1"/>
          </p:cNvSpPr>
          <p:nvPr/>
        </p:nvSpPr>
        <p:spPr bwMode="auto">
          <a:xfrm>
            <a:off x="6389688" y="4264164"/>
            <a:ext cx="11398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h = h</a:t>
            </a:r>
            <a:r>
              <a:rPr lang="en-US" altLang="en-US" sz="1800" b="0" dirty="0">
                <a:solidFill>
                  <a:schemeClr val="tx1"/>
                </a:solidFill>
              </a:rPr>
              <a:t>’ </a:t>
            </a:r>
            <a:r>
              <a:rPr lang="en-US" altLang="en-US" sz="1600" b="0" dirty="0">
                <a:solidFill>
                  <a:schemeClr val="tx1"/>
                </a:solidFill>
              </a:rPr>
              <a:t>= 0</a:t>
            </a:r>
          </a:p>
        </p:txBody>
      </p:sp>
      <p:cxnSp>
        <p:nvCxnSpPr>
          <p:cNvPr id="35" name="Gerade Verbindung mit Pfeil 34"/>
          <p:cNvCxnSpPr>
            <a:stCxn id="34" idx="2"/>
          </p:cNvCxnSpPr>
          <p:nvPr/>
        </p:nvCxnSpPr>
        <p:spPr>
          <a:xfrm flipH="1">
            <a:off x="6280150" y="4634051"/>
            <a:ext cx="679451" cy="8540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ihandform 35"/>
          <p:cNvSpPr/>
          <p:nvPr/>
        </p:nvSpPr>
        <p:spPr>
          <a:xfrm>
            <a:off x="3692525" y="5085763"/>
            <a:ext cx="2376488" cy="503237"/>
          </a:xfrm>
          <a:custGeom>
            <a:avLst/>
            <a:gdLst>
              <a:gd name="connsiteX0" fmla="*/ 0 w 2377440"/>
              <a:gd name="connsiteY0" fmla="*/ 0 h 503924"/>
              <a:gd name="connsiteX1" fmla="*/ 754380 w 2377440"/>
              <a:gd name="connsiteY1" fmla="*/ 11430 h 503924"/>
              <a:gd name="connsiteX2" fmla="*/ 891540 w 2377440"/>
              <a:gd name="connsiteY2" fmla="*/ 80010 h 503924"/>
              <a:gd name="connsiteX3" fmla="*/ 960120 w 2377440"/>
              <a:gd name="connsiteY3" fmla="*/ 114300 h 503924"/>
              <a:gd name="connsiteX4" fmla="*/ 994410 w 2377440"/>
              <a:gd name="connsiteY4" fmla="*/ 125730 h 503924"/>
              <a:gd name="connsiteX5" fmla="*/ 1028700 w 2377440"/>
              <a:gd name="connsiteY5" fmla="*/ 148590 h 503924"/>
              <a:gd name="connsiteX6" fmla="*/ 1097280 w 2377440"/>
              <a:gd name="connsiteY6" fmla="*/ 171450 h 503924"/>
              <a:gd name="connsiteX7" fmla="*/ 1131570 w 2377440"/>
              <a:gd name="connsiteY7" fmla="*/ 194310 h 503924"/>
              <a:gd name="connsiteX8" fmla="*/ 1200150 w 2377440"/>
              <a:gd name="connsiteY8" fmla="*/ 217170 h 503924"/>
              <a:gd name="connsiteX9" fmla="*/ 1303020 w 2377440"/>
              <a:gd name="connsiteY9" fmla="*/ 262890 h 503924"/>
              <a:gd name="connsiteX10" fmla="*/ 1337310 w 2377440"/>
              <a:gd name="connsiteY10" fmla="*/ 274320 h 503924"/>
              <a:gd name="connsiteX11" fmla="*/ 1371600 w 2377440"/>
              <a:gd name="connsiteY11" fmla="*/ 285750 h 503924"/>
              <a:gd name="connsiteX12" fmla="*/ 1405890 w 2377440"/>
              <a:gd name="connsiteY12" fmla="*/ 308610 h 503924"/>
              <a:gd name="connsiteX13" fmla="*/ 1440180 w 2377440"/>
              <a:gd name="connsiteY13" fmla="*/ 320040 h 503924"/>
              <a:gd name="connsiteX14" fmla="*/ 1588770 w 2377440"/>
              <a:gd name="connsiteY14" fmla="*/ 342900 h 503924"/>
              <a:gd name="connsiteX15" fmla="*/ 1725930 w 2377440"/>
              <a:gd name="connsiteY15" fmla="*/ 388620 h 503924"/>
              <a:gd name="connsiteX16" fmla="*/ 1760220 w 2377440"/>
              <a:gd name="connsiteY16" fmla="*/ 400050 h 503924"/>
              <a:gd name="connsiteX17" fmla="*/ 1794510 w 2377440"/>
              <a:gd name="connsiteY17" fmla="*/ 411480 h 503924"/>
              <a:gd name="connsiteX18" fmla="*/ 1851660 w 2377440"/>
              <a:gd name="connsiteY18" fmla="*/ 422910 h 503924"/>
              <a:gd name="connsiteX19" fmla="*/ 1965960 w 2377440"/>
              <a:gd name="connsiteY19" fmla="*/ 457200 h 503924"/>
              <a:gd name="connsiteX20" fmla="*/ 2057400 w 2377440"/>
              <a:gd name="connsiteY20" fmla="*/ 468630 h 503924"/>
              <a:gd name="connsiteX21" fmla="*/ 2286000 w 2377440"/>
              <a:gd name="connsiteY21" fmla="*/ 491490 h 503924"/>
              <a:gd name="connsiteX22" fmla="*/ 2377440 w 2377440"/>
              <a:gd name="connsiteY22" fmla="*/ 502920 h 50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77440" h="503924">
                <a:moveTo>
                  <a:pt x="0" y="0"/>
                </a:moveTo>
                <a:cubicBezTo>
                  <a:pt x="251460" y="3810"/>
                  <a:pt x="503109" y="960"/>
                  <a:pt x="754380" y="11430"/>
                </a:cubicBezTo>
                <a:cubicBezTo>
                  <a:pt x="843218" y="15132"/>
                  <a:pt x="809531" y="52674"/>
                  <a:pt x="891540" y="80010"/>
                </a:cubicBezTo>
                <a:cubicBezTo>
                  <a:pt x="977729" y="108740"/>
                  <a:pt x="871490" y="69985"/>
                  <a:pt x="960120" y="114300"/>
                </a:cubicBezTo>
                <a:cubicBezTo>
                  <a:pt x="970896" y="119688"/>
                  <a:pt x="983634" y="120342"/>
                  <a:pt x="994410" y="125730"/>
                </a:cubicBezTo>
                <a:cubicBezTo>
                  <a:pt x="1006697" y="131873"/>
                  <a:pt x="1016147" y="143011"/>
                  <a:pt x="1028700" y="148590"/>
                </a:cubicBezTo>
                <a:cubicBezTo>
                  <a:pt x="1050720" y="158377"/>
                  <a:pt x="1077230" y="158084"/>
                  <a:pt x="1097280" y="171450"/>
                </a:cubicBezTo>
                <a:cubicBezTo>
                  <a:pt x="1108710" y="179070"/>
                  <a:pt x="1119017" y="188731"/>
                  <a:pt x="1131570" y="194310"/>
                </a:cubicBezTo>
                <a:cubicBezTo>
                  <a:pt x="1153590" y="204097"/>
                  <a:pt x="1180100" y="203804"/>
                  <a:pt x="1200150" y="217170"/>
                </a:cubicBezTo>
                <a:cubicBezTo>
                  <a:pt x="1254490" y="253396"/>
                  <a:pt x="1221408" y="235686"/>
                  <a:pt x="1303020" y="262890"/>
                </a:cubicBezTo>
                <a:lnTo>
                  <a:pt x="1337310" y="274320"/>
                </a:lnTo>
                <a:cubicBezTo>
                  <a:pt x="1348740" y="278130"/>
                  <a:pt x="1361575" y="279067"/>
                  <a:pt x="1371600" y="285750"/>
                </a:cubicBezTo>
                <a:cubicBezTo>
                  <a:pt x="1383030" y="293370"/>
                  <a:pt x="1393603" y="302467"/>
                  <a:pt x="1405890" y="308610"/>
                </a:cubicBezTo>
                <a:cubicBezTo>
                  <a:pt x="1416666" y="313998"/>
                  <a:pt x="1428595" y="316730"/>
                  <a:pt x="1440180" y="320040"/>
                </a:cubicBezTo>
                <a:cubicBezTo>
                  <a:pt x="1503173" y="338038"/>
                  <a:pt x="1505862" y="333688"/>
                  <a:pt x="1588770" y="342900"/>
                </a:cubicBezTo>
                <a:lnTo>
                  <a:pt x="1725930" y="388620"/>
                </a:lnTo>
                <a:lnTo>
                  <a:pt x="1760220" y="400050"/>
                </a:lnTo>
                <a:cubicBezTo>
                  <a:pt x="1771650" y="403860"/>
                  <a:pt x="1782696" y="409117"/>
                  <a:pt x="1794510" y="411480"/>
                </a:cubicBezTo>
                <a:cubicBezTo>
                  <a:pt x="1813560" y="415290"/>
                  <a:pt x="1832917" y="417798"/>
                  <a:pt x="1851660" y="422910"/>
                </a:cubicBezTo>
                <a:cubicBezTo>
                  <a:pt x="1899569" y="435976"/>
                  <a:pt x="1920054" y="449549"/>
                  <a:pt x="1965960" y="457200"/>
                </a:cubicBezTo>
                <a:cubicBezTo>
                  <a:pt x="1996259" y="462250"/>
                  <a:pt x="2026893" y="465041"/>
                  <a:pt x="2057400" y="468630"/>
                </a:cubicBezTo>
                <a:cubicBezTo>
                  <a:pt x="2166725" y="481492"/>
                  <a:pt x="2169053" y="480858"/>
                  <a:pt x="2286000" y="491490"/>
                </a:cubicBezTo>
                <a:cubicBezTo>
                  <a:pt x="2338362" y="508944"/>
                  <a:pt x="2308242" y="502920"/>
                  <a:pt x="2377440" y="502920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" name="TextBox 131"/>
          <p:cNvSpPr txBox="1"/>
          <p:nvPr/>
        </p:nvSpPr>
        <p:spPr>
          <a:xfrm>
            <a:off x="5562000" y="3564000"/>
            <a:ext cx="1680981" cy="369332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589C"/>
                </a:solidFill>
              </a:rPr>
              <a:t>Matching-cell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38" name="Textfeld 113"/>
          <p:cNvSpPr txBox="1">
            <a:spLocks noChangeArrowheads="1"/>
          </p:cNvSpPr>
          <p:nvPr/>
        </p:nvSpPr>
        <p:spPr bwMode="auto">
          <a:xfrm>
            <a:off x="3990977" y="4949112"/>
            <a:ext cx="400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9" name="Textfeld 33"/>
          <p:cNvSpPr txBox="1">
            <a:spLocks noChangeArrowheads="1"/>
          </p:cNvSpPr>
          <p:nvPr/>
        </p:nvSpPr>
        <p:spPr bwMode="auto">
          <a:xfrm>
            <a:off x="4302000" y="5904000"/>
            <a:ext cx="1395000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</a:rPr>
              <a:t>Dispersion suppressor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</a:rPr>
              <a:t>½ MBA-cell</a:t>
            </a:r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40" name="Right Brace 96"/>
          <p:cNvSpPr/>
          <p:nvPr/>
        </p:nvSpPr>
        <p:spPr>
          <a:xfrm rot="5400000">
            <a:off x="4781226" y="4497151"/>
            <a:ext cx="331410" cy="2482288"/>
          </a:xfrm>
          <a:prstGeom prst="rightBrace">
            <a:avLst>
              <a:gd name="adj1" fmla="val 0"/>
              <a:gd name="adj2" fmla="val 4952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feld 33"/>
          <p:cNvSpPr txBox="1">
            <a:spLocks noChangeArrowheads="1"/>
          </p:cNvSpPr>
          <p:nvPr/>
        </p:nvSpPr>
        <p:spPr bwMode="auto">
          <a:xfrm>
            <a:off x="1062000" y="3630446"/>
            <a:ext cx="1567561" cy="338554"/>
          </a:xfrm>
          <a:prstGeom prst="rect">
            <a:avLst/>
          </a:prstGeom>
          <a:noFill/>
          <a:ln w="9525">
            <a:solidFill>
              <a:srgbClr val="00589C"/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/>
              <a:t>Last </a:t>
            </a:r>
            <a:r>
              <a:rPr lang="en-US" altLang="en-US" sz="1600" b="0" dirty="0"/>
              <a:t>MBA-cell</a:t>
            </a:r>
          </a:p>
        </p:txBody>
      </p:sp>
      <p:sp>
        <p:nvSpPr>
          <p:cNvPr id="42" name="Right Brace 96"/>
          <p:cNvSpPr/>
          <p:nvPr/>
        </p:nvSpPr>
        <p:spPr>
          <a:xfrm rot="5400000" flipH="1">
            <a:off x="1619357" y="2308360"/>
            <a:ext cx="301798" cy="3735000"/>
          </a:xfrm>
          <a:prstGeom prst="rightBrace">
            <a:avLst>
              <a:gd name="adj1" fmla="val 0"/>
              <a:gd name="adj2" fmla="val 52242"/>
            </a:avLst>
          </a:prstGeom>
          <a:ln w="28575">
            <a:solidFill>
              <a:srgbClr val="0058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96"/>
          <p:cNvSpPr/>
          <p:nvPr/>
        </p:nvSpPr>
        <p:spPr>
          <a:xfrm rot="5400000">
            <a:off x="7524795" y="4273130"/>
            <a:ext cx="331410" cy="2907000"/>
          </a:xfrm>
          <a:prstGeom prst="rightBrace">
            <a:avLst>
              <a:gd name="adj1" fmla="val 0"/>
              <a:gd name="adj2" fmla="val 4952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feld 33"/>
          <p:cNvSpPr txBox="1">
            <a:spLocks noChangeArrowheads="1"/>
          </p:cNvSpPr>
          <p:nvPr/>
        </p:nvSpPr>
        <p:spPr bwMode="auto">
          <a:xfrm>
            <a:off x="6869338" y="5904000"/>
            <a:ext cx="1617662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0" dirty="0" smtClean="0">
                <a:solidFill>
                  <a:schemeClr val="tx1"/>
                </a:solidFill>
              </a:rPr>
              <a:t>Matching to straight section</a:t>
            </a:r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45" name="Right Brace 96"/>
          <p:cNvSpPr/>
          <p:nvPr/>
        </p:nvSpPr>
        <p:spPr>
          <a:xfrm rot="16200000">
            <a:off x="6252559" y="1440652"/>
            <a:ext cx="331410" cy="5451477"/>
          </a:xfrm>
          <a:prstGeom prst="rightBrace">
            <a:avLst>
              <a:gd name="adj1" fmla="val 0"/>
              <a:gd name="adj2" fmla="val 49522"/>
            </a:avLst>
          </a:prstGeom>
          <a:ln w="28575">
            <a:solidFill>
              <a:srgbClr val="0058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58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84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79" y="1432669"/>
            <a:ext cx="6077902" cy="4014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matching cell with reverse bend, 5-bend, 20 periods</a:t>
            </a:r>
            <a:br>
              <a:rPr lang="en-US" sz="1800" dirty="0" smtClean="0"/>
            </a:br>
            <a:r>
              <a:rPr lang="en-US" sz="1800" dirty="0" smtClean="0"/>
              <a:t>(last talk)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6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6793580" y="1355681"/>
            <a:ext cx="218842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4.74m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de-DE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(1.13 + 1.11+2.5m)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𝜀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108pmrad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-3.4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-1.2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174.4°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12.9°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12.5m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8.7m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3" name="Textfeld 23"/>
          <p:cNvSpPr txBox="1">
            <a:spLocks noChangeArrowheads="1"/>
          </p:cNvSpPr>
          <p:nvPr/>
        </p:nvSpPr>
        <p:spPr bwMode="auto">
          <a:xfrm>
            <a:off x="4887000" y="3412669"/>
            <a:ext cx="612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4" name="Textfeld 51"/>
          <p:cNvSpPr txBox="1">
            <a:spLocks noChangeArrowheads="1"/>
          </p:cNvSpPr>
          <p:nvPr/>
        </p:nvSpPr>
        <p:spPr bwMode="auto">
          <a:xfrm>
            <a:off x="1557000" y="2152669"/>
            <a:ext cx="8854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 smtClean="0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5" name="Textfeld 42"/>
          <p:cNvSpPr txBox="1">
            <a:spLocks noChangeArrowheads="1"/>
          </p:cNvSpPr>
          <p:nvPr/>
        </p:nvSpPr>
        <p:spPr bwMode="auto">
          <a:xfrm>
            <a:off x="3717000" y="3907669"/>
            <a:ext cx="688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000" y="5977669"/>
            <a:ext cx="5237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Problem</a:t>
            </a:r>
            <a:r>
              <a:rPr lang="en-US" dirty="0" smtClean="0"/>
              <a:t>: </a:t>
            </a:r>
            <a:r>
              <a:rPr lang="en-US" dirty="0" smtClean="0">
                <a:sym typeface="Symbol" panose="05050102010706020507" pitchFamily="18" charset="2"/>
              </a:rPr>
              <a:t>MQD, MQF, UQ1, UQ2, UQ3 – 5 knobs</a:t>
            </a:r>
            <a:endParaRPr lang="en-US" dirty="0" smtClean="0"/>
          </a:p>
          <a:p>
            <a:r>
              <a:rPr lang="en-US" dirty="0" smtClean="0"/>
              <a:t>need to fit </a:t>
            </a:r>
            <a:r>
              <a:rPr lang="en-US" dirty="0" smtClean="0">
                <a:sym typeface="Symbol" panose="05050102010706020507" pitchFamily="18" charset="2"/>
              </a:rPr>
              <a:t>, ‘,  </a:t>
            </a:r>
            <a:r>
              <a:rPr lang="en-US" baseline="-25000" dirty="0" smtClean="0">
                <a:sym typeface="Symbol" panose="05050102010706020507" pitchFamily="18" charset="2"/>
              </a:rPr>
              <a:t>x</a:t>
            </a:r>
            <a:r>
              <a:rPr lang="en-US" dirty="0" smtClean="0">
                <a:sym typeface="Symbol" panose="05050102010706020507" pitchFamily="18" charset="2"/>
              </a:rPr>
              <a:t>, </a:t>
            </a:r>
            <a:r>
              <a:rPr lang="en-US" baseline="-25000" dirty="0" smtClean="0">
                <a:sym typeface="Symbol" panose="05050102010706020507" pitchFamily="18" charset="2"/>
              </a:rPr>
              <a:t>y</a:t>
            </a:r>
            <a:r>
              <a:rPr lang="en-US" dirty="0" smtClean="0">
                <a:sym typeface="Symbol" panose="05050102010706020507" pitchFamily="18" charset="2"/>
              </a:rPr>
              <a:t>,</a:t>
            </a:r>
            <a:r>
              <a:rPr lang="en-US" baseline="-25000" dirty="0" smtClean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</a:t>
            </a:r>
            <a:r>
              <a:rPr lang="en-US" baseline="-25000" dirty="0" smtClean="0">
                <a:sym typeface="Symbol" panose="05050102010706020507" pitchFamily="18" charset="2"/>
              </a:rPr>
              <a:t>x</a:t>
            </a:r>
            <a:r>
              <a:rPr lang="en-US" dirty="0" smtClean="0">
                <a:sym typeface="Symbol" panose="05050102010706020507" pitchFamily="18" charset="2"/>
              </a:rPr>
              <a:t>,</a:t>
            </a:r>
            <a:r>
              <a:rPr lang="en-US" baseline="-25000" dirty="0" smtClean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</a:t>
            </a:r>
            <a:r>
              <a:rPr lang="en-US" baseline="-25000" dirty="0" smtClean="0">
                <a:sym typeface="Symbol" panose="05050102010706020507" pitchFamily="18" charset="2"/>
              </a:rPr>
              <a:t>y</a:t>
            </a:r>
            <a:r>
              <a:rPr lang="en-US" dirty="0" smtClean="0">
                <a:sym typeface="Symbol" panose="05050102010706020507" pitchFamily="18" charset="2"/>
              </a:rPr>
              <a:t> - 6 parameters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1107000" y="5347669"/>
            <a:ext cx="630000" cy="63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1557000" y="5347669"/>
            <a:ext cx="885488" cy="63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0"/>
          </p:cNvCxnSpPr>
          <p:nvPr/>
        </p:nvCxnSpPr>
        <p:spPr>
          <a:xfrm flipH="1" flipV="1">
            <a:off x="2277000" y="5347669"/>
            <a:ext cx="818666" cy="63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2682000" y="5347669"/>
            <a:ext cx="945002" cy="63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3177000" y="5347669"/>
            <a:ext cx="990000" cy="630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77000" y="899668"/>
            <a:ext cx="6877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 </a:t>
            </a:r>
            <a:r>
              <a:rPr lang="en-US" dirty="0"/>
              <a:t>conditions fixed by MBA-cell for </a:t>
            </a:r>
            <a:r>
              <a:rPr lang="en-US" dirty="0" err="1">
                <a:latin typeface="Symbol" panose="05050102010706020507" pitchFamily="18" charset="2"/>
                <a:cs typeface="Arial" charset="0"/>
              </a:rPr>
              <a:t>b</a:t>
            </a:r>
            <a:r>
              <a:rPr lang="en-US" baseline="-25000" dirty="0" err="1">
                <a:latin typeface="Arial" charset="0"/>
                <a:cs typeface="Arial" charset="0"/>
              </a:rPr>
              <a:t>x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dirty="0">
                <a:latin typeface="Symbol" panose="05050102010706020507" pitchFamily="18" charset="2"/>
                <a:cs typeface="Arial" charset="0"/>
              </a:rPr>
              <a:t>b</a:t>
            </a:r>
            <a:r>
              <a:rPr lang="en-US" baseline="-25000" dirty="0">
                <a:latin typeface="Arial" charset="0"/>
                <a:cs typeface="Arial" charset="0"/>
              </a:rPr>
              <a:t>y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dirty="0" err="1">
                <a:latin typeface="Symbol" panose="05050102010706020507" pitchFamily="18" charset="2"/>
                <a:cs typeface="Arial" charset="0"/>
              </a:rPr>
              <a:t>h</a:t>
            </a:r>
            <a:r>
              <a:rPr lang="en-US" baseline="-25000" dirty="0" err="1">
                <a:latin typeface="Arial" charset="0"/>
                <a:cs typeface="Arial" charset="0"/>
              </a:rPr>
              <a:t>x</a:t>
            </a:r>
            <a:r>
              <a:rPr lang="en-US" baseline="-25000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 (</a:t>
            </a:r>
            <a:r>
              <a:rPr lang="en-US" dirty="0">
                <a:latin typeface="Symbol" panose="05050102010706020507" pitchFamily="18" charset="2"/>
                <a:cs typeface="Arial" charset="0"/>
              </a:rPr>
              <a:t>a</a:t>
            </a:r>
            <a:r>
              <a:rPr lang="en-US" baseline="-25000" dirty="0">
                <a:latin typeface="Arial" charset="0"/>
                <a:cs typeface="Arial" charset="0"/>
              </a:rPr>
              <a:t>x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=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Symbol" panose="05050102010706020507" pitchFamily="18" charset="2"/>
                <a:cs typeface="Arial" charset="0"/>
              </a:rPr>
              <a:t>a</a:t>
            </a:r>
            <a:r>
              <a:rPr lang="en-US" baseline="-25000" dirty="0">
                <a:latin typeface="Arial" charset="0"/>
                <a:cs typeface="Arial" charset="0"/>
              </a:rPr>
              <a:t>y</a:t>
            </a:r>
            <a:r>
              <a:rPr lang="en-US" dirty="0">
                <a:cs typeface="Arial" charset="0"/>
              </a:rPr>
              <a:t>=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Symbol" panose="05050102010706020507" pitchFamily="18" charset="2"/>
                <a:cs typeface="Arial" charset="0"/>
              </a:rPr>
              <a:t>h</a:t>
            </a:r>
            <a:r>
              <a:rPr lang="en-US" dirty="0" err="1">
                <a:latin typeface="Cambria Math"/>
                <a:ea typeface="Cambria Math"/>
                <a:cs typeface="Arial" charset="0"/>
              </a:rPr>
              <a:t>'</a:t>
            </a:r>
            <a:r>
              <a:rPr lang="en-US" baseline="-25000" dirty="0" err="1">
                <a:latin typeface="Arial" charset="0"/>
                <a:cs typeface="Arial" charset="0"/>
              </a:rPr>
              <a:t>x</a:t>
            </a:r>
            <a:r>
              <a:rPr lang="en-US" baseline="-25000" dirty="0">
                <a:latin typeface="Arial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= 0)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54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“Extended” matching cell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7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7407000" y="959649"/>
            <a:ext cx="1731108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5.93m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𝜀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104pmrad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-5.2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-1.3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320.8°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𝜑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89.3°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err="1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1.5m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1.5m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3" name="Textfeld 23"/>
          <p:cNvSpPr txBox="1">
            <a:spLocks noChangeArrowheads="1"/>
          </p:cNvSpPr>
          <p:nvPr/>
        </p:nvSpPr>
        <p:spPr bwMode="auto">
          <a:xfrm>
            <a:off x="4887000" y="2754000"/>
            <a:ext cx="612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4" name="Textfeld 51"/>
          <p:cNvSpPr txBox="1">
            <a:spLocks noChangeArrowheads="1"/>
          </p:cNvSpPr>
          <p:nvPr/>
        </p:nvSpPr>
        <p:spPr bwMode="auto">
          <a:xfrm>
            <a:off x="1557000" y="1494000"/>
            <a:ext cx="8854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 smtClean="0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 smtClean="0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35" name="Textfeld 42"/>
          <p:cNvSpPr txBox="1">
            <a:spLocks noChangeArrowheads="1"/>
          </p:cNvSpPr>
          <p:nvPr/>
        </p:nvSpPr>
        <p:spPr bwMode="auto">
          <a:xfrm>
            <a:off x="3717000" y="3249000"/>
            <a:ext cx="6889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1800" b="0" baseline="-25000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7744" y="5221377"/>
            <a:ext cx="63786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Solution</a:t>
            </a:r>
            <a:r>
              <a:rPr lang="en-US" dirty="0" smtClean="0"/>
              <a:t>: use ‚QFA‘ (focusing) quadrupoles of last MBA-cell: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</a:t>
            </a:r>
            <a:r>
              <a:rPr lang="en-US" dirty="0" smtClean="0"/>
              <a:t>(significant) change of emittance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Long leaver – small changes in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ymbol" panose="05050102010706020507" pitchFamily="18" charset="2"/>
              </a:rPr>
              <a:t>D</a:t>
            </a:r>
            <a:r>
              <a:rPr lang="en-US" dirty="0" smtClean="0"/>
              <a:t>K(QFA) ~ 1% for 1.5m &lt; </a:t>
            </a:r>
            <a:r>
              <a:rPr lang="en-US" altLang="en-US" dirty="0" err="1" smtClean="0">
                <a:latin typeface="Symbol" panose="05050102010706020507" pitchFamily="18" charset="2"/>
              </a:rPr>
              <a:t>b</a:t>
            </a:r>
            <a:r>
              <a:rPr lang="en-US" altLang="en-US" baseline="-25000" dirty="0" err="1" smtClean="0">
                <a:latin typeface="Cambria Math" panose="02040503050406030204" pitchFamily="18" charset="0"/>
              </a:rPr>
              <a:t>x</a:t>
            </a:r>
            <a:r>
              <a:rPr lang="en-US" altLang="en-US" baseline="-25000" dirty="0">
                <a:latin typeface="Cambria Math" panose="02040503050406030204" pitchFamily="18" charset="0"/>
              </a:rPr>
              <a:t> </a:t>
            </a:r>
            <a:r>
              <a:rPr lang="en-US" altLang="en-US" dirty="0" smtClean="0">
                <a:latin typeface="Cambria Math" panose="02040503050406030204" pitchFamily="18" charset="0"/>
              </a:rPr>
              <a:t>&lt; 17m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Cambria Math" panose="02040503050406030204" pitchFamily="18" charset="0"/>
              </a:rPr>
              <a:t> ‘QDA’ defocussing – not effective 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7" y="639000"/>
            <a:ext cx="7266674" cy="414254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1332000" y="4689000"/>
            <a:ext cx="1485000" cy="53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eschweifte Klammer rechts 3"/>
          <p:cNvSpPr/>
          <p:nvPr/>
        </p:nvSpPr>
        <p:spPr>
          <a:xfrm rot="5400000">
            <a:off x="984926" y="4250655"/>
            <a:ext cx="241608" cy="11674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/>
          <p:cNvSpPr txBox="1"/>
          <p:nvPr/>
        </p:nvSpPr>
        <p:spPr>
          <a:xfrm>
            <a:off x="162000" y="4959000"/>
            <a:ext cx="1430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½ last MBA-cell</a:t>
            </a:r>
            <a:endParaRPr lang="en-US" sz="1400" dirty="0"/>
          </a:p>
        </p:txBody>
      </p:sp>
      <p:sp>
        <p:nvSpPr>
          <p:cNvPr id="14" name="Geschweifte Klammer rechts 13"/>
          <p:cNvSpPr/>
          <p:nvPr/>
        </p:nvSpPr>
        <p:spPr>
          <a:xfrm rot="5400000">
            <a:off x="4040114" y="2338347"/>
            <a:ext cx="287652" cy="49889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feld 14"/>
          <p:cNvSpPr txBox="1"/>
          <p:nvPr/>
        </p:nvSpPr>
        <p:spPr>
          <a:xfrm>
            <a:off x="3456800" y="4959000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Matching-cell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341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Flexibility of the Matching section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8</a:t>
            </a:fld>
            <a:endParaRPr lang="de-DE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147736"/>
              </p:ext>
            </p:extLst>
          </p:nvPr>
        </p:nvGraphicFramePr>
        <p:xfrm>
          <a:off x="1692000" y="1238880"/>
          <a:ext cx="69510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250">
                  <a:extLst>
                    <a:ext uri="{9D8B030D-6E8A-4147-A177-3AD203B41FA5}">
                      <a16:colId xmlns="" xmlns:a16="http://schemas.microsoft.com/office/drawing/2014/main" val="2401964042"/>
                    </a:ext>
                  </a:extLst>
                </a:gridCol>
                <a:gridCol w="728250">
                  <a:extLst>
                    <a:ext uri="{9D8B030D-6E8A-4147-A177-3AD203B41FA5}">
                      <a16:colId xmlns="" xmlns:a16="http://schemas.microsoft.com/office/drawing/2014/main" val="3301760460"/>
                    </a:ext>
                  </a:extLst>
                </a:gridCol>
                <a:gridCol w="728250">
                  <a:extLst>
                    <a:ext uri="{9D8B030D-6E8A-4147-A177-3AD203B41FA5}">
                      <a16:colId xmlns="" xmlns:a16="http://schemas.microsoft.com/office/drawing/2014/main" val="2524537010"/>
                    </a:ext>
                  </a:extLst>
                </a:gridCol>
                <a:gridCol w="728250">
                  <a:extLst>
                    <a:ext uri="{9D8B030D-6E8A-4147-A177-3AD203B41FA5}">
                      <a16:colId xmlns="" xmlns:a16="http://schemas.microsoft.com/office/drawing/2014/main" val="2276629867"/>
                    </a:ext>
                  </a:extLst>
                </a:gridCol>
                <a:gridCol w="777000">
                  <a:extLst>
                    <a:ext uri="{9D8B030D-6E8A-4147-A177-3AD203B41FA5}">
                      <a16:colId xmlns="" xmlns:a16="http://schemas.microsoft.com/office/drawing/2014/main" val="583694801"/>
                    </a:ext>
                  </a:extLst>
                </a:gridCol>
                <a:gridCol w="855000">
                  <a:extLst>
                    <a:ext uri="{9D8B030D-6E8A-4147-A177-3AD203B41FA5}">
                      <a16:colId xmlns="" xmlns:a16="http://schemas.microsoft.com/office/drawing/2014/main" val="2519671090"/>
                    </a:ext>
                  </a:extLst>
                </a:gridCol>
                <a:gridCol w="810000">
                  <a:extLst>
                    <a:ext uri="{9D8B030D-6E8A-4147-A177-3AD203B41FA5}">
                      <a16:colId xmlns="" xmlns:a16="http://schemas.microsoft.com/office/drawing/2014/main" val="2284881151"/>
                    </a:ext>
                  </a:extLst>
                </a:gridCol>
                <a:gridCol w="1596000">
                  <a:extLst>
                    <a:ext uri="{9D8B030D-6E8A-4147-A177-3AD203B41FA5}">
                      <a16:colId xmlns="" xmlns:a16="http://schemas.microsoft.com/office/drawing/2014/main" val="567900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de-DE" sz="1800" dirty="0" err="1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de-DE" sz="1800" dirty="0" err="1" smtClean="0">
                          <a:latin typeface="Arabic Typesetting" panose="03020402040406030203" pitchFamily="66" charset="-78"/>
                          <a:cs typeface="Arabic Typesetting" panose="03020402040406030203" pitchFamily="66" charset="-78"/>
                        </a:rPr>
                        <a:t>x</a:t>
                      </a:r>
                      <a:endParaRPr lang="de-DE" sz="1800" dirty="0" smtClean="0">
                        <a:latin typeface="Arabic Typesetting" panose="03020402040406030203" pitchFamily="66" charset="-78"/>
                        <a:cs typeface="Arabic Typesetting" panose="03020402040406030203" pitchFamily="66" charset="-78"/>
                      </a:endParaRPr>
                    </a:p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de-DE" dirty="0" smtClean="0"/>
                        <a:t>[m]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sz="1800" dirty="0" err="1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de-DE" sz="1800" dirty="0" err="1" smtClean="0">
                          <a:latin typeface="Arabic Typesetting" panose="03020402040406030203" pitchFamily="66" charset="-78"/>
                          <a:cs typeface="Arabic Typesetting" panose="03020402040406030203" pitchFamily="66" charset="-78"/>
                        </a:rPr>
                        <a:t>y</a:t>
                      </a:r>
                      <a:endParaRPr lang="de-DE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/>
                        <a:t>[m]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Qx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Qy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</a:t>
                      </a:r>
                      <a:r>
                        <a:rPr lang="de-DE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>
                          <a:latin typeface="Symbol" panose="05050102010706020507" pitchFamily="18" charset="2"/>
                        </a:rPr>
                        <a:t>x</a:t>
                      </a:r>
                      <a:r>
                        <a:rPr lang="de-DE" dirty="0" err="1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e"/>
                      </a:pPr>
                      <a:r>
                        <a:rPr lang="de-DE" dirty="0" smtClean="0"/>
                        <a:t> </a:t>
                      </a:r>
                    </a:p>
                    <a:p>
                      <a:pPr marL="0" indent="0">
                        <a:buFont typeface="Symbol" panose="05050102010706020507" pitchFamily="18" charset="2"/>
                        <a:buNone/>
                      </a:pPr>
                      <a:r>
                        <a:rPr lang="de-DE" dirty="0" smtClean="0"/>
                        <a:t>[</a:t>
                      </a:r>
                      <a:r>
                        <a:rPr lang="de-DE" dirty="0" err="1" smtClean="0"/>
                        <a:t>pm</a:t>
                      </a:r>
                      <a:r>
                        <a:rPr lang="de-DE" dirty="0" smtClean="0"/>
                        <a:t>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K &gt; 12 </a:t>
                      </a:r>
                    </a:p>
                    <a:p>
                      <a:r>
                        <a:rPr lang="de-DE" dirty="0" smtClean="0"/>
                        <a:t>[1/m²]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464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54.8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-322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33529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52.7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9.9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MQ2 1.6%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9979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51.2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8.1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-310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557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11.0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49.6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9.1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UQ1 3%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1506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17.0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7.0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49.1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6.2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-313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-104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109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UQ1 20%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18616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latin typeface="Symbol" panose="05050102010706020507" pitchFamily="18" charset="2"/>
                        </a:rPr>
                        <a:t>D 5.7</a:t>
                      </a:r>
                      <a:endParaRPr lang="en-US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D 5.3</a:t>
                      </a:r>
                      <a:endParaRPr lang="en-US" dirty="0" smtClean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+/-2%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+/-13%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+/- 2%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72888643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001" y="4322086"/>
            <a:ext cx="3915000" cy="24819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" y="4304175"/>
            <a:ext cx="3926811" cy="2537405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105334" y="2050333"/>
            <a:ext cx="1389532" cy="703775"/>
            <a:chOff x="297000" y="1494000"/>
            <a:chExt cx="1389532" cy="495000"/>
          </a:xfrm>
        </p:grpSpPr>
        <p:sp>
          <p:nvSpPr>
            <p:cNvPr id="8" name="TextBox 7"/>
            <p:cNvSpPr txBox="1"/>
            <p:nvPr/>
          </p:nvSpPr>
          <p:spPr>
            <a:xfrm>
              <a:off x="331703" y="1572223"/>
              <a:ext cx="1332416" cy="368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Soleil injection</a:t>
              </a:r>
            </a:p>
            <a:p>
              <a:pPr algn="ctr"/>
              <a:r>
                <a:rPr lang="en-US" sz="1400" dirty="0" smtClean="0"/>
                <a:t>values</a:t>
              </a:r>
              <a:endParaRPr lang="en-US" sz="1400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297000" y="1494000"/>
              <a:ext cx="1389532" cy="495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62000" y="3449883"/>
            <a:ext cx="1459208" cy="654117"/>
            <a:chOff x="331703" y="2891445"/>
            <a:chExt cx="1459208" cy="654117"/>
          </a:xfrm>
        </p:grpSpPr>
        <p:sp>
          <p:nvSpPr>
            <p:cNvPr id="9" name="TextBox 8"/>
            <p:cNvSpPr txBox="1"/>
            <p:nvPr/>
          </p:nvSpPr>
          <p:spPr>
            <a:xfrm>
              <a:off x="410404" y="2969668"/>
              <a:ext cx="13805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/>
                <a:t>SLS2 injection </a:t>
              </a:r>
            </a:p>
            <a:p>
              <a:pPr algn="ctr"/>
              <a:r>
                <a:rPr lang="en-US" sz="1400" dirty="0" smtClean="0"/>
                <a:t>values</a:t>
              </a:r>
              <a:endParaRPr lang="en-US" sz="1400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331703" y="2891445"/>
              <a:ext cx="1389532" cy="65411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/>
          <p:cNvCxnSpPr>
            <a:stCxn id="12" idx="4"/>
          </p:cNvCxnSpPr>
          <p:nvPr/>
        </p:nvCxnSpPr>
        <p:spPr>
          <a:xfrm>
            <a:off x="800100" y="2754108"/>
            <a:ext cx="891900" cy="46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0"/>
          </p:cNvCxnSpPr>
          <p:nvPr/>
        </p:nvCxnSpPr>
        <p:spPr>
          <a:xfrm>
            <a:off x="856766" y="3449883"/>
            <a:ext cx="835234" cy="33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0701" y="819000"/>
            <a:ext cx="5130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Fitting different beta functions in straight section:</a:t>
            </a:r>
            <a:endParaRPr lang="en-US" dirty="0"/>
          </a:p>
        </p:txBody>
      </p:sp>
      <p:sp>
        <p:nvSpPr>
          <p:cNvPr id="3" name="Textfeld 2"/>
          <p:cNvSpPr txBox="1"/>
          <p:nvPr/>
        </p:nvSpPr>
        <p:spPr>
          <a:xfrm>
            <a:off x="4572000" y="3071782"/>
            <a:ext cx="2664062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 optimization of dynamic aperture at this stage, only crude verification of few initial mm.</a:t>
            </a:r>
            <a:endParaRPr lang="en-US" sz="1600" dirty="0"/>
          </a:p>
        </p:txBody>
      </p:sp>
      <p:sp>
        <p:nvSpPr>
          <p:cNvPr id="4" name="180-Grad-Pfeil 3"/>
          <p:cNvSpPr/>
          <p:nvPr/>
        </p:nvSpPr>
        <p:spPr>
          <a:xfrm flipV="1">
            <a:off x="3762000" y="4149000"/>
            <a:ext cx="2272500" cy="720000"/>
          </a:xfrm>
          <a:prstGeom prst="uturnArrow">
            <a:avLst>
              <a:gd name="adj1" fmla="val 5597"/>
              <a:gd name="adj2" fmla="val 18826"/>
              <a:gd name="adj3" fmla="val 32055"/>
              <a:gd name="adj4" fmla="val 40222"/>
              <a:gd name="adj5" fmla="val 8734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1397415" y="1854000"/>
            <a:ext cx="1890000" cy="423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8" name="Gerade Verbindung mit Pfeil 17"/>
          <p:cNvCxnSpPr>
            <a:stCxn id="5" idx="7"/>
          </p:cNvCxnSpPr>
          <p:nvPr/>
        </p:nvCxnSpPr>
        <p:spPr>
          <a:xfrm flipV="1">
            <a:off x="3010631" y="1629000"/>
            <a:ext cx="1021369" cy="287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4032000" y="1404000"/>
            <a:ext cx="3329999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JB: 1.5-2m for 3-4m undulator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7000" y="4599000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SLS2 </a:t>
            </a:r>
            <a:r>
              <a:rPr lang="en-US" sz="1400" dirty="0" smtClean="0"/>
              <a:t>injection betas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524624" y="4606223"/>
            <a:ext cx="1417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 smtClean="0">
                <a:latin typeface="Symbol" panose="05050102010706020507" pitchFamily="18" charset="2"/>
              </a:rPr>
              <a:t>b</a:t>
            </a:r>
            <a:r>
              <a:rPr lang="de-DE" sz="1400" dirty="0" err="1" smtClean="0"/>
              <a:t>x</a:t>
            </a:r>
            <a:r>
              <a:rPr lang="de-DE" sz="1400" dirty="0" smtClean="0"/>
              <a:t>, = </a:t>
            </a:r>
            <a:r>
              <a:rPr lang="de-DE" sz="1400" dirty="0" err="1" smtClean="0">
                <a:latin typeface="Symbol" panose="05050102010706020507" pitchFamily="18" charset="2"/>
              </a:rPr>
              <a:t>b</a:t>
            </a:r>
            <a:r>
              <a:rPr lang="de-DE" sz="1400" dirty="0" err="1" smtClean="0"/>
              <a:t>y</a:t>
            </a:r>
            <a:r>
              <a:rPr lang="de-DE" sz="1400" dirty="0" smtClean="0"/>
              <a:t> = 1.5m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9042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Reverse bend in matching cell</a:t>
            </a:r>
            <a:endParaRPr lang="en-US" sz="1800" dirty="0"/>
          </a:p>
        </p:txBody>
      </p:sp>
      <p:sp>
        <p:nvSpPr>
          <p:cNvPr id="6" name="Textfeld 5"/>
          <p:cNvSpPr txBox="1"/>
          <p:nvPr/>
        </p:nvSpPr>
        <p:spPr>
          <a:xfrm>
            <a:off x="995807" y="1044674"/>
            <a:ext cx="59212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Reverse bend not needed in matching cell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mbol" panose="05050102010706020507" pitchFamily="18" charset="2"/>
              </a:rPr>
              <a:t>h</a:t>
            </a:r>
            <a:r>
              <a:rPr lang="en-US" dirty="0" smtClean="0"/>
              <a:t>’ = 0, but no conditions on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baseline="-25000" dirty="0" smtClean="0"/>
              <a:t>x</a:t>
            </a:r>
            <a:r>
              <a:rPr lang="en-US" dirty="0" smtClean="0"/>
              <a:t>,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baseline="-25000" dirty="0" smtClean="0"/>
              <a:t>y </a:t>
            </a:r>
            <a:r>
              <a:rPr lang="en-US" dirty="0" smtClean="0"/>
              <a:t> at end of bend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MQF, MQD to fit </a:t>
            </a:r>
            <a:r>
              <a:rPr lang="en-US" dirty="0">
                <a:latin typeface="Symbol" panose="05050102010706020507" pitchFamily="18" charset="2"/>
              </a:rPr>
              <a:t>h </a:t>
            </a:r>
            <a:r>
              <a:rPr lang="en-US" dirty="0" smtClean="0">
                <a:latin typeface="Symbol" panose="05050102010706020507" pitchFamily="18" charset="2"/>
              </a:rPr>
              <a:t>= h</a:t>
            </a:r>
            <a:r>
              <a:rPr lang="en-US" dirty="0"/>
              <a:t>’ = </a:t>
            </a:r>
            <a:r>
              <a:rPr lang="en-US" dirty="0" smtClean="0"/>
              <a:t>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Saves 0.15m*40=6m circumference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Emittance decreases (reduced angle in bend)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increases</a:t>
            </a:r>
          </a:p>
        </p:txBody>
      </p:sp>
      <p:sp>
        <p:nvSpPr>
          <p:cNvPr id="19" name="Foliennummernplatzhalter 4"/>
          <p:cNvSpPr txBox="1">
            <a:spLocks/>
          </p:cNvSpPr>
          <p:nvPr/>
        </p:nvSpPr>
        <p:spPr>
          <a:xfrm>
            <a:off x="6687000" y="64440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rgbClr val="00589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C3FD5781-ABFD-4250-8CCF-E55B27600506}" type="slidenum">
              <a:rPr lang="de-DE" altLang="en-US" smtClean="0"/>
              <a:pPr/>
              <a:t>9</a:t>
            </a:fld>
            <a:endParaRPr lang="de-DE" altLang="en-US" dirty="0"/>
          </a:p>
        </p:txBody>
      </p:sp>
      <p:grpSp>
        <p:nvGrpSpPr>
          <p:cNvPr id="20" name="Gruppieren 19"/>
          <p:cNvGrpSpPr>
            <a:grpSpLocks/>
          </p:cNvGrpSpPr>
          <p:nvPr/>
        </p:nvGrpSpPr>
        <p:grpSpPr bwMode="auto">
          <a:xfrm>
            <a:off x="1245363" y="3387634"/>
            <a:ext cx="6363150" cy="1501202"/>
            <a:chOff x="2457163" y="4640061"/>
            <a:chExt cx="6363309" cy="1501306"/>
          </a:xfrm>
        </p:grpSpPr>
        <p:grpSp>
          <p:nvGrpSpPr>
            <p:cNvPr id="21" name="Gruppieren 70"/>
            <p:cNvGrpSpPr>
              <a:grpSpLocks/>
            </p:cNvGrpSpPr>
            <p:nvPr/>
          </p:nvGrpSpPr>
          <p:grpSpPr bwMode="auto">
            <a:xfrm>
              <a:off x="2457163" y="4640061"/>
              <a:ext cx="6363309" cy="1501306"/>
              <a:chOff x="2529171" y="2708137"/>
              <a:chExt cx="6363309" cy="1501306"/>
            </a:xfrm>
          </p:grpSpPr>
          <p:cxnSp>
            <p:nvCxnSpPr>
              <p:cNvPr id="27" name="Gerade Verbindung 26"/>
              <p:cNvCxnSpPr/>
              <p:nvPr/>
            </p:nvCxnSpPr>
            <p:spPr>
              <a:xfrm flipV="1">
                <a:off x="3772665" y="2708137"/>
                <a:ext cx="11112" cy="111291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" name="Gruppieren 27"/>
              <p:cNvGrpSpPr>
                <a:grpSpLocks/>
              </p:cNvGrpSpPr>
              <p:nvPr/>
            </p:nvGrpSpPr>
            <p:grpSpPr bwMode="auto">
              <a:xfrm>
                <a:off x="2529171" y="3222524"/>
                <a:ext cx="5139316" cy="601814"/>
                <a:chOff x="3537120" y="2707658"/>
                <a:chExt cx="9334903" cy="725583"/>
              </a:xfrm>
            </p:grpSpPr>
            <p:cxnSp>
              <p:nvCxnSpPr>
                <p:cNvPr id="37" name="Gerade Verbindung 36"/>
                <p:cNvCxnSpPr/>
                <p:nvPr/>
              </p:nvCxnSpPr>
              <p:spPr>
                <a:xfrm flipV="1">
                  <a:off x="3537120" y="3429279"/>
                  <a:ext cx="9334903" cy="396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Rechteck 42"/>
                <p:cNvSpPr/>
                <p:nvPr/>
              </p:nvSpPr>
              <p:spPr>
                <a:xfrm>
                  <a:off x="5616985" y="2707658"/>
                  <a:ext cx="178781" cy="721622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uppieren 14"/>
              <p:cNvGrpSpPr>
                <a:grpSpLocks/>
              </p:cNvGrpSpPr>
              <p:nvPr/>
            </p:nvGrpSpPr>
            <p:grpSpPr bwMode="auto">
              <a:xfrm flipH="1">
                <a:off x="2799178" y="2984381"/>
                <a:ext cx="6093302" cy="1225062"/>
                <a:chOff x="-4153754" y="2421225"/>
                <a:chExt cx="11866248" cy="1491107"/>
              </a:xfrm>
            </p:grpSpPr>
            <p:cxnSp>
              <p:nvCxnSpPr>
                <p:cNvPr id="30" name="Gerade Verbindung 29"/>
                <p:cNvCxnSpPr/>
                <p:nvPr/>
              </p:nvCxnSpPr>
              <p:spPr>
                <a:xfrm>
                  <a:off x="-4153754" y="3435729"/>
                  <a:ext cx="11866248" cy="786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Rechteck 30"/>
                <p:cNvSpPr/>
                <p:nvPr/>
              </p:nvSpPr>
              <p:spPr>
                <a:xfrm>
                  <a:off x="972142" y="2421225"/>
                  <a:ext cx="1078972" cy="100677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" name="Rechteck 31"/>
                <p:cNvSpPr/>
                <p:nvPr/>
              </p:nvSpPr>
              <p:spPr>
                <a:xfrm>
                  <a:off x="2410108" y="2714947"/>
                  <a:ext cx="507025" cy="72078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3" name="Rechteck 32"/>
                <p:cNvSpPr/>
                <p:nvPr/>
              </p:nvSpPr>
              <p:spPr>
                <a:xfrm>
                  <a:off x="4066847" y="2709151"/>
                  <a:ext cx="503934" cy="718849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4" name="Rechteck 33"/>
                <p:cNvSpPr/>
                <p:nvPr/>
              </p:nvSpPr>
              <p:spPr>
                <a:xfrm>
                  <a:off x="4879944" y="3427998"/>
                  <a:ext cx="268971" cy="48433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5" name="Rechteck 34"/>
                <p:cNvSpPr/>
                <p:nvPr/>
              </p:nvSpPr>
              <p:spPr>
                <a:xfrm>
                  <a:off x="3346504" y="2704754"/>
                  <a:ext cx="361718" cy="720782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6" name="Rechteck 35"/>
                <p:cNvSpPr/>
                <p:nvPr/>
              </p:nvSpPr>
              <p:spPr>
                <a:xfrm>
                  <a:off x="5609563" y="2709151"/>
                  <a:ext cx="185497" cy="718849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</p:grpSp>
        <p:sp>
          <p:nvSpPr>
            <p:cNvPr id="22" name="Rechteck 21"/>
            <p:cNvSpPr/>
            <p:nvPr/>
          </p:nvSpPr>
          <p:spPr bwMode="auto">
            <a:xfrm flipH="1">
              <a:off x="6822399" y="5151298"/>
              <a:ext cx="258769" cy="59376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Rechteck 22"/>
            <p:cNvSpPr/>
            <p:nvPr/>
          </p:nvSpPr>
          <p:spPr bwMode="auto">
            <a:xfrm flipH="1">
              <a:off x="7333347" y="5149246"/>
              <a:ext cx="258769" cy="592178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Rechteck 23"/>
            <p:cNvSpPr/>
            <p:nvPr/>
          </p:nvSpPr>
          <p:spPr bwMode="auto">
            <a:xfrm flipH="1">
              <a:off x="8270183" y="5151298"/>
              <a:ext cx="258768" cy="59217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4" name="Textfeld 43"/>
          <p:cNvSpPr txBox="1">
            <a:spLocks noChangeArrowheads="1"/>
          </p:cNvSpPr>
          <p:nvPr/>
        </p:nvSpPr>
        <p:spPr bwMode="auto">
          <a:xfrm>
            <a:off x="1740363" y="3596186"/>
            <a:ext cx="1841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46" name="Rechteck 45"/>
          <p:cNvSpPr>
            <a:spLocks noChangeArrowheads="1"/>
          </p:cNvSpPr>
          <p:nvPr/>
        </p:nvSpPr>
        <p:spPr bwMode="auto">
          <a:xfrm>
            <a:off x="5102688" y="3159000"/>
            <a:ext cx="11398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  <a:latin typeface="Symbol" panose="05050102010706020507" pitchFamily="18" charset="2"/>
              </a:rPr>
              <a:t>h = h</a:t>
            </a:r>
            <a:r>
              <a:rPr lang="en-US" altLang="en-US" sz="1800" b="0" dirty="0">
                <a:solidFill>
                  <a:schemeClr val="tx1"/>
                </a:solidFill>
              </a:rPr>
              <a:t>’ </a:t>
            </a:r>
            <a:r>
              <a:rPr lang="en-US" altLang="en-US" sz="1600" b="0" dirty="0">
                <a:solidFill>
                  <a:schemeClr val="tx1"/>
                </a:solidFill>
              </a:rPr>
              <a:t>= 0</a:t>
            </a:r>
          </a:p>
        </p:txBody>
      </p:sp>
      <p:cxnSp>
        <p:nvCxnSpPr>
          <p:cNvPr id="47" name="Gerade Verbindung mit Pfeil 46"/>
          <p:cNvCxnSpPr>
            <a:stCxn id="46" idx="2"/>
          </p:cNvCxnSpPr>
          <p:nvPr/>
        </p:nvCxnSpPr>
        <p:spPr>
          <a:xfrm flipH="1">
            <a:off x="4993150" y="3528887"/>
            <a:ext cx="679451" cy="8540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ihandform 47"/>
          <p:cNvSpPr/>
          <p:nvPr/>
        </p:nvSpPr>
        <p:spPr>
          <a:xfrm>
            <a:off x="2405525" y="3980599"/>
            <a:ext cx="2376488" cy="503237"/>
          </a:xfrm>
          <a:custGeom>
            <a:avLst/>
            <a:gdLst>
              <a:gd name="connsiteX0" fmla="*/ 0 w 2377440"/>
              <a:gd name="connsiteY0" fmla="*/ 0 h 503924"/>
              <a:gd name="connsiteX1" fmla="*/ 754380 w 2377440"/>
              <a:gd name="connsiteY1" fmla="*/ 11430 h 503924"/>
              <a:gd name="connsiteX2" fmla="*/ 891540 w 2377440"/>
              <a:gd name="connsiteY2" fmla="*/ 80010 h 503924"/>
              <a:gd name="connsiteX3" fmla="*/ 960120 w 2377440"/>
              <a:gd name="connsiteY3" fmla="*/ 114300 h 503924"/>
              <a:gd name="connsiteX4" fmla="*/ 994410 w 2377440"/>
              <a:gd name="connsiteY4" fmla="*/ 125730 h 503924"/>
              <a:gd name="connsiteX5" fmla="*/ 1028700 w 2377440"/>
              <a:gd name="connsiteY5" fmla="*/ 148590 h 503924"/>
              <a:gd name="connsiteX6" fmla="*/ 1097280 w 2377440"/>
              <a:gd name="connsiteY6" fmla="*/ 171450 h 503924"/>
              <a:gd name="connsiteX7" fmla="*/ 1131570 w 2377440"/>
              <a:gd name="connsiteY7" fmla="*/ 194310 h 503924"/>
              <a:gd name="connsiteX8" fmla="*/ 1200150 w 2377440"/>
              <a:gd name="connsiteY8" fmla="*/ 217170 h 503924"/>
              <a:gd name="connsiteX9" fmla="*/ 1303020 w 2377440"/>
              <a:gd name="connsiteY9" fmla="*/ 262890 h 503924"/>
              <a:gd name="connsiteX10" fmla="*/ 1337310 w 2377440"/>
              <a:gd name="connsiteY10" fmla="*/ 274320 h 503924"/>
              <a:gd name="connsiteX11" fmla="*/ 1371600 w 2377440"/>
              <a:gd name="connsiteY11" fmla="*/ 285750 h 503924"/>
              <a:gd name="connsiteX12" fmla="*/ 1405890 w 2377440"/>
              <a:gd name="connsiteY12" fmla="*/ 308610 h 503924"/>
              <a:gd name="connsiteX13" fmla="*/ 1440180 w 2377440"/>
              <a:gd name="connsiteY13" fmla="*/ 320040 h 503924"/>
              <a:gd name="connsiteX14" fmla="*/ 1588770 w 2377440"/>
              <a:gd name="connsiteY14" fmla="*/ 342900 h 503924"/>
              <a:gd name="connsiteX15" fmla="*/ 1725930 w 2377440"/>
              <a:gd name="connsiteY15" fmla="*/ 388620 h 503924"/>
              <a:gd name="connsiteX16" fmla="*/ 1760220 w 2377440"/>
              <a:gd name="connsiteY16" fmla="*/ 400050 h 503924"/>
              <a:gd name="connsiteX17" fmla="*/ 1794510 w 2377440"/>
              <a:gd name="connsiteY17" fmla="*/ 411480 h 503924"/>
              <a:gd name="connsiteX18" fmla="*/ 1851660 w 2377440"/>
              <a:gd name="connsiteY18" fmla="*/ 422910 h 503924"/>
              <a:gd name="connsiteX19" fmla="*/ 1965960 w 2377440"/>
              <a:gd name="connsiteY19" fmla="*/ 457200 h 503924"/>
              <a:gd name="connsiteX20" fmla="*/ 2057400 w 2377440"/>
              <a:gd name="connsiteY20" fmla="*/ 468630 h 503924"/>
              <a:gd name="connsiteX21" fmla="*/ 2286000 w 2377440"/>
              <a:gd name="connsiteY21" fmla="*/ 491490 h 503924"/>
              <a:gd name="connsiteX22" fmla="*/ 2377440 w 2377440"/>
              <a:gd name="connsiteY22" fmla="*/ 502920 h 503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77440" h="503924">
                <a:moveTo>
                  <a:pt x="0" y="0"/>
                </a:moveTo>
                <a:cubicBezTo>
                  <a:pt x="251460" y="3810"/>
                  <a:pt x="503109" y="960"/>
                  <a:pt x="754380" y="11430"/>
                </a:cubicBezTo>
                <a:cubicBezTo>
                  <a:pt x="843218" y="15132"/>
                  <a:pt x="809531" y="52674"/>
                  <a:pt x="891540" y="80010"/>
                </a:cubicBezTo>
                <a:cubicBezTo>
                  <a:pt x="977729" y="108740"/>
                  <a:pt x="871490" y="69985"/>
                  <a:pt x="960120" y="114300"/>
                </a:cubicBezTo>
                <a:cubicBezTo>
                  <a:pt x="970896" y="119688"/>
                  <a:pt x="983634" y="120342"/>
                  <a:pt x="994410" y="125730"/>
                </a:cubicBezTo>
                <a:cubicBezTo>
                  <a:pt x="1006697" y="131873"/>
                  <a:pt x="1016147" y="143011"/>
                  <a:pt x="1028700" y="148590"/>
                </a:cubicBezTo>
                <a:cubicBezTo>
                  <a:pt x="1050720" y="158377"/>
                  <a:pt x="1077230" y="158084"/>
                  <a:pt x="1097280" y="171450"/>
                </a:cubicBezTo>
                <a:cubicBezTo>
                  <a:pt x="1108710" y="179070"/>
                  <a:pt x="1119017" y="188731"/>
                  <a:pt x="1131570" y="194310"/>
                </a:cubicBezTo>
                <a:cubicBezTo>
                  <a:pt x="1153590" y="204097"/>
                  <a:pt x="1180100" y="203804"/>
                  <a:pt x="1200150" y="217170"/>
                </a:cubicBezTo>
                <a:cubicBezTo>
                  <a:pt x="1254490" y="253396"/>
                  <a:pt x="1221408" y="235686"/>
                  <a:pt x="1303020" y="262890"/>
                </a:cubicBezTo>
                <a:lnTo>
                  <a:pt x="1337310" y="274320"/>
                </a:lnTo>
                <a:cubicBezTo>
                  <a:pt x="1348740" y="278130"/>
                  <a:pt x="1361575" y="279067"/>
                  <a:pt x="1371600" y="285750"/>
                </a:cubicBezTo>
                <a:cubicBezTo>
                  <a:pt x="1383030" y="293370"/>
                  <a:pt x="1393603" y="302467"/>
                  <a:pt x="1405890" y="308610"/>
                </a:cubicBezTo>
                <a:cubicBezTo>
                  <a:pt x="1416666" y="313998"/>
                  <a:pt x="1428595" y="316730"/>
                  <a:pt x="1440180" y="320040"/>
                </a:cubicBezTo>
                <a:cubicBezTo>
                  <a:pt x="1503173" y="338038"/>
                  <a:pt x="1505862" y="333688"/>
                  <a:pt x="1588770" y="342900"/>
                </a:cubicBezTo>
                <a:lnTo>
                  <a:pt x="1725930" y="388620"/>
                </a:lnTo>
                <a:lnTo>
                  <a:pt x="1760220" y="400050"/>
                </a:lnTo>
                <a:cubicBezTo>
                  <a:pt x="1771650" y="403860"/>
                  <a:pt x="1782696" y="409117"/>
                  <a:pt x="1794510" y="411480"/>
                </a:cubicBezTo>
                <a:cubicBezTo>
                  <a:pt x="1813560" y="415290"/>
                  <a:pt x="1832917" y="417798"/>
                  <a:pt x="1851660" y="422910"/>
                </a:cubicBezTo>
                <a:cubicBezTo>
                  <a:pt x="1899569" y="435976"/>
                  <a:pt x="1920054" y="449549"/>
                  <a:pt x="1965960" y="457200"/>
                </a:cubicBezTo>
                <a:cubicBezTo>
                  <a:pt x="1996259" y="462250"/>
                  <a:pt x="2026893" y="465041"/>
                  <a:pt x="2057400" y="468630"/>
                </a:cubicBezTo>
                <a:cubicBezTo>
                  <a:pt x="2166725" y="481492"/>
                  <a:pt x="2169053" y="480858"/>
                  <a:pt x="2286000" y="491490"/>
                </a:cubicBezTo>
                <a:cubicBezTo>
                  <a:pt x="2338362" y="508944"/>
                  <a:pt x="2308242" y="502920"/>
                  <a:pt x="2377440" y="502920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TextBox 131"/>
          <p:cNvSpPr txBox="1"/>
          <p:nvPr/>
        </p:nvSpPr>
        <p:spPr>
          <a:xfrm>
            <a:off x="480363" y="3202968"/>
            <a:ext cx="1680981" cy="369332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00589C"/>
                </a:solidFill>
              </a:rPr>
              <a:t>Matching-cell</a:t>
            </a:r>
            <a:endParaRPr lang="en-US" dirty="0">
              <a:solidFill>
                <a:srgbClr val="00589C"/>
              </a:solidFill>
            </a:endParaRPr>
          </a:p>
        </p:txBody>
      </p:sp>
      <p:sp>
        <p:nvSpPr>
          <p:cNvPr id="50" name="Textfeld 113"/>
          <p:cNvSpPr txBox="1">
            <a:spLocks noChangeArrowheads="1"/>
          </p:cNvSpPr>
          <p:nvPr/>
        </p:nvSpPr>
        <p:spPr bwMode="auto">
          <a:xfrm>
            <a:off x="2703977" y="3628836"/>
            <a:ext cx="400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0" dirty="0" err="1">
                <a:solidFill>
                  <a:schemeClr val="tx1"/>
                </a:solidFill>
                <a:latin typeface="Symbol" panose="05050102010706020507" pitchFamily="18" charset="2"/>
              </a:rPr>
              <a:t>h</a:t>
            </a:r>
            <a:r>
              <a:rPr lang="en-US" altLang="en-US" sz="1800" b="0" baseline="-25000" dirty="0" err="1">
                <a:solidFill>
                  <a:schemeClr val="tx1"/>
                </a:solidFill>
              </a:rPr>
              <a:t>x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cxnSp>
        <p:nvCxnSpPr>
          <p:cNvPr id="61" name="Gerade Verbindung 60"/>
          <p:cNvCxnSpPr/>
          <p:nvPr/>
        </p:nvCxnSpPr>
        <p:spPr>
          <a:xfrm flipV="1">
            <a:off x="2703977" y="4455761"/>
            <a:ext cx="400050" cy="6183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/>
        </p:nvCxnSpPr>
        <p:spPr>
          <a:xfrm flipH="1" flipV="1">
            <a:off x="2703977" y="4455761"/>
            <a:ext cx="341387" cy="5881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>
          <a:xfrm>
            <a:off x="702000" y="5319000"/>
            <a:ext cx="7761489" cy="1000274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Keep all other </a:t>
            </a:r>
            <a:r>
              <a:rPr lang="en-US" dirty="0"/>
              <a:t>elements (at this stage</a:t>
            </a:r>
            <a:r>
              <a:rPr lang="en-US" dirty="0" smtClean="0"/>
              <a:t>):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Quadrupoles to provide knobs for fitting</a:t>
            </a:r>
          </a:p>
          <a:p>
            <a:r>
              <a:rPr lang="en-US" dirty="0" smtClean="0"/>
              <a:t>Sextupoles to make chromaticity compensation more flexible</a:t>
            </a:r>
            <a:endParaRPr lang="en-US" dirty="0"/>
          </a:p>
        </p:txBody>
      </p:sp>
      <p:sp>
        <p:nvSpPr>
          <p:cNvPr id="38" name="Rechteck 37"/>
          <p:cNvSpPr/>
          <p:nvPr/>
        </p:nvSpPr>
        <p:spPr bwMode="auto">
          <a:xfrm flipH="1">
            <a:off x="5196262" y="3909976"/>
            <a:ext cx="185737" cy="59213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Rechteck 38"/>
          <p:cNvSpPr/>
          <p:nvPr/>
        </p:nvSpPr>
        <p:spPr bwMode="auto">
          <a:xfrm flipH="1">
            <a:off x="6641961" y="3896783"/>
            <a:ext cx="185737" cy="59213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Gerade Verbindung 3"/>
          <p:cNvCxnSpPr>
            <a:stCxn id="31" idx="2"/>
          </p:cNvCxnSpPr>
          <p:nvPr/>
        </p:nvCxnSpPr>
        <p:spPr>
          <a:xfrm flipV="1">
            <a:off x="4699419" y="2799000"/>
            <a:ext cx="0" cy="169194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25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02" y="1208212"/>
            <a:ext cx="8592161" cy="41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59" y="166540"/>
            <a:ext cx="8229600" cy="439738"/>
          </a:xfrm>
        </p:spPr>
        <p:txBody>
          <a:bodyPr/>
          <a:lstStyle/>
          <a:p>
            <a:r>
              <a:rPr lang="en-US" sz="1800" dirty="0"/>
              <a:t>Prototype lattice 5 bend 20 periods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10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1152000" y="5385670"/>
            <a:ext cx="7200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L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16.06m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-307	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54.25	</a:t>
            </a: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105pmrad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C = 321.2m	𝜉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-89	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11.35	</a:t>
            </a:r>
            <a:r>
              <a:rPr lang="en-US" altLang="en-US" sz="1800" b="0" dirty="0" smtClean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0.14e-4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“Norm. chromaticity”:  𝜉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x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~5.7, 𝜉</a:t>
            </a:r>
            <a:r>
              <a:rPr lang="en-US" altLang="en-US" sz="1800" b="0" baseline="-2500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y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~7.8</a:t>
            </a:r>
            <a:endParaRPr lang="en-US" altLang="en-US" sz="18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2302" y="774000"/>
            <a:ext cx="8494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“Best” lattice: 5-bend  MBA with 20 straight </a:t>
            </a:r>
            <a:r>
              <a:rPr lang="en-US" dirty="0"/>
              <a:t>sections, separated </a:t>
            </a:r>
            <a:r>
              <a:rPr lang="en-US" dirty="0" smtClean="0"/>
              <a:t>function</a:t>
            </a:r>
            <a:r>
              <a:rPr lang="en-US" dirty="0"/>
              <a:t> </a:t>
            </a:r>
            <a:r>
              <a:rPr lang="en-US" dirty="0" smtClean="0"/>
              <a:t>magnets:</a:t>
            </a:r>
            <a:endParaRPr lang="en-US" dirty="0"/>
          </a:p>
        </p:txBody>
      </p:sp>
      <p:sp>
        <p:nvSpPr>
          <p:cNvPr id="4" name="Textfeld 3"/>
          <p:cNvSpPr txBox="1"/>
          <p:nvPr/>
        </p:nvSpPr>
        <p:spPr>
          <a:xfrm>
            <a:off x="2065519" y="2453671"/>
            <a:ext cx="5083444" cy="1200329"/>
          </a:xfrm>
          <a:prstGeom prst="rect">
            <a:avLst/>
          </a:prstGeom>
          <a:solidFill>
            <a:schemeClr val="bg1">
              <a:lumMod val="95000"/>
              <a:alpha val="69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“Reference lattice” for the rest of the talk</a:t>
            </a:r>
          </a:p>
          <a:p>
            <a:pPr algn="ctr"/>
            <a:r>
              <a:rPr lang="en-US" i="1" dirty="0" smtClean="0"/>
              <a:t>Shortest, separated function magnet </a:t>
            </a:r>
            <a:r>
              <a:rPr lang="en-US" i="1" dirty="0" smtClean="0"/>
              <a:t>lattice-type</a:t>
            </a:r>
          </a:p>
          <a:p>
            <a:pPr algn="ctr"/>
            <a:r>
              <a:rPr lang="en-US" i="1" dirty="0" smtClean="0"/>
              <a:t>with </a:t>
            </a:r>
            <a:r>
              <a:rPr lang="en-US" i="1" dirty="0" smtClean="0"/>
              <a:t>~100pm and 20 straight sections. </a:t>
            </a:r>
            <a:endParaRPr lang="en-US" i="1" dirty="0" smtClean="0"/>
          </a:p>
          <a:p>
            <a:pPr algn="ctr"/>
            <a:r>
              <a:rPr lang="en-US" i="1" dirty="0" smtClean="0"/>
              <a:t>(</a:t>
            </a:r>
            <a:r>
              <a:rPr lang="en-US" i="1" dirty="0"/>
              <a:t>non-hybrid MBA</a:t>
            </a:r>
            <a:r>
              <a:rPr lang="en-US" i="1" dirty="0" smtClean="0"/>
              <a:t>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2403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Prototype lattice 5 bend 20 periods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11</a:t>
            </a:fld>
            <a:endParaRPr lang="de-DE" altLang="en-US"/>
          </a:p>
        </p:txBody>
      </p:sp>
      <p:sp>
        <p:nvSpPr>
          <p:cNvPr id="8" name="TextBox 6"/>
          <p:cNvSpPr txBox="1"/>
          <p:nvPr/>
        </p:nvSpPr>
        <p:spPr>
          <a:xfrm>
            <a:off x="477000" y="729000"/>
            <a:ext cx="464755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Dynamic Aperture – stage 0 – 1000 turns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Qx</a:t>
            </a:r>
            <a:r>
              <a:rPr lang="en-US" dirty="0" smtClean="0"/>
              <a:t>=54.25, </a:t>
            </a:r>
            <a:r>
              <a:rPr lang="en-US" dirty="0" err="1" smtClean="0"/>
              <a:t>Qy</a:t>
            </a:r>
            <a:r>
              <a:rPr lang="en-US" dirty="0" smtClean="0"/>
              <a:t>=11.35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Chromaticity tuned to 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6 SX </a:t>
            </a:r>
            <a:r>
              <a:rPr lang="en-US" altLang="en-US" dirty="0" smtClean="0"/>
              <a:t>families: 	SD/SF </a:t>
            </a:r>
            <a:r>
              <a:rPr lang="en-US" altLang="en-US" dirty="0"/>
              <a:t>in MBA </a:t>
            </a:r>
            <a:r>
              <a:rPr lang="en-US" altLang="en-US" dirty="0" smtClean="0"/>
              <a:t>cell </a:t>
            </a:r>
          </a:p>
          <a:p>
            <a:pPr lvl="4"/>
            <a:r>
              <a:rPr lang="en-US" altLang="en-US" dirty="0" smtClean="0"/>
              <a:t>SDA/SFA </a:t>
            </a:r>
            <a:r>
              <a:rPr lang="en-US" altLang="en-US" dirty="0"/>
              <a:t>in matching </a:t>
            </a:r>
            <a:r>
              <a:rPr lang="en-US" altLang="en-US" dirty="0" smtClean="0"/>
              <a:t>cell</a:t>
            </a:r>
          </a:p>
          <a:p>
            <a:pPr lvl="4"/>
            <a:r>
              <a:rPr lang="en-US" altLang="en-US" dirty="0" smtClean="0"/>
              <a:t>S3,S4 </a:t>
            </a:r>
            <a:r>
              <a:rPr lang="en-US" altLang="en-US" dirty="0"/>
              <a:t>in straight section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OPA – optimization tune shift terms</a:t>
            </a:r>
          </a:p>
          <a:p>
            <a:r>
              <a:rPr lang="en-US" dirty="0" smtClean="0"/>
              <a:t>=&gt; Promising start for optimization</a:t>
            </a:r>
            <a:endParaRPr lang="en-US" dirty="0"/>
          </a:p>
        </p:txBody>
      </p:sp>
      <p:sp>
        <p:nvSpPr>
          <p:cNvPr id="9" name="TextBox 2"/>
          <p:cNvSpPr txBox="1"/>
          <p:nvPr/>
        </p:nvSpPr>
        <p:spPr>
          <a:xfrm>
            <a:off x="3036092" y="4236715"/>
            <a:ext cx="2055680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@</a:t>
            </a:r>
            <a:r>
              <a:rPr lang="en-US" dirty="0"/>
              <a:t> center of </a:t>
            </a:r>
            <a:endParaRPr lang="en-US" dirty="0" smtClean="0"/>
          </a:p>
          <a:p>
            <a:r>
              <a:rPr lang="en-US" dirty="0" smtClean="0"/>
              <a:t>straight section</a:t>
            </a:r>
            <a:endParaRPr lang="de-DE" dirty="0"/>
          </a:p>
          <a:p>
            <a:pPr>
              <a:spcBef>
                <a:spcPts val="600"/>
              </a:spcBef>
            </a:pPr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 smtClean="0"/>
              <a:t>= 1.5m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1.5m</a:t>
            </a:r>
            <a:endParaRPr lang="en-US" baseline="-25000" dirty="0"/>
          </a:p>
          <a:p>
            <a:endParaRPr lang="en-US" baseline="-25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092" y="2709000"/>
            <a:ext cx="4055908" cy="3656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46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7000" y="3249000"/>
            <a:ext cx="880110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Limitation </a:t>
            </a:r>
            <a:r>
              <a:rPr lang="en-US" dirty="0"/>
              <a:t>of normalized </a:t>
            </a:r>
            <a:r>
              <a:rPr lang="en-US" dirty="0" smtClean="0"/>
              <a:t>chromaticity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 </a:t>
            </a:r>
            <a:r>
              <a:rPr lang="en-US" dirty="0" smtClean="0"/>
              <a:t>=&gt; off momentum properties</a:t>
            </a:r>
            <a:endParaRPr lang="en-US" baseline="-25000" dirty="0"/>
          </a:p>
          <a:p>
            <a:pPr lvl="1">
              <a:spcBef>
                <a:spcPts val="600"/>
              </a:spcBef>
            </a:pPr>
            <a:r>
              <a:rPr lang="de-DE" dirty="0" smtClean="0"/>
              <a:t>	(</a:t>
            </a:r>
            <a:r>
              <a:rPr lang="en-US" dirty="0"/>
              <a:t>A. </a:t>
            </a:r>
            <a:r>
              <a:rPr lang="en-US" dirty="0" err="1" smtClean="0"/>
              <a:t>Streun</a:t>
            </a:r>
            <a:r>
              <a:rPr lang="en-US" dirty="0" smtClean="0"/>
              <a:t>: </a:t>
            </a:r>
            <a:r>
              <a:rPr lang="de-DE" dirty="0" smtClean="0"/>
              <a:t>„</a:t>
            </a:r>
            <a:r>
              <a:rPr lang="en-US" dirty="0" smtClean="0"/>
              <a:t>gut-feeling“– should be rather 3 than 10,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         J. </a:t>
            </a:r>
            <a:r>
              <a:rPr lang="en-US" dirty="0" err="1" smtClean="0"/>
              <a:t>Bengtson</a:t>
            </a:r>
            <a:r>
              <a:rPr lang="en-US" dirty="0" smtClean="0"/>
              <a:t>: „Chromaticity wall“)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Further </a:t>
            </a:r>
            <a:r>
              <a:rPr lang="en-US" sz="1800" dirty="0"/>
              <a:t>boundary conditions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12</a:t>
            </a:fld>
            <a:endParaRPr lang="de-DE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252000" y="819000"/>
            <a:ext cx="88011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smtClean="0"/>
              <a:t>Other labs / lattices obey two further constraints:</a:t>
            </a:r>
            <a:endParaRPr lang="en-US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Limitation </a:t>
            </a:r>
            <a:r>
              <a:rPr lang="en-US" dirty="0"/>
              <a:t>on </a:t>
            </a:r>
            <a:r>
              <a:rPr lang="en-US" dirty="0">
                <a:latin typeface="Symbol" panose="05050102010706020507" pitchFamily="18" charset="2"/>
              </a:rPr>
              <a:t>a (</a:t>
            </a:r>
            <a:r>
              <a:rPr lang="en-US" dirty="0"/>
              <a:t>SLS2, Soleil: </a:t>
            </a:r>
            <a:r>
              <a:rPr lang="en-US" dirty="0" smtClean="0">
                <a:latin typeface="Symbol" panose="05050102010706020507" pitchFamily="18" charset="2"/>
              </a:rPr>
              <a:t>a </a:t>
            </a:r>
            <a:r>
              <a:rPr lang="en-US" dirty="0" smtClean="0"/>
              <a:t> </a:t>
            </a:r>
            <a:r>
              <a:rPr lang="en-US" dirty="0"/>
              <a:t>&gt; </a:t>
            </a:r>
            <a:r>
              <a:rPr lang="en-US" dirty="0" smtClean="0"/>
              <a:t>1e-4)</a:t>
            </a:r>
          </a:p>
          <a:p>
            <a:pPr lvl="2">
              <a:spcBef>
                <a:spcPts val="600"/>
              </a:spcBef>
            </a:pPr>
            <a:r>
              <a:rPr lang="en-US" dirty="0" smtClean="0"/>
              <a:t> =&gt; </a:t>
            </a:r>
            <a:r>
              <a:rPr lang="en-US" dirty="0" err="1" smtClean="0"/>
              <a:t>Touschek</a:t>
            </a:r>
            <a:r>
              <a:rPr lang="en-US" dirty="0" smtClean="0"/>
              <a:t> lifetime, </a:t>
            </a:r>
            <a:r>
              <a:rPr lang="en-US" dirty="0" smtClean="0"/>
              <a:t>instabilities, orbit stability</a:t>
            </a:r>
            <a:endParaRPr lang="en-US" dirty="0" smtClean="0"/>
          </a:p>
          <a:p>
            <a:pPr lvl="1">
              <a:spcBef>
                <a:spcPts val="1200"/>
              </a:spcBef>
            </a:pPr>
            <a:r>
              <a:rPr lang="en-US" dirty="0" smtClean="0"/>
              <a:t>Increase </a:t>
            </a:r>
            <a:r>
              <a:rPr lang="en-US" dirty="0" smtClean="0">
                <a:latin typeface="Symbol" panose="05050102010706020507" pitchFamily="18" charset="2"/>
              </a:rPr>
              <a:t>h, q </a:t>
            </a:r>
            <a:r>
              <a:rPr lang="en-US" dirty="0" smtClean="0"/>
              <a:t>in main bend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Decrease </a:t>
            </a:r>
            <a:r>
              <a:rPr lang="en-US" dirty="0" smtClean="0">
                <a:latin typeface="Symbol" panose="05050102010706020507" pitchFamily="18" charset="2"/>
              </a:rPr>
              <a:t>h, |q| </a:t>
            </a:r>
            <a:r>
              <a:rPr lang="en-US" dirty="0" smtClean="0"/>
              <a:t>in reverse bend</a:t>
            </a:r>
          </a:p>
          <a:p>
            <a:pPr lvl="1">
              <a:spcBef>
                <a:spcPts val="600"/>
              </a:spcBef>
            </a:pP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67000" y="4999783"/>
            <a:ext cx="608729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589C"/>
                </a:solidFill>
              </a:rPr>
              <a:t>Reference lattice 5 bend MBA, 20 periods:</a:t>
            </a:r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Symbol" panose="05050102010706020507" pitchFamily="18" charset="2"/>
              </a:rPr>
              <a:t>a </a:t>
            </a:r>
            <a:r>
              <a:rPr lang="en-US" dirty="0" smtClean="0"/>
              <a:t>= 0.14e-4  </a:t>
            </a:r>
            <a:r>
              <a:rPr lang="en-US" dirty="0" smtClean="0">
                <a:sym typeface="Wingdings" panose="05000000000000000000" pitchFamily="2" charset="2"/>
              </a:rPr>
              <a:t>  1e-4   </a:t>
            </a:r>
            <a:r>
              <a:rPr 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factor ~7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 smtClean="0"/>
              <a:t>Norm. chromaticity:  </a:t>
            </a:r>
          </a:p>
          <a:p>
            <a:r>
              <a:rPr lang="en-US" altLang="en-US" dirty="0" smtClean="0">
                <a:latin typeface="Cambria Math" panose="02040503050406030204" pitchFamily="18" charset="0"/>
              </a:rPr>
              <a:t>     𝜉</a:t>
            </a:r>
            <a:r>
              <a:rPr lang="en-US" altLang="en-US" baseline="-25000" dirty="0" smtClean="0">
                <a:latin typeface="Cambria Math" panose="02040503050406030204" pitchFamily="18" charset="0"/>
              </a:rPr>
              <a:t>x </a:t>
            </a:r>
            <a:r>
              <a:rPr lang="en-US" altLang="en-US" dirty="0" smtClean="0">
                <a:latin typeface="Cambria Math" panose="02040503050406030204" pitchFamily="18" charset="0"/>
              </a:rPr>
              <a:t>/</a:t>
            </a:r>
            <a:r>
              <a:rPr lang="en-US" altLang="en-US" dirty="0" err="1" smtClean="0">
                <a:latin typeface="Cambria Math" panose="02040503050406030204" pitchFamily="18" charset="0"/>
              </a:rPr>
              <a:t>Qx</a:t>
            </a:r>
            <a:r>
              <a:rPr lang="en-US" altLang="en-US" dirty="0" smtClean="0">
                <a:latin typeface="Cambria Math" panose="02040503050406030204" pitchFamily="18" charset="0"/>
              </a:rPr>
              <a:t> = ~5.7, 𝜉</a:t>
            </a:r>
            <a:r>
              <a:rPr lang="en-US" altLang="en-US" baseline="-25000" dirty="0" smtClean="0">
                <a:latin typeface="Cambria Math" panose="02040503050406030204" pitchFamily="18" charset="0"/>
              </a:rPr>
              <a:t>y </a:t>
            </a:r>
            <a:r>
              <a:rPr lang="en-US" altLang="en-US" dirty="0" smtClean="0">
                <a:latin typeface="Cambria Math" panose="02040503050406030204" pitchFamily="18" charset="0"/>
              </a:rPr>
              <a:t>/</a:t>
            </a:r>
            <a:r>
              <a:rPr lang="en-US" altLang="en-US" dirty="0" err="1" smtClean="0">
                <a:latin typeface="Cambria Math" panose="02040503050406030204" pitchFamily="18" charset="0"/>
              </a:rPr>
              <a:t>Qy</a:t>
            </a:r>
            <a:r>
              <a:rPr lang="en-US" altLang="en-US" dirty="0" smtClean="0">
                <a:latin typeface="Cambria Math" panose="02040503050406030204" pitchFamily="18" charset="0"/>
              </a:rPr>
              <a:t> = ~7.8 </a:t>
            </a:r>
            <a:r>
              <a:rPr lang="en-US" altLang="en-US" dirty="0" smtClean="0"/>
              <a:t>  </a:t>
            </a:r>
            <a:r>
              <a:rPr lang="en-US" dirty="0" smtClean="0">
                <a:sym typeface="Wingdings" panose="05000000000000000000" pitchFamily="2" charset="2"/>
              </a:rPr>
              <a:t> 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altLang="en-US" dirty="0" smtClean="0">
                <a:latin typeface="Cambria Math" panose="02040503050406030204" pitchFamily="18" charset="0"/>
              </a:rPr>
              <a:t>𝜉/Q = ~3   </a:t>
            </a:r>
            <a:r>
              <a:rPr lang="en-US" altLang="en-US" dirty="0" smtClean="0">
                <a:solidFill>
                  <a:srgbClr val="FF0000"/>
                </a:solidFill>
              </a:rPr>
              <a:t>factor 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2-3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22000" y="3339000"/>
                <a:ext cx="1759071" cy="567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ξ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000" y="3339000"/>
                <a:ext cx="1759071" cy="5676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652000" y="1847652"/>
                <a:ext cx="3444600" cy="121558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de-DE" dirty="0">
                                  <a:latin typeface="Symbol" panose="05050102010706020507" pitchFamily="18" charset="2"/>
                                </a:rPr>
                                <m:t>h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de-DE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de-DE" sz="2000" i="1" smtClean="0">
                        <a:latin typeface="Cambria Math"/>
                        <a:ea typeface="Cambria Math"/>
                      </a:rPr>
                      <m:t>≈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 dirty="0" smtClean="0">
                            <a:latin typeface="Cambria Math"/>
                            <a:ea typeface="Cambria Math"/>
                          </a:rPr>
                          <m:t>𝜃</m:t>
                        </m:r>
                      </m:num>
                      <m:den>
                        <m:r>
                          <a:rPr lang="de-DE" sz="2000" b="0" i="1" dirty="0" smtClean="0">
                            <a:latin typeface="Cambria Math"/>
                          </a:rPr>
                          <m:t>𝐿</m:t>
                        </m:r>
                        <m:r>
                          <a:rPr lang="de-DE" sz="2000" b="0" i="1" dirty="0" smtClean="0">
                            <a:latin typeface="Cambria Math"/>
                          </a:rPr>
                          <m:t> </m:t>
                        </m:r>
                      </m:den>
                    </m:f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de-DE" sz="2000" dirty="0">
                            <a:latin typeface="Symbol" panose="05050102010706020507" pitchFamily="18" charset="2"/>
                          </a:rPr>
                          <m:t>h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sz="2000" b="0" i="1" smtClean="0">
                            <a:latin typeface="Cambria Math"/>
                          </a:rPr>
                          <m:t>)</m:t>
                        </m:r>
                      </m:e>
                    </m:acc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000" y="1847652"/>
                <a:ext cx="3444600" cy="121558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/>
          <p:cNvSpPr txBox="1"/>
          <p:nvPr/>
        </p:nvSpPr>
        <p:spPr>
          <a:xfrm>
            <a:off x="6965889" y="4053608"/>
            <a:ext cx="2130711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=&gt; decrease </a:t>
            </a:r>
            <a:r>
              <a:rPr lang="en-US" dirty="0" err="1">
                <a:latin typeface="Symbol" panose="05050102010706020507" pitchFamily="18" charset="2"/>
                <a:cs typeface="Arial" charset="0"/>
              </a:rPr>
              <a:t>b</a:t>
            </a:r>
            <a:r>
              <a:rPr lang="en-US" baseline="-25000" dirty="0" err="1">
                <a:latin typeface="Arial" charset="0"/>
                <a:cs typeface="Arial" charset="0"/>
              </a:rPr>
              <a:t>x</a:t>
            </a:r>
            <a:r>
              <a:rPr lang="en-US" dirty="0">
                <a:latin typeface="Arial" charset="0"/>
                <a:cs typeface="Arial" charset="0"/>
              </a:rPr>
              <a:t>, </a:t>
            </a:r>
            <a:r>
              <a:rPr lang="en-US" dirty="0">
                <a:latin typeface="Symbol" panose="05050102010706020507" pitchFamily="18" charset="2"/>
                <a:cs typeface="Arial" charset="0"/>
              </a:rPr>
              <a:t>b</a:t>
            </a:r>
            <a:r>
              <a:rPr lang="en-US" baseline="-25000" dirty="0">
                <a:latin typeface="Arial" charset="0"/>
                <a:cs typeface="Arial" charset="0"/>
              </a:rPr>
              <a:t>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Rechteck 7"/>
          <p:cNvSpPr/>
          <p:nvPr/>
        </p:nvSpPr>
        <p:spPr>
          <a:xfrm flipH="1">
            <a:off x="1872000" y="1899000"/>
            <a:ext cx="270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X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 flipH="1">
            <a:off x="1782000" y="2304000"/>
            <a:ext cx="450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mbria Math"/>
                <a:ea typeface="Cambria Math"/>
              </a:rPr>
              <a:t>X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61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7" grpId="0"/>
      <p:bldP spid="10" grpId="0" animBg="1"/>
      <p:bldP spid="4" grpId="0" animBg="1"/>
      <p:bldP spid="8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0"/>
          <p:cNvSpPr txBox="1"/>
          <p:nvPr/>
        </p:nvSpPr>
        <p:spPr>
          <a:xfrm>
            <a:off x="432000" y="3429000"/>
            <a:ext cx="847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lvl="2" indent="-342900">
              <a:buAutoNum type="arabicPeriod" startAt="5"/>
            </a:pPr>
            <a:r>
              <a:rPr lang="en-US" dirty="0" smtClean="0"/>
              <a:t>Gradient in reverse bend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Relaxation of boundary conditions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13</a:t>
            </a:fld>
            <a:endParaRPr lang="de-DE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2000" y="1863019"/>
            <a:ext cx="8474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baseline="-25000" dirty="0" smtClean="0"/>
          </a:p>
          <a:p>
            <a:pPr lvl="1"/>
            <a:r>
              <a:rPr lang="en-US" dirty="0" smtClean="0"/>
              <a:t>3.  Increase L - main dipole length</a:t>
            </a:r>
          </a:p>
          <a:p>
            <a:pPr lvl="2"/>
            <a:r>
              <a:rPr lang="en-US" dirty="0" smtClean="0"/>
              <a:t>Keep TME-emittance (?)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2851672"/>
            <a:ext cx="8474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 smtClean="0"/>
              <a:t>Use combined function magnets: </a:t>
            </a:r>
          </a:p>
          <a:p>
            <a:pPr lvl="2"/>
            <a:r>
              <a:rPr lang="en-US" dirty="0" smtClean="0"/>
              <a:t>4.  Gradient in main dipole (TG, LG)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854399"/>
            <a:ext cx="847416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Relaxation of boundary conditions –  what do we gain? </a:t>
            </a:r>
            <a:endParaRPr lang="de-DE" b="1" dirty="0" smtClean="0"/>
          </a:p>
          <a:p>
            <a:endParaRPr lang="en-US" b="1" dirty="0" smtClean="0"/>
          </a:p>
          <a:p>
            <a:pPr marL="8001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 smtClean="0"/>
              <a:t>Relax TME-condition on </a:t>
            </a:r>
            <a:r>
              <a:rPr lang="en-US" dirty="0" smtClean="0">
                <a:latin typeface="Symbol" panose="05050102010706020507" pitchFamily="18" charset="2"/>
              </a:rPr>
              <a:t>h</a:t>
            </a:r>
          </a:p>
          <a:p>
            <a:pPr marL="800100" lvl="1" indent="-342900">
              <a:spcBef>
                <a:spcPts val="0"/>
              </a:spcBef>
              <a:buFont typeface="+mj-lt"/>
              <a:buAutoNum type="arabicPeriod"/>
            </a:pPr>
            <a:r>
              <a:rPr lang="en-US" dirty="0"/>
              <a:t>Relax TME-condition on </a:t>
            </a:r>
            <a:r>
              <a:rPr lang="en-US" dirty="0" err="1" smtClean="0">
                <a:latin typeface="Symbol" panose="05050102010706020507" pitchFamily="18" charset="2"/>
              </a:rPr>
              <a:t>b</a:t>
            </a:r>
            <a:r>
              <a:rPr lang="en-US" baseline="-25000" dirty="0" err="1" smtClean="0"/>
              <a:t>x</a:t>
            </a:r>
            <a:endParaRPr lang="en-US" baseline="-250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4167000" y="1539000"/>
            <a:ext cx="1706511" cy="575399"/>
            <a:chOff x="4463211" y="2518255"/>
            <a:chExt cx="1706511" cy="575399"/>
          </a:xfrm>
        </p:grpSpPr>
        <p:sp>
          <p:nvSpPr>
            <p:cNvPr id="10" name="Right Brace 9"/>
            <p:cNvSpPr/>
            <p:nvPr/>
          </p:nvSpPr>
          <p:spPr>
            <a:xfrm>
              <a:off x="4463211" y="2558747"/>
              <a:ext cx="247050" cy="53490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91432" y="2518255"/>
              <a:ext cx="1478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costs emittance,</a:t>
              </a:r>
            </a:p>
            <a:p>
              <a:r>
                <a:rPr lang="en-US" sz="1400" dirty="0" smtClean="0"/>
                <a:t>reversible</a:t>
              </a:r>
              <a:endParaRPr lang="en-US" sz="1400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2000" y="2221672"/>
            <a:ext cx="900001" cy="1080000"/>
            <a:chOff x="476999" y="2869011"/>
            <a:chExt cx="900001" cy="1080000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476999" y="3949011"/>
              <a:ext cx="9000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477000" y="2869011"/>
              <a:ext cx="495000" cy="0"/>
            </a:xfrm>
            <a:prstGeom prst="line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477001" y="2869011"/>
              <a:ext cx="1" cy="10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089954" y="3203996"/>
            <a:ext cx="3442044" cy="594334"/>
            <a:chOff x="4763219" y="4570356"/>
            <a:chExt cx="1896250" cy="652194"/>
          </a:xfrm>
        </p:grpSpPr>
        <p:sp>
          <p:nvSpPr>
            <p:cNvPr id="15" name="Right Brace 14"/>
            <p:cNvSpPr/>
            <p:nvPr/>
          </p:nvSpPr>
          <p:spPr>
            <a:xfrm>
              <a:off x="4763219" y="4570356"/>
              <a:ext cx="136100" cy="652194"/>
            </a:xfrm>
            <a:prstGeom prst="rightBrace">
              <a:avLst>
                <a:gd name="adj1" fmla="val 8333"/>
                <a:gd name="adj2" fmla="val 5250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95572" y="4718503"/>
              <a:ext cx="1763897" cy="405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fixed gradients</a:t>
              </a:r>
              <a:r>
                <a:rPr lang="de-DE" sz="1600" dirty="0" smtClean="0"/>
                <a:t>, not </a:t>
              </a:r>
              <a:r>
                <a:rPr lang="en-US" sz="1600" dirty="0" smtClean="0"/>
                <a:t>tunable</a:t>
              </a:r>
              <a:r>
                <a:rPr lang="de-DE" dirty="0" smtClean="0"/>
                <a:t>!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06739" y="1696759"/>
                <a:ext cx="1248025" cy="595410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</m:t>
                      </m:r>
                      <m:r>
                        <a:rPr lang="de-DE" i="1" baseline="3000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739" y="1696759"/>
                <a:ext cx="1248025" cy="5954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37042" y="1672906"/>
                <a:ext cx="1396078" cy="643116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i="1" baseline="3000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042" y="1672906"/>
                <a:ext cx="1396078" cy="6431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30751" y="2553446"/>
                <a:ext cx="1817668" cy="650554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𝐼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³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de-DE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751" y="2553446"/>
                <a:ext cx="1817668" cy="65055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882000" y="5274000"/>
                <a:ext cx="659667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Apply </a:t>
                </a:r>
                <a:r>
                  <a:rPr lang="en-US" dirty="0" smtClean="0"/>
                  <a:t>options </a:t>
                </a:r>
                <a:r>
                  <a:rPr lang="en-US" dirty="0" smtClean="0"/>
                  <a:t>to </a:t>
                </a:r>
                <a:r>
                  <a:rPr lang="en-US" dirty="0" smtClean="0"/>
                  <a:t>reference  optics </a:t>
                </a:r>
                <a:r>
                  <a:rPr lang="en-US" dirty="0" smtClean="0"/>
                  <a:t>and </a:t>
                </a:r>
                <a:r>
                  <a:rPr lang="en-US" dirty="0" smtClean="0"/>
                  <a:t>investigate their impact 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on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de-DE" dirty="0"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 normalized chromaticity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000" y="5274000"/>
                <a:ext cx="6596678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832"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432000" y="4284000"/>
            <a:ext cx="8474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589C"/>
                </a:solidFill>
              </a:rPr>
              <a:t>Option concern MBA-cell, matching cell needs to be adjusted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589C"/>
                </a:solidFill>
              </a:rPr>
              <a:t>Constraints on drifts, fields, gradients not studied in this context (technical)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589C"/>
                </a:solidFill>
              </a:rPr>
              <a:t>Combined </a:t>
            </a:r>
            <a:r>
              <a:rPr lang="en-US" sz="1600" dirty="0">
                <a:solidFill>
                  <a:srgbClr val="00589C"/>
                </a:solidFill>
              </a:rPr>
              <a:t>function </a:t>
            </a:r>
            <a:r>
              <a:rPr lang="en-US" sz="1600" dirty="0" smtClean="0">
                <a:solidFill>
                  <a:srgbClr val="00589C"/>
                </a:solidFill>
              </a:rPr>
              <a:t>magnets: loss of incorporated steering/</a:t>
            </a:r>
            <a:r>
              <a:rPr lang="en-US" sz="1600" dirty="0" err="1" smtClean="0">
                <a:solidFill>
                  <a:srgbClr val="00589C"/>
                </a:solidFill>
              </a:rPr>
              <a:t>multipole</a:t>
            </a:r>
            <a:r>
              <a:rPr lang="en-US" sz="1600" dirty="0" smtClean="0">
                <a:solidFill>
                  <a:srgbClr val="00589C"/>
                </a:solidFill>
              </a:rPr>
              <a:t> options</a:t>
            </a:r>
          </a:p>
        </p:txBody>
      </p:sp>
    </p:spTree>
    <p:extLst>
      <p:ext uri="{BB962C8B-B14F-4D97-AF65-F5344CB8AC3E}">
        <p14:creationId xmlns:p14="http://schemas.microsoft.com/office/powerpoint/2010/main" val="50697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" grpId="0"/>
      <p:bldP spid="21" grpId="0"/>
      <p:bldP spid="8" grpId="0" animBg="1"/>
      <p:bldP spid="9" grpId="0" animBg="1"/>
      <p:bldP spid="12" grpId="0" animBg="1"/>
      <p:bldP spid="16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1 - Relax </a:t>
            </a:r>
            <a:r>
              <a:rPr lang="en-US" sz="1800" dirty="0"/>
              <a:t>TME-condition on </a:t>
            </a:r>
            <a:r>
              <a:rPr lang="en-US" sz="1800" cap="none" dirty="0" smtClean="0">
                <a:latin typeface="Symbol" panose="05050102010706020507" pitchFamily="18" charset="2"/>
              </a:rPr>
              <a:t>h </a:t>
            </a:r>
            <a:endParaRPr lang="en-US" sz="1800" dirty="0">
              <a:latin typeface="Symbol" panose="05050102010706020507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14</a:t>
            </a:fld>
            <a:endParaRPr lang="de-DE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427000" y="2754000"/>
                <a:ext cx="3517310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Findings MBA-cell: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smtClean="0"/>
                  <a:t>keep total angle</a:t>
                </a:r>
              </a:p>
              <a:p>
                <a:endParaRPr lang="en-US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589C"/>
                    </a:solidFill>
                  </a:rPr>
                  <a:t>Reverse bend kick decreases</a:t>
                </a:r>
              </a:p>
              <a:p>
                <a:r>
                  <a:rPr lang="en-US" dirty="0">
                    <a:solidFill>
                      <a:srgbClr val="00589C"/>
                    </a:solidFill>
                  </a:rPr>
                  <a:t>     m</a:t>
                </a:r>
                <a:r>
                  <a:rPr lang="en-US" dirty="0" smtClean="0">
                    <a:solidFill>
                      <a:srgbClr val="00589C"/>
                    </a:solidFill>
                  </a:rPr>
                  <a:t>ain </a:t>
                </a:r>
                <a:r>
                  <a:rPr lang="en-US" dirty="0">
                    <a:solidFill>
                      <a:srgbClr val="00589C"/>
                    </a:solidFill>
                  </a:rPr>
                  <a:t>bend 2.39° </a:t>
                </a:r>
                <a:r>
                  <a:rPr lang="en-US" dirty="0">
                    <a:solidFill>
                      <a:srgbClr val="00589C"/>
                    </a:solidFill>
                    <a:latin typeface="Cambria Math"/>
                    <a:ea typeface="Cambria Math"/>
                  </a:rPr>
                  <a:t>↘ </a:t>
                </a:r>
                <a:r>
                  <a:rPr lang="en-US" dirty="0">
                    <a:solidFill>
                      <a:srgbClr val="00589C"/>
                    </a:solidFill>
                    <a:ea typeface="Cambria Math"/>
                  </a:rPr>
                  <a:t>2.31°</a:t>
                </a:r>
                <a:endParaRPr lang="en-US" dirty="0">
                  <a:solidFill>
                    <a:srgbClr val="00589C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00B050"/>
                    </a:solidFill>
                    <a:latin typeface="Symbol" panose="05050102010706020507" pitchFamily="18" charset="2"/>
                  </a:rPr>
                  <a:t>a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increases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Emittance increases ^2 (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</m:t>
                    </m:r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/>
                        <a:sym typeface="Symbol" panose="05050102010706020507" pitchFamily="18" charset="2"/>
                      </a:rPr>
                      <m:t>𝐻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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Norm. </a:t>
                </a:r>
                <a:r>
                  <a:rPr lang="en-US" dirty="0" err="1" smtClean="0"/>
                  <a:t>chrom</a:t>
                </a:r>
                <a:r>
                  <a:rPr lang="en-US" dirty="0" smtClean="0"/>
                  <a:t>. unchanged</a:t>
                </a:r>
              </a:p>
              <a:p>
                <a:pPr lvl="1"/>
                <a:r>
                  <a:rPr lang="en-US" sz="1600" dirty="0" smtClean="0"/>
                  <a:t>(only </a:t>
                </a:r>
                <a:r>
                  <a:rPr lang="en-US" sz="1600" dirty="0" smtClean="0">
                    <a:latin typeface="Symbol" panose="05050102010706020507" pitchFamily="18" charset="2"/>
                  </a:rPr>
                  <a:t>b</a:t>
                </a:r>
                <a:r>
                  <a:rPr lang="en-US" sz="1600" baseline="-25000" dirty="0" smtClean="0"/>
                  <a:t>y</a:t>
                </a:r>
                <a:r>
                  <a:rPr lang="en-US" sz="1600" dirty="0" smtClean="0"/>
                  <a:t> changes due to </a:t>
                </a:r>
              </a:p>
              <a:p>
                <a:pPr lvl="1"/>
                <a:r>
                  <a:rPr lang="en-US" sz="1600" dirty="0" smtClean="0"/>
                  <a:t>e</a:t>
                </a:r>
                <a:r>
                  <a:rPr lang="en-US" sz="1600" dirty="0" smtClean="0">
                    <a:solidFill>
                      <a:schemeClr val="tx1"/>
                    </a:solidFill>
                  </a:rPr>
                  <a:t>dge focusing, matching </a:t>
                </a:r>
              </a:p>
              <a:p>
                <a:pPr lvl="1"/>
                <a:r>
                  <a:rPr lang="en-US" sz="1600" dirty="0" smtClean="0"/>
                  <a:t>cell stays the same.)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000" y="2754000"/>
                <a:ext cx="3517310" cy="3046988"/>
              </a:xfrm>
              <a:prstGeom prst="rect">
                <a:avLst/>
              </a:prstGeom>
              <a:blipFill rotWithShape="1">
                <a:blip r:embed="rId2"/>
                <a:stretch>
                  <a:fillRect l="-1386" t="-1000" r="-867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6"/>
          <p:cNvSpPr txBox="1"/>
          <p:nvPr/>
        </p:nvSpPr>
        <p:spPr>
          <a:xfrm>
            <a:off x="387000" y="954000"/>
            <a:ext cx="2565000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89C"/>
                </a:solidFill>
              </a:rPr>
              <a:t>reference input (</a:t>
            </a:r>
            <a:r>
              <a:rPr lang="en-US" sz="1400" b="1" dirty="0" smtClean="0">
                <a:solidFill>
                  <a:srgbClr val="00589C"/>
                </a:solidFill>
              </a:rPr>
              <a:t>MBA-cell):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</a:rPr>
              <a:t>Half length dipole:   23cm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solidFill>
                  <a:srgbClr val="00589C"/>
                </a:solidFill>
              </a:rPr>
              <a:t>Half angle m-bend: 2.39°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589C"/>
                </a:solidFill>
              </a:rPr>
              <a:t>Rev. bend angle:     -</a:t>
            </a:r>
            <a:r>
              <a:rPr lang="en-US" sz="1400" dirty="0" smtClean="0">
                <a:solidFill>
                  <a:srgbClr val="00589C"/>
                </a:solidFill>
              </a:rPr>
              <a:t>0.205°</a:t>
            </a:r>
          </a:p>
          <a:p>
            <a:r>
              <a:rPr lang="en-US" sz="1400" dirty="0" smtClean="0">
                <a:solidFill>
                  <a:srgbClr val="00589C"/>
                </a:solidFill>
              </a:rPr>
              <a:t>TME-</a:t>
            </a:r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b</a:t>
            </a:r>
            <a:r>
              <a:rPr lang="en-US" sz="1400" dirty="0" smtClean="0">
                <a:solidFill>
                  <a:srgbClr val="00589C"/>
                </a:solidFill>
              </a:rPr>
              <a:t>:                    0.0594m</a:t>
            </a:r>
          </a:p>
          <a:p>
            <a:r>
              <a:rPr lang="en-US" sz="1400" dirty="0" smtClean="0">
                <a:solidFill>
                  <a:srgbClr val="00589C"/>
                </a:solidFill>
              </a:rPr>
              <a:t>TME-</a:t>
            </a:r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h</a:t>
            </a:r>
            <a:r>
              <a:rPr lang="en-US" sz="1400" dirty="0" smtClean="0">
                <a:solidFill>
                  <a:srgbClr val="00589C"/>
                </a:solidFill>
              </a:rPr>
              <a:t>:                    0.0016m</a:t>
            </a:r>
          </a:p>
        </p:txBody>
      </p:sp>
      <p:sp>
        <p:nvSpPr>
          <p:cNvPr id="17" name="TextBox 7"/>
          <p:cNvSpPr txBox="1"/>
          <p:nvPr/>
        </p:nvSpPr>
        <p:spPr>
          <a:xfrm>
            <a:off x="3267000" y="954000"/>
            <a:ext cx="1713931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589C"/>
                </a:solidFill>
              </a:rPr>
              <a:t>reference output</a:t>
            </a:r>
          </a:p>
          <a:p>
            <a:r>
              <a:rPr lang="en-US" sz="1400" b="1" dirty="0" smtClean="0">
                <a:solidFill>
                  <a:srgbClr val="00589C"/>
                </a:solidFill>
              </a:rPr>
              <a:t>(MBA-cell):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  <a:latin typeface="Symbol" panose="05050102010706020507" pitchFamily="18" charset="2"/>
              </a:rPr>
              <a:t>e</a:t>
            </a:r>
            <a:r>
              <a:rPr lang="en-US" sz="1400" dirty="0" smtClean="0">
                <a:solidFill>
                  <a:srgbClr val="00589C"/>
                </a:solidFill>
              </a:rPr>
              <a:t>:	114pm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a</a:t>
            </a:r>
            <a:r>
              <a:rPr lang="en-US" sz="1400" dirty="0" smtClean="0">
                <a:solidFill>
                  <a:srgbClr val="00589C"/>
                </a:solidFill>
              </a:rPr>
              <a:t>:	0.08e-4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x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-6.1    </a:t>
            </a:r>
          </a:p>
          <a:p>
            <a:r>
              <a:rPr lang="en-US" sz="1400" dirty="0" err="1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-19.4</a:t>
            </a:r>
            <a:endParaRPr lang="en-US" sz="1400" baseline="-25000" dirty="0">
              <a:solidFill>
                <a:srgbClr val="00589C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00" y="2799000"/>
            <a:ext cx="449580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657000" y="5751322"/>
            <a:ext cx="387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Main bend: 2.39°…. 2.31°</a:t>
            </a:r>
            <a:endParaRPr lang="en-US" sz="1400" dirty="0"/>
          </a:p>
        </p:txBody>
      </p:sp>
      <p:sp>
        <p:nvSpPr>
          <p:cNvPr id="9" name="TextBox 7"/>
          <p:cNvSpPr txBox="1"/>
          <p:nvPr/>
        </p:nvSpPr>
        <p:spPr>
          <a:xfrm>
            <a:off x="5292000" y="954000"/>
            <a:ext cx="1713931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589C"/>
                </a:solidFill>
              </a:rPr>
              <a:t>reference output</a:t>
            </a:r>
          </a:p>
          <a:p>
            <a:r>
              <a:rPr lang="en-US" sz="1400" b="1" dirty="0" smtClean="0">
                <a:solidFill>
                  <a:srgbClr val="00589C"/>
                </a:solidFill>
              </a:rPr>
              <a:t>(matching-cell):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  <a:latin typeface="Symbol" panose="05050102010706020507" pitchFamily="18" charset="2"/>
              </a:rPr>
              <a:t>e</a:t>
            </a:r>
            <a:r>
              <a:rPr lang="en-US" sz="1400" dirty="0" smtClean="0">
                <a:solidFill>
                  <a:srgbClr val="00589C"/>
                </a:solidFill>
              </a:rPr>
              <a:t>:	97pm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a</a:t>
            </a:r>
            <a:r>
              <a:rPr lang="en-US" sz="1400" dirty="0" smtClean="0">
                <a:solidFill>
                  <a:srgbClr val="00589C"/>
                </a:solidFill>
              </a:rPr>
              <a:t>:	0.13e-4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x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-5.8    </a:t>
            </a:r>
          </a:p>
          <a:p>
            <a:r>
              <a:rPr lang="en-US" sz="1400" dirty="0" err="1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-5.9</a:t>
            </a:r>
            <a:endParaRPr lang="en-US" sz="1400" baseline="-25000" dirty="0">
              <a:solidFill>
                <a:srgbClr val="00589C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7313069" y="954000"/>
            <a:ext cx="1713931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589C"/>
                </a:solidFill>
              </a:rPr>
              <a:t>reference output</a:t>
            </a:r>
          </a:p>
          <a:p>
            <a:r>
              <a:rPr lang="en-US" sz="1400" b="1" dirty="0" smtClean="0">
                <a:solidFill>
                  <a:srgbClr val="00589C"/>
                </a:solidFill>
              </a:rPr>
              <a:t>(full lattice):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  <a:latin typeface="Symbol" panose="05050102010706020507" pitchFamily="18" charset="2"/>
              </a:rPr>
              <a:t>e</a:t>
            </a:r>
            <a:r>
              <a:rPr lang="en-US" sz="1400" dirty="0" smtClean="0">
                <a:solidFill>
                  <a:srgbClr val="00589C"/>
                </a:solidFill>
              </a:rPr>
              <a:t>:	105pm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a</a:t>
            </a:r>
            <a:r>
              <a:rPr lang="en-US" sz="1400" dirty="0" smtClean="0">
                <a:solidFill>
                  <a:srgbClr val="00589C"/>
                </a:solidFill>
              </a:rPr>
              <a:t>:	0.14e-4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x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-5.7   </a:t>
            </a:r>
          </a:p>
          <a:p>
            <a:r>
              <a:rPr lang="en-US" sz="1400" dirty="0" err="1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-7.8</a:t>
            </a:r>
            <a:endParaRPr lang="en-US" sz="1400" baseline="-25000" dirty="0">
              <a:solidFill>
                <a:srgbClr val="00589C"/>
              </a:solidFill>
            </a:endParaRPr>
          </a:p>
        </p:txBody>
      </p:sp>
      <p:cxnSp>
        <p:nvCxnSpPr>
          <p:cNvPr id="7" name="Gerade Verbindung 6"/>
          <p:cNvCxnSpPr/>
          <p:nvPr/>
        </p:nvCxnSpPr>
        <p:spPr>
          <a:xfrm>
            <a:off x="702000" y="4194000"/>
            <a:ext cx="387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11"/>
          <p:cNvSpPr/>
          <p:nvPr/>
        </p:nvSpPr>
        <p:spPr>
          <a:xfrm>
            <a:off x="3852000" y="3429000"/>
            <a:ext cx="180000" cy="1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/>
          <p:cNvSpPr/>
          <p:nvPr/>
        </p:nvSpPr>
        <p:spPr>
          <a:xfrm>
            <a:off x="3852000" y="4015238"/>
            <a:ext cx="180000" cy="2687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9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1 - Full lattice with relaxed dispersion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6758400" y="6361263"/>
            <a:ext cx="2133600" cy="365125"/>
          </a:xfrm>
        </p:spPr>
        <p:txBody>
          <a:bodyPr/>
          <a:lstStyle/>
          <a:p>
            <a:fld id="{C3FD5781-ABFD-4250-8CCF-E55B27600506}" type="slidenum">
              <a:rPr lang="de-DE" altLang="en-US" smtClean="0"/>
              <a:pPr/>
              <a:t>15</a:t>
            </a:fld>
            <a:endParaRPr lang="de-DE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11990" y="1653823"/>
            <a:ext cx="15440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MBA-cell:</a:t>
            </a:r>
          </a:p>
          <a:p>
            <a:r>
              <a:rPr lang="de-DE" dirty="0" smtClean="0">
                <a:latin typeface="Symbol" panose="05050102010706020507" pitchFamily="18" charset="2"/>
              </a:rPr>
              <a:t>h</a:t>
            </a:r>
            <a:r>
              <a:rPr lang="de-DE" baseline="-25000" dirty="0" smtClean="0"/>
              <a:t>0 </a:t>
            </a:r>
            <a:r>
              <a:rPr lang="de-DE" dirty="0" smtClean="0"/>
              <a:t>= 0.003</a:t>
            </a:r>
            <a:r>
              <a:rPr lang="en-US" dirty="0"/>
              <a:t>m</a:t>
            </a:r>
            <a:endParaRPr lang="de-DE" dirty="0" smtClean="0"/>
          </a:p>
          <a:p>
            <a:r>
              <a:rPr lang="en-US" dirty="0" smtClean="0">
                <a:latin typeface="Symbol" panose="05050102010706020507" pitchFamily="18" charset="2"/>
              </a:rPr>
              <a:t>q</a:t>
            </a:r>
            <a:r>
              <a:rPr lang="en-US" dirty="0" smtClean="0"/>
              <a:t>  = 2.32°</a:t>
            </a:r>
          </a:p>
          <a:p>
            <a:r>
              <a:rPr lang="en-US" dirty="0" err="1" smtClean="0">
                <a:latin typeface="Symbol" panose="05050102010706020507" pitchFamily="18" charset="2"/>
              </a:rPr>
              <a:t>q</a:t>
            </a:r>
            <a:r>
              <a:rPr lang="en-US" baseline="-25000" dirty="0" err="1" smtClean="0"/>
              <a:t>R</a:t>
            </a:r>
            <a:r>
              <a:rPr lang="en-US" baseline="-25000" dirty="0" smtClean="0"/>
              <a:t> </a:t>
            </a:r>
            <a:r>
              <a:rPr lang="en-US" dirty="0" smtClean="0"/>
              <a:t>= -0.11</a:t>
            </a:r>
            <a:r>
              <a:rPr lang="en-US" dirty="0" smtClean="0"/>
              <a:t>°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   = 160pm  </a:t>
            </a:r>
            <a:endParaRPr lang="en-US" dirty="0" smtClean="0">
              <a:solidFill>
                <a:srgbClr val="00FF00"/>
              </a:solidFill>
            </a:endParaRP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a</a:t>
            </a:r>
            <a:r>
              <a:rPr lang="en-US" dirty="0" smtClean="0">
                <a:solidFill>
                  <a:srgbClr val="00FF00"/>
                </a:solidFill>
              </a:rPr>
              <a:t>  =1.01e-4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2000" y="1681672"/>
            <a:ext cx="19543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eMatching</a:t>
            </a:r>
            <a:r>
              <a:rPr lang="en-US" b="1" dirty="0" smtClean="0"/>
              <a:t>-cell:*</a:t>
            </a:r>
          </a:p>
          <a:p>
            <a:pPr marL="285750" indent="-285750">
              <a:buFont typeface="Symbol" panose="05050102010706020507" pitchFamily="18" charset="2"/>
              <a:buChar char="q"/>
            </a:pPr>
            <a:r>
              <a:rPr lang="en-US" dirty="0" smtClean="0"/>
              <a:t>= 2.37°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>
                <a:latin typeface="Symbol" panose="05050102010706020507" pitchFamily="18" charset="2"/>
              </a:rPr>
              <a:t>q</a:t>
            </a:r>
            <a:r>
              <a:rPr lang="en-US" baseline="-25000" dirty="0" err="1"/>
              <a:t>R</a:t>
            </a:r>
            <a:r>
              <a:rPr lang="en-US" baseline="-25000" dirty="0"/>
              <a:t> </a:t>
            </a:r>
            <a:r>
              <a:rPr lang="en-US" baseline="-25000" dirty="0" smtClean="0"/>
              <a:t> </a:t>
            </a:r>
            <a:r>
              <a:rPr lang="en-US" dirty="0" smtClean="0">
                <a:latin typeface="Symbol" panose="05050102010706020507" pitchFamily="18" charset="2"/>
              </a:rPr>
              <a:t>= 0°</a:t>
            </a:r>
          </a:p>
          <a:p>
            <a:r>
              <a:rPr lang="en-US" b="1" dirty="0" smtClean="0">
                <a:latin typeface="Symbol" panose="05050102010706020507" pitchFamily="18" charset="2"/>
              </a:rPr>
              <a:t>e</a:t>
            </a:r>
            <a:r>
              <a:rPr lang="en-US" b="1" dirty="0" smtClean="0"/>
              <a:t> = 118pm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Symbol" panose="05050102010706020507" pitchFamily="18" charset="2"/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= </a:t>
            </a:r>
            <a:r>
              <a:rPr lang="en-US" b="1" dirty="0" smtClean="0">
                <a:solidFill>
                  <a:srgbClr val="FF0000"/>
                </a:solidFill>
              </a:rPr>
              <a:t>0.32e-4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7000" y="1677006"/>
            <a:ext cx="2967479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Full lattice:</a:t>
            </a: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 = 140pm	</a:t>
            </a:r>
            <a:r>
              <a:rPr lang="en-US" dirty="0" smtClean="0">
                <a:solidFill>
                  <a:srgbClr val="00589C"/>
                </a:solidFill>
              </a:rPr>
              <a:t>(105pm)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= 0.</a:t>
            </a:r>
            <a:r>
              <a:rPr lang="en-US" dirty="0" smtClean="0">
                <a:solidFill>
                  <a:srgbClr val="00FF00"/>
                </a:solidFill>
              </a:rPr>
              <a:t>52e-4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</a:rPr>
              <a:t>(0.14e-4)</a:t>
            </a:r>
          </a:p>
          <a:p>
            <a:r>
              <a:rPr lang="en-US" dirty="0">
                <a:latin typeface="Symbol" panose="05050102010706020507" pitchFamily="18" charset="2"/>
              </a:rPr>
              <a:t>x</a:t>
            </a:r>
            <a:r>
              <a:rPr lang="en-US" baseline="-25000" dirty="0"/>
              <a:t>x</a:t>
            </a:r>
            <a:r>
              <a:rPr lang="en-US" dirty="0"/>
              <a:t>/ </a:t>
            </a:r>
            <a:r>
              <a:rPr lang="en-US" dirty="0" err="1"/>
              <a:t>Q</a:t>
            </a:r>
            <a:r>
              <a:rPr lang="en-US" baseline="-25000" dirty="0" err="1"/>
              <a:t>x</a:t>
            </a:r>
            <a:r>
              <a:rPr lang="en-US" baseline="-25000" dirty="0"/>
              <a:t> </a:t>
            </a:r>
            <a:r>
              <a:rPr lang="en-US" dirty="0"/>
              <a:t>=</a:t>
            </a:r>
            <a:r>
              <a:rPr lang="en-US" dirty="0" smtClean="0"/>
              <a:t> -5.7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</a:rPr>
              <a:t>(-5.7)</a:t>
            </a:r>
            <a:endParaRPr lang="en-US" dirty="0">
              <a:solidFill>
                <a:srgbClr val="00589C"/>
              </a:solidFill>
            </a:endParaRPr>
          </a:p>
          <a:p>
            <a:r>
              <a:rPr lang="en-US" dirty="0" err="1">
                <a:latin typeface="Symbol" panose="05050102010706020507" pitchFamily="18" charset="2"/>
              </a:rPr>
              <a:t>x</a:t>
            </a:r>
            <a:r>
              <a:rPr lang="en-US" baseline="-25000" dirty="0" err="1"/>
              <a:t>y</a:t>
            </a:r>
            <a:r>
              <a:rPr lang="en-US" dirty="0"/>
              <a:t>/ </a:t>
            </a:r>
            <a:r>
              <a:rPr lang="en-US" dirty="0" err="1"/>
              <a:t>Q</a:t>
            </a:r>
            <a:r>
              <a:rPr lang="en-US" baseline="-25000" dirty="0" err="1"/>
              <a:t>y</a:t>
            </a:r>
            <a:r>
              <a:rPr lang="en-US" baseline="-25000" dirty="0"/>
              <a:t> </a:t>
            </a:r>
            <a:r>
              <a:rPr lang="en-US" dirty="0" smtClean="0"/>
              <a:t>= -7.8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</a:rPr>
              <a:t>(-7.8)</a:t>
            </a:r>
            <a:endParaRPr lang="en-US" baseline="-25000" dirty="0">
              <a:solidFill>
                <a:srgbClr val="00589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9326" y="2039711"/>
            <a:ext cx="852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 smtClean="0">
                <a:sym typeface="Wingdings" panose="05000000000000000000" pitchFamily="2" charset="2"/>
              </a:rPr>
              <a:t></a:t>
            </a:r>
            <a:endParaRPr lang="en-US" sz="4400" dirty="0"/>
          </a:p>
        </p:txBody>
      </p:sp>
      <p:sp>
        <p:nvSpPr>
          <p:cNvPr id="19" name="TextBox 18"/>
          <p:cNvSpPr txBox="1"/>
          <p:nvPr/>
        </p:nvSpPr>
        <p:spPr>
          <a:xfrm>
            <a:off x="470174" y="989668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But</a:t>
            </a:r>
            <a:r>
              <a:rPr lang="en-US" dirty="0" smtClean="0"/>
              <a:t>: need to consider matching cell, too:</a:t>
            </a:r>
            <a:endParaRPr lang="en-US" dirty="0"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1990" y="3609000"/>
                <a:ext cx="4820010" cy="61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/>
                          <a:ea typeface="Cambria Math" panose="02040503050406030204" pitchFamily="18" charset="0"/>
                        </a:rPr>
                        <m:t>momentum</m:t>
                      </m:r>
                      <m:r>
                        <a:rPr lang="de-DE" b="0" i="0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/>
                          <a:ea typeface="Cambria Math" panose="02040503050406030204" pitchFamily="18" charset="0"/>
                        </a:rPr>
                        <m:t>compaction</m:t>
                      </m:r>
                      <m:r>
                        <a:rPr lang="de-DE" b="0" i="0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/>
                          <a:ea typeface="Cambria Math" panose="02040503050406030204" pitchFamily="18" charset="0"/>
                        </a:rPr>
                        <m:t>factor</m:t>
                      </m:r>
                      <m:r>
                        <a:rPr lang="de-DE" b="0" i="0" smtClean="0">
                          <a:latin typeface="Cambria Math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de-DE" i="1">
                          <a:latin typeface="Cambria Math"/>
                          <a:ea typeface="Cambria Math"/>
                        </a:rPr>
                        <m:t>≈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f>
                        <m:fPr>
                          <m:ctrlPr>
                            <a:rPr lang="en-US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/>
                              <a:ea typeface="Cambria Math"/>
                            </a:rPr>
                            <m:t>𝜃</m:t>
                          </m:r>
                        </m:num>
                        <m:den>
                          <m:r>
                            <a:rPr lang="de-DE" i="1" dirty="0">
                              <a:latin typeface="Cambria Math"/>
                            </a:rPr>
                            <m:t>𝐿</m:t>
                          </m:r>
                          <m:r>
                            <a:rPr lang="de-DE" i="1" dirty="0">
                              <a:latin typeface="Cambria Math"/>
                            </a:rPr>
                            <m:t> 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i="1" dirty="0"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de-DE" dirty="0">
                              <a:latin typeface="Symbol" panose="05050102010706020507" pitchFamily="18" charset="2"/>
                            </a:rPr>
                            <m:t>h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i="1">
                              <a:latin typeface="Cambria Math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90" y="3609000"/>
                <a:ext cx="4820010" cy="612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78670" y="6356350"/>
            <a:ext cx="609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*: </a:t>
            </a:r>
            <a:r>
              <a:rPr lang="en-US" sz="1400" dirty="0" smtClean="0"/>
              <a:t>e-matching cell includes half bend and reverse bend from last MBA-cell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45282" y="4239000"/>
                <a:ext cx="69767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spcBef>
                    <a:spcPts val="0"/>
                  </a:spcBef>
                  <a:buFont typeface="Symbol"/>
                  <a:buChar char="h"/>
                </a:pPr>
                <a:r>
                  <a:rPr lang="de-DE" sz="1600" dirty="0" smtClean="0">
                    <a:latin typeface="Symbol" panose="05050102010706020507" pitchFamily="18" charset="2"/>
                  </a:rPr>
                  <a:t>=</a:t>
                </a:r>
                <a:r>
                  <a:rPr lang="de-DE" sz="1600" baseline="-25000" dirty="0" smtClean="0">
                    <a:latin typeface="Symbol" panose="05050102010706020507" pitchFamily="18" charset="2"/>
                  </a:rPr>
                  <a:t>,</a:t>
                </a:r>
                <a:r>
                  <a:rPr lang="de-DE" sz="1600" dirty="0">
                    <a:latin typeface="Symbol" panose="05050102010706020507" pitchFamily="18" charset="2"/>
                  </a:rPr>
                  <a:t>h</a:t>
                </a:r>
                <a:r>
                  <a:rPr lang="de-DE" sz="1600" dirty="0">
                    <a:latin typeface="Symbol" panose="05050102010706020507" pitchFamily="18" charset="2"/>
                    <a:sym typeface="Symbol" panose="05050102010706020507" pitchFamily="18" charset="2"/>
                  </a:rPr>
                  <a:t> = 0 </a:t>
                </a:r>
                <a:r>
                  <a:rPr lang="en-US" sz="1600" dirty="0">
                    <a:sym typeface="Symbol" panose="05050102010706020507" pitchFamily="18" charset="2"/>
                  </a:rPr>
                  <a:t>in straight section =&gt; </a:t>
                </a:r>
                <a:r>
                  <a:rPr lang="en-US" sz="1600" dirty="0">
                    <a:latin typeface="Symbol" panose="05050102010706020507" pitchFamily="18" charset="2"/>
                  </a:rPr>
                  <a:t>h</a:t>
                </a:r>
                <a:r>
                  <a:rPr lang="en-US" sz="1600" dirty="0"/>
                  <a:t> is small in matching dipole =&gt;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600" dirty="0"/>
                  <a:t> is </a:t>
                </a:r>
                <a:r>
                  <a:rPr lang="en-US" sz="1600" dirty="0" smtClean="0"/>
                  <a:t>small</a:t>
                </a:r>
              </a:p>
              <a:p>
                <a:pPr>
                  <a:spcBef>
                    <a:spcPts val="0"/>
                  </a:spcBef>
                </a:pPr>
                <a:r>
                  <a:rPr lang="en-US" sz="1600" dirty="0" smtClean="0">
                    <a:latin typeface="Symbol" panose="05050102010706020507" pitchFamily="18" charset="2"/>
                  </a:rPr>
                  <a:t>q</a:t>
                </a:r>
                <a:r>
                  <a:rPr lang="en-US" sz="1600" dirty="0" smtClean="0"/>
                  <a:t> is fixed by </a:t>
                </a:r>
                <a:r>
                  <a:rPr lang="en-US" sz="1600" dirty="0"/>
                  <a:t> </a:t>
                </a:r>
                <a:r>
                  <a:rPr lang="en-US" sz="1600" dirty="0" smtClean="0"/>
                  <a:t>MBA-cell, length is minimal</a:t>
                </a:r>
                <a:endParaRPr lang="en-US" sz="16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82" y="4239000"/>
                <a:ext cx="6976718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437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9"/>
          <p:cNvSpPr txBox="1"/>
          <p:nvPr/>
        </p:nvSpPr>
        <p:spPr>
          <a:xfrm>
            <a:off x="1166961" y="4954783"/>
            <a:ext cx="6735039" cy="1277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1 – Increase </a:t>
            </a:r>
            <a:r>
              <a:rPr lang="en-US" b="1" dirty="0" smtClean="0">
                <a:latin typeface="Symbol" panose="05050102010706020507" pitchFamily="18" charset="2"/>
              </a:rPr>
              <a:t>h0 </a:t>
            </a:r>
            <a:r>
              <a:rPr lang="en-US" b="1" dirty="0" smtClean="0"/>
              <a:t>from TME-value: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</a:t>
            </a:r>
            <a:r>
              <a:rPr lang="en-US" dirty="0" smtClean="0"/>
              <a:t>ood way to increase </a:t>
            </a:r>
            <a:r>
              <a:rPr lang="en-US" dirty="0" smtClean="0">
                <a:latin typeface="Symbol" panose="05050102010706020507" pitchFamily="18" charset="2"/>
              </a:rPr>
              <a:t>a, </a:t>
            </a:r>
            <a:r>
              <a:rPr lang="en-US" dirty="0" smtClean="0"/>
              <a:t>but not sufficient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limited by emittance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impact on normalized chromaticity (MBA-cell)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17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2 - Relax </a:t>
            </a:r>
            <a:r>
              <a:rPr lang="en-US" sz="1800" dirty="0"/>
              <a:t>TME-condition on </a:t>
            </a:r>
            <a:r>
              <a:rPr lang="en-US" sz="1800" cap="none" dirty="0" err="1" smtClean="0">
                <a:latin typeface="Symbol" panose="05050102010706020507" pitchFamily="18" charset="2"/>
              </a:rPr>
              <a:t>b</a:t>
            </a:r>
            <a:r>
              <a:rPr lang="en-US" sz="1800" cap="none" baseline="-25000" dirty="0" err="1" smtClean="0"/>
              <a:t>x</a:t>
            </a:r>
            <a:endParaRPr lang="en-US" sz="1800" baseline="-25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16</a:t>
            </a:fld>
            <a:endParaRPr lang="de-DE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842000" y="3848671"/>
            <a:ext cx="391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~ opposite to increase of </a:t>
            </a:r>
            <a:r>
              <a:rPr lang="en-US" b="1" dirty="0" smtClean="0">
                <a:latin typeface="Symbol" panose="05050102010706020507" pitchFamily="18" charset="2"/>
              </a:rPr>
              <a:t>h</a:t>
            </a:r>
            <a:r>
              <a:rPr lang="en-US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589C"/>
                </a:solidFill>
              </a:rPr>
              <a:t>Reverse bend kick increases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B050"/>
                </a:solidFill>
                <a:latin typeface="Symbol" panose="05050102010706020507" pitchFamily="18" charset="2"/>
              </a:rPr>
              <a:t>a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decreases &lt;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Emittance increases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66"/>
          <a:stretch/>
        </p:blipFill>
        <p:spPr bwMode="auto">
          <a:xfrm>
            <a:off x="387000" y="2949975"/>
            <a:ext cx="4149112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6"/>
          <p:cNvSpPr txBox="1"/>
          <p:nvPr/>
        </p:nvSpPr>
        <p:spPr>
          <a:xfrm>
            <a:off x="387000" y="954000"/>
            <a:ext cx="2565000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89C"/>
                </a:solidFill>
              </a:rPr>
              <a:t>reference input </a:t>
            </a:r>
            <a:r>
              <a:rPr lang="en-US" sz="1400" b="1" dirty="0" smtClean="0">
                <a:solidFill>
                  <a:srgbClr val="00589C"/>
                </a:solidFill>
              </a:rPr>
              <a:t>(MBA-cell):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</a:rPr>
              <a:t>Half length dipole:   23cm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solidFill>
                  <a:srgbClr val="00589C"/>
                </a:solidFill>
              </a:rPr>
              <a:t>Half angle m-bend: 2.39°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589C"/>
                </a:solidFill>
              </a:rPr>
              <a:t>Rev. bend angle:     -</a:t>
            </a:r>
            <a:r>
              <a:rPr lang="en-US" sz="1400" dirty="0" smtClean="0">
                <a:solidFill>
                  <a:srgbClr val="00589C"/>
                </a:solidFill>
              </a:rPr>
              <a:t>0.205°</a:t>
            </a:r>
          </a:p>
          <a:p>
            <a:r>
              <a:rPr lang="en-US" sz="1400" dirty="0" smtClean="0">
                <a:solidFill>
                  <a:srgbClr val="00589C"/>
                </a:solidFill>
              </a:rPr>
              <a:t>TME-</a:t>
            </a:r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b</a:t>
            </a:r>
            <a:r>
              <a:rPr lang="en-US" sz="1400" dirty="0" smtClean="0">
                <a:solidFill>
                  <a:srgbClr val="00589C"/>
                </a:solidFill>
              </a:rPr>
              <a:t>:                    0.0594m</a:t>
            </a:r>
          </a:p>
          <a:p>
            <a:r>
              <a:rPr lang="en-US" sz="1400" dirty="0" smtClean="0">
                <a:solidFill>
                  <a:srgbClr val="00589C"/>
                </a:solidFill>
              </a:rPr>
              <a:t>TME-</a:t>
            </a:r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h</a:t>
            </a:r>
            <a:r>
              <a:rPr lang="en-US" sz="1400" dirty="0" smtClean="0">
                <a:solidFill>
                  <a:srgbClr val="00589C"/>
                </a:solidFill>
              </a:rPr>
              <a:t>:                    0.0016m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3267000" y="954000"/>
            <a:ext cx="1713931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589C"/>
                </a:solidFill>
              </a:rPr>
              <a:t>reference output</a:t>
            </a:r>
          </a:p>
          <a:p>
            <a:r>
              <a:rPr lang="en-US" sz="1400" b="1" dirty="0" smtClean="0">
                <a:solidFill>
                  <a:srgbClr val="00589C"/>
                </a:solidFill>
              </a:rPr>
              <a:t>(MBA-cell):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  <a:latin typeface="Symbol" panose="05050102010706020507" pitchFamily="18" charset="2"/>
              </a:rPr>
              <a:t>e</a:t>
            </a:r>
            <a:r>
              <a:rPr lang="en-US" sz="1400" dirty="0" smtClean="0">
                <a:solidFill>
                  <a:srgbClr val="00589C"/>
                </a:solidFill>
              </a:rPr>
              <a:t>:	114pm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a</a:t>
            </a:r>
            <a:r>
              <a:rPr lang="en-US" sz="1400" dirty="0" smtClean="0">
                <a:solidFill>
                  <a:srgbClr val="00589C"/>
                </a:solidFill>
              </a:rPr>
              <a:t>:	0.08e-4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x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-6.1    </a:t>
            </a:r>
          </a:p>
          <a:p>
            <a:r>
              <a:rPr lang="en-US" sz="1400" dirty="0" err="1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-19.4</a:t>
            </a:r>
            <a:endParaRPr lang="en-US" sz="1400" baseline="-25000" dirty="0">
              <a:solidFill>
                <a:srgbClr val="00589C"/>
              </a:solidFill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5292000" y="954000"/>
            <a:ext cx="1713931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589C"/>
                </a:solidFill>
              </a:rPr>
              <a:t>reference output</a:t>
            </a:r>
          </a:p>
          <a:p>
            <a:r>
              <a:rPr lang="en-US" sz="1400" b="1" dirty="0" smtClean="0">
                <a:solidFill>
                  <a:srgbClr val="00589C"/>
                </a:solidFill>
              </a:rPr>
              <a:t>(matching-cell):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  <a:latin typeface="Symbol" panose="05050102010706020507" pitchFamily="18" charset="2"/>
              </a:rPr>
              <a:t>e</a:t>
            </a:r>
            <a:r>
              <a:rPr lang="en-US" sz="1400" dirty="0" smtClean="0">
                <a:solidFill>
                  <a:srgbClr val="00589C"/>
                </a:solidFill>
              </a:rPr>
              <a:t>:	97pm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a</a:t>
            </a:r>
            <a:r>
              <a:rPr lang="en-US" sz="1400" dirty="0" smtClean="0">
                <a:solidFill>
                  <a:srgbClr val="00589C"/>
                </a:solidFill>
              </a:rPr>
              <a:t>:	0.13e-4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x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-5.8    </a:t>
            </a:r>
          </a:p>
          <a:p>
            <a:r>
              <a:rPr lang="en-US" sz="1400" dirty="0" err="1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-5.9</a:t>
            </a:r>
            <a:endParaRPr lang="en-US" sz="1400" baseline="-25000" dirty="0">
              <a:solidFill>
                <a:srgbClr val="00589C"/>
              </a:solidFill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7313069" y="954000"/>
            <a:ext cx="1713931" cy="1461939"/>
          </a:xfrm>
          <a:prstGeom prst="rect">
            <a:avLst/>
          </a:prstGeom>
          <a:solidFill>
            <a:schemeClr val="bg1"/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589C"/>
                </a:solidFill>
              </a:rPr>
              <a:t>reference output</a:t>
            </a:r>
          </a:p>
          <a:p>
            <a:r>
              <a:rPr lang="en-US" sz="1400" b="1" dirty="0" smtClean="0">
                <a:solidFill>
                  <a:srgbClr val="00589C"/>
                </a:solidFill>
              </a:rPr>
              <a:t>(full lattice):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589C"/>
                </a:solidFill>
                <a:latin typeface="Symbol" panose="05050102010706020507" pitchFamily="18" charset="2"/>
              </a:rPr>
              <a:t>e</a:t>
            </a:r>
            <a:r>
              <a:rPr lang="en-US" sz="1400" dirty="0" smtClean="0">
                <a:solidFill>
                  <a:srgbClr val="00589C"/>
                </a:solidFill>
              </a:rPr>
              <a:t>:	105pm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a</a:t>
            </a:r>
            <a:r>
              <a:rPr lang="en-US" sz="1400" dirty="0" smtClean="0">
                <a:solidFill>
                  <a:srgbClr val="00589C"/>
                </a:solidFill>
              </a:rPr>
              <a:t>:	0.14e-4</a:t>
            </a:r>
          </a:p>
          <a:p>
            <a:r>
              <a:rPr lang="en-US" sz="1400" dirty="0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x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x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-5.7   </a:t>
            </a:r>
          </a:p>
          <a:p>
            <a:r>
              <a:rPr lang="en-US" sz="1400" dirty="0" err="1" smtClean="0">
                <a:solidFill>
                  <a:srgbClr val="00589C"/>
                </a:solidFill>
                <a:latin typeface="Symbol" panose="05050102010706020507" pitchFamily="18" charset="2"/>
              </a:rPr>
              <a:t>x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dirty="0" smtClean="0">
                <a:solidFill>
                  <a:srgbClr val="00589C"/>
                </a:solidFill>
              </a:rPr>
              <a:t>/ </a:t>
            </a:r>
            <a:r>
              <a:rPr lang="en-US" sz="1400" dirty="0" err="1" smtClean="0">
                <a:solidFill>
                  <a:srgbClr val="00589C"/>
                </a:solidFill>
              </a:rPr>
              <a:t>Q</a:t>
            </a:r>
            <a:r>
              <a:rPr lang="en-US" sz="1400" baseline="-25000" dirty="0" err="1" smtClean="0">
                <a:solidFill>
                  <a:srgbClr val="00589C"/>
                </a:solidFill>
              </a:rPr>
              <a:t>y</a:t>
            </a:r>
            <a:r>
              <a:rPr lang="en-US" sz="1400" baseline="-25000" dirty="0" smtClean="0">
                <a:solidFill>
                  <a:srgbClr val="00589C"/>
                </a:solidFill>
              </a:rPr>
              <a:t> </a:t>
            </a:r>
            <a:r>
              <a:rPr lang="en-US" sz="1400" dirty="0" smtClean="0">
                <a:solidFill>
                  <a:srgbClr val="00589C"/>
                </a:solidFill>
              </a:rPr>
              <a:t>:        -7.8</a:t>
            </a:r>
            <a:endParaRPr lang="en-US" sz="1400" baseline="-25000" dirty="0">
              <a:solidFill>
                <a:srgbClr val="0058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42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6"/>
          <p:cNvSpPr txBox="1"/>
          <p:nvPr/>
        </p:nvSpPr>
        <p:spPr>
          <a:xfrm>
            <a:off x="6309897" y="1323737"/>
            <a:ext cx="2518638" cy="2862322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de-DE" b="1" dirty="0" err="1" smtClean="0"/>
              <a:t>Full</a:t>
            </a:r>
            <a:r>
              <a:rPr lang="de-DE" b="1" dirty="0" smtClean="0">
                <a:latin typeface="Symbol" panose="05050102010706020507" pitchFamily="18" charset="2"/>
              </a:rPr>
              <a:t> </a:t>
            </a:r>
            <a:r>
              <a:rPr lang="de-DE" b="1" dirty="0" err="1"/>
              <a:t>lattice</a:t>
            </a:r>
            <a:r>
              <a:rPr lang="de-DE" b="1" dirty="0" smtClean="0">
                <a:latin typeface="Symbol" panose="05050102010706020507" pitchFamily="18" charset="2"/>
              </a:rPr>
              <a:t>:</a:t>
            </a:r>
          </a:p>
          <a:p>
            <a:endParaRPr lang="de-DE" b="1" dirty="0">
              <a:latin typeface="Symbol" panose="05050102010706020507" pitchFamily="18" charset="2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  </a:t>
            </a:r>
            <a:r>
              <a:rPr lang="en-US" dirty="0" smtClean="0">
                <a:solidFill>
                  <a:srgbClr val="FF0000"/>
                </a:solidFill>
              </a:rPr>
              <a:t>= 139pm    </a:t>
            </a:r>
            <a:r>
              <a:rPr lang="en-US" dirty="0" smtClean="0">
                <a:solidFill>
                  <a:srgbClr val="00589C"/>
                </a:solidFill>
              </a:rPr>
              <a:t>(105pm)</a:t>
            </a:r>
          </a:p>
          <a:p>
            <a:pPr marL="285750" indent="-285750">
              <a:buFont typeface="Symbol"/>
              <a:buChar char="a"/>
            </a:pPr>
            <a:r>
              <a:rPr lang="en-US" dirty="0" smtClean="0">
                <a:solidFill>
                  <a:srgbClr val="FF0000"/>
                </a:solidFill>
              </a:rPr>
              <a:t>= 0.06e-4  </a:t>
            </a:r>
            <a:r>
              <a:rPr lang="en-US" dirty="0" smtClean="0">
                <a:solidFill>
                  <a:srgbClr val="00589C"/>
                </a:solidFill>
              </a:rPr>
              <a:t>(0.14e-4)</a:t>
            </a:r>
          </a:p>
          <a:p>
            <a:pPr marL="285750" indent="-285750">
              <a:buFont typeface="Symbol"/>
              <a:buChar char="a"/>
            </a:pPr>
            <a:endParaRPr lang="en-US" dirty="0">
              <a:solidFill>
                <a:srgbClr val="FF0000"/>
              </a:solidFill>
              <a:latin typeface="Symbol" panose="05050102010706020507" pitchFamily="18" charset="2"/>
            </a:endParaRP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smtClean="0">
                <a:solidFill>
                  <a:srgbClr val="00FF00"/>
                </a:solidFill>
              </a:rPr>
              <a:t>x </a:t>
            </a:r>
            <a:r>
              <a:rPr lang="en-US" dirty="0">
                <a:solidFill>
                  <a:srgbClr val="00FF00"/>
                </a:solidFill>
              </a:rPr>
              <a:t>= </a:t>
            </a:r>
            <a:r>
              <a:rPr lang="en-US" dirty="0" smtClean="0">
                <a:solidFill>
                  <a:srgbClr val="00FF00"/>
                </a:solidFill>
              </a:rPr>
              <a:t>-188 </a:t>
            </a:r>
            <a:r>
              <a:rPr lang="en-US" dirty="0" smtClean="0">
                <a:solidFill>
                  <a:srgbClr val="00589C"/>
                </a:solidFill>
              </a:rPr>
              <a:t>(-307)</a:t>
            </a:r>
            <a:endParaRPr lang="en-US" dirty="0">
              <a:solidFill>
                <a:srgbClr val="00589C"/>
              </a:solidFill>
            </a:endParaRPr>
          </a:p>
          <a:p>
            <a:r>
              <a:rPr lang="en-US" dirty="0" err="1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err="1">
                <a:solidFill>
                  <a:srgbClr val="00FF00"/>
                </a:solidFill>
              </a:rPr>
              <a:t>y</a:t>
            </a:r>
            <a:r>
              <a:rPr lang="en-US" dirty="0">
                <a:solidFill>
                  <a:srgbClr val="00FF00"/>
                </a:solidFill>
              </a:rPr>
              <a:t>  </a:t>
            </a:r>
            <a:r>
              <a:rPr lang="en-US" dirty="0" smtClean="0">
                <a:solidFill>
                  <a:srgbClr val="00FF00"/>
                </a:solidFill>
              </a:rPr>
              <a:t>= -60  </a:t>
            </a:r>
            <a:r>
              <a:rPr lang="en-US" dirty="0" smtClean="0">
                <a:solidFill>
                  <a:srgbClr val="00589C"/>
                </a:solidFill>
              </a:rPr>
              <a:t>(-89)</a:t>
            </a:r>
            <a:endParaRPr lang="en-US" dirty="0">
              <a:solidFill>
                <a:srgbClr val="00589C"/>
              </a:solidFill>
            </a:endParaRPr>
          </a:p>
          <a:p>
            <a:endParaRPr lang="en-US" dirty="0" smtClean="0">
              <a:solidFill>
                <a:srgbClr val="FF0000"/>
              </a:solidFill>
              <a:latin typeface="Symbol" panose="05050102010706020507" pitchFamily="18" charset="2"/>
            </a:endParaRPr>
          </a:p>
          <a:p>
            <a:r>
              <a:rPr lang="en-US" dirty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>
                <a:solidFill>
                  <a:srgbClr val="00FF00"/>
                </a:solidFill>
              </a:rPr>
              <a:t>x</a:t>
            </a:r>
            <a:r>
              <a:rPr lang="en-US" dirty="0">
                <a:solidFill>
                  <a:srgbClr val="00FF00"/>
                </a:solidFill>
              </a:rPr>
              <a:t> / </a:t>
            </a:r>
            <a:r>
              <a:rPr lang="en-US" dirty="0" err="1">
                <a:solidFill>
                  <a:srgbClr val="00FF00"/>
                </a:solidFill>
              </a:rPr>
              <a:t>Q</a:t>
            </a:r>
            <a:r>
              <a:rPr lang="en-US" baseline="-25000" dirty="0" err="1">
                <a:solidFill>
                  <a:srgbClr val="00FF00"/>
                </a:solidFill>
              </a:rPr>
              <a:t>x</a:t>
            </a:r>
            <a:r>
              <a:rPr lang="en-US" baseline="-25000" dirty="0">
                <a:solidFill>
                  <a:srgbClr val="00FF00"/>
                </a:solidFill>
              </a:rPr>
              <a:t> </a:t>
            </a:r>
            <a:r>
              <a:rPr lang="en-US" dirty="0">
                <a:solidFill>
                  <a:srgbClr val="00FF00"/>
                </a:solidFill>
              </a:rPr>
              <a:t>= </a:t>
            </a:r>
            <a:r>
              <a:rPr lang="en-US" dirty="0" smtClean="0">
                <a:solidFill>
                  <a:srgbClr val="00FF00"/>
                </a:solidFill>
              </a:rPr>
              <a:t>-3.5  </a:t>
            </a:r>
            <a:r>
              <a:rPr lang="en-US" dirty="0" smtClean="0">
                <a:solidFill>
                  <a:srgbClr val="00589C"/>
                </a:solidFill>
              </a:rPr>
              <a:t>(-5.7)</a:t>
            </a:r>
            <a:endParaRPr lang="en-US" dirty="0">
              <a:solidFill>
                <a:srgbClr val="00589C"/>
              </a:solidFill>
            </a:endParaRPr>
          </a:p>
          <a:p>
            <a:r>
              <a:rPr lang="en-US" dirty="0" err="1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err="1">
                <a:solidFill>
                  <a:srgbClr val="00FF00"/>
                </a:solidFill>
              </a:rPr>
              <a:t>y</a:t>
            </a:r>
            <a:r>
              <a:rPr lang="en-US" dirty="0">
                <a:solidFill>
                  <a:srgbClr val="00FF00"/>
                </a:solidFill>
              </a:rPr>
              <a:t> / </a:t>
            </a:r>
            <a:r>
              <a:rPr lang="en-US" dirty="0" err="1">
                <a:solidFill>
                  <a:srgbClr val="00FF00"/>
                </a:solidFill>
              </a:rPr>
              <a:t>Q</a:t>
            </a:r>
            <a:r>
              <a:rPr lang="en-US" baseline="-25000" dirty="0" err="1">
                <a:solidFill>
                  <a:srgbClr val="00FF00"/>
                </a:solidFill>
              </a:rPr>
              <a:t>y</a:t>
            </a:r>
            <a:r>
              <a:rPr lang="en-US" dirty="0">
                <a:solidFill>
                  <a:srgbClr val="00FF00"/>
                </a:solidFill>
              </a:rPr>
              <a:t>= -</a:t>
            </a:r>
            <a:r>
              <a:rPr lang="en-US" dirty="0" smtClean="0">
                <a:solidFill>
                  <a:srgbClr val="00FF00"/>
                </a:solidFill>
              </a:rPr>
              <a:t>3.9   </a:t>
            </a:r>
            <a:r>
              <a:rPr lang="en-US" dirty="0" smtClean="0">
                <a:solidFill>
                  <a:srgbClr val="00589C"/>
                </a:solidFill>
              </a:rPr>
              <a:t>(-7.8)</a:t>
            </a:r>
            <a:endParaRPr lang="en-US" dirty="0" smtClean="0">
              <a:solidFill>
                <a:srgbClr val="00589C"/>
              </a:solidFill>
              <a:latin typeface="Symbol" panose="05050102010706020507" pitchFamily="18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2 - Relax TME-condition on </a:t>
            </a:r>
            <a:r>
              <a:rPr lang="en-US" sz="1800" cap="none" dirty="0" err="1">
                <a:latin typeface="Symbol" panose="05050102010706020507" pitchFamily="18" charset="2"/>
              </a:rPr>
              <a:t>b</a:t>
            </a:r>
            <a:r>
              <a:rPr lang="en-US" sz="1800" cap="none" baseline="-25000" dirty="0" err="1"/>
              <a:t>x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17</a:t>
            </a:fld>
            <a:endParaRPr lang="de-DE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392000" y="1313442"/>
            <a:ext cx="1749197" cy="286232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b="1" dirty="0" smtClean="0"/>
              <a:t>Half MBA-</a:t>
            </a:r>
            <a:r>
              <a:rPr lang="de-DE" b="1" dirty="0" err="1" smtClean="0"/>
              <a:t>cell</a:t>
            </a:r>
            <a:r>
              <a:rPr lang="de-DE" b="1" dirty="0" smtClean="0"/>
              <a:t>: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h</a:t>
            </a:r>
            <a:r>
              <a:rPr lang="en-US" dirty="0" smtClean="0"/>
              <a:t>0 </a:t>
            </a:r>
            <a:r>
              <a:rPr lang="en-US" dirty="0"/>
              <a:t>= </a:t>
            </a:r>
            <a:r>
              <a:rPr lang="en-US" dirty="0" smtClean="0"/>
              <a:t>0.0016m</a:t>
            </a:r>
            <a:endParaRPr lang="en-US" b="1" dirty="0" smtClean="0"/>
          </a:p>
          <a:p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baseline="-25000" dirty="0" smtClean="0"/>
              <a:t>x</a:t>
            </a:r>
            <a:r>
              <a:rPr lang="en-US" dirty="0" smtClean="0"/>
              <a:t>0 = 0.12m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baseline="-25000" dirty="0" smtClean="0"/>
              <a:t>y</a:t>
            </a:r>
            <a:r>
              <a:rPr lang="en-US" dirty="0" smtClean="0"/>
              <a:t>0 = </a:t>
            </a:r>
            <a:r>
              <a:rPr lang="en-US" dirty="0"/>
              <a:t>8</a:t>
            </a:r>
            <a:r>
              <a:rPr lang="en-US" dirty="0" smtClean="0"/>
              <a:t>m</a:t>
            </a:r>
          </a:p>
          <a:p>
            <a:pPr marL="285750" indent="-285750">
              <a:buFont typeface="Symbol" panose="05050102010706020507" pitchFamily="18" charset="2"/>
              <a:buChar char="q"/>
            </a:pPr>
            <a:r>
              <a:rPr lang="en-US" dirty="0" smtClean="0"/>
              <a:t>= 2.39°</a:t>
            </a:r>
          </a:p>
          <a:p>
            <a:r>
              <a:rPr lang="en-US" dirty="0" err="1" smtClean="0">
                <a:latin typeface="Symbol" panose="05050102010706020507" pitchFamily="18" charset="2"/>
              </a:rPr>
              <a:t>q</a:t>
            </a:r>
            <a:r>
              <a:rPr lang="en-US" baseline="-25000" dirty="0" err="1" smtClean="0"/>
              <a:t>R</a:t>
            </a:r>
            <a:r>
              <a:rPr lang="en-US" baseline="-25000" dirty="0" smtClean="0"/>
              <a:t> </a:t>
            </a:r>
            <a:r>
              <a:rPr lang="en-US" dirty="0"/>
              <a:t>= -</a:t>
            </a:r>
            <a:r>
              <a:rPr lang="en-US" dirty="0" smtClean="0"/>
              <a:t>0.235°</a:t>
            </a: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  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dirty="0" smtClean="0">
                <a:solidFill>
                  <a:srgbClr val="FF0000"/>
                </a:solidFill>
              </a:rPr>
              <a:t>145pm  </a:t>
            </a:r>
            <a:endParaRPr lang="en-US" dirty="0">
              <a:solidFill>
                <a:srgbClr val="00FF00"/>
              </a:solidFill>
            </a:endParaRPr>
          </a:p>
          <a:p>
            <a:r>
              <a:rPr lang="en-US" dirty="0">
                <a:solidFill>
                  <a:srgbClr val="FF0000"/>
                </a:solidFill>
                <a:latin typeface="Symbol" panose="05050102010706020507" pitchFamily="18" charset="2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smtClean="0">
                <a:solidFill>
                  <a:srgbClr val="FF0000"/>
                </a:solidFill>
              </a:rPr>
              <a:t>=-0.08e-4</a:t>
            </a: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smtClean="0">
                <a:solidFill>
                  <a:srgbClr val="00FF00"/>
                </a:solidFill>
              </a:rPr>
              <a:t>x</a:t>
            </a:r>
            <a:r>
              <a:rPr lang="en-US" dirty="0" smtClean="0">
                <a:solidFill>
                  <a:srgbClr val="00FF00"/>
                </a:solidFill>
              </a:rPr>
              <a:t> / </a:t>
            </a:r>
            <a:r>
              <a:rPr lang="en-US" dirty="0" err="1" smtClean="0">
                <a:solidFill>
                  <a:srgbClr val="00FF00"/>
                </a:solidFill>
              </a:rPr>
              <a:t>Q</a:t>
            </a:r>
            <a:r>
              <a:rPr lang="en-US" baseline="-25000" dirty="0" err="1" smtClean="0">
                <a:solidFill>
                  <a:srgbClr val="00FF00"/>
                </a:solidFill>
              </a:rPr>
              <a:t>x</a:t>
            </a:r>
            <a:r>
              <a:rPr lang="en-US" baseline="-25000" dirty="0" smtClean="0">
                <a:solidFill>
                  <a:srgbClr val="00FF00"/>
                </a:solidFill>
              </a:rPr>
              <a:t> </a:t>
            </a:r>
            <a:r>
              <a:rPr lang="en-US" dirty="0" smtClean="0">
                <a:solidFill>
                  <a:srgbClr val="00FF00"/>
                </a:solidFill>
              </a:rPr>
              <a:t>= -3.2  </a:t>
            </a:r>
          </a:p>
          <a:p>
            <a:r>
              <a:rPr lang="en-US" dirty="0" err="1" smtClean="0">
                <a:solidFill>
                  <a:srgbClr val="FF00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err="1" smtClean="0">
                <a:solidFill>
                  <a:srgbClr val="FF0000"/>
                </a:solidFill>
              </a:rPr>
              <a:t>y</a:t>
            </a:r>
            <a:r>
              <a:rPr lang="en-US" dirty="0" smtClean="0">
                <a:solidFill>
                  <a:srgbClr val="FF0000"/>
                </a:solidFill>
              </a:rPr>
              <a:t> / </a:t>
            </a:r>
            <a:r>
              <a:rPr lang="en-US" dirty="0" err="1" smtClean="0">
                <a:solidFill>
                  <a:srgbClr val="FF0000"/>
                </a:solidFill>
              </a:rPr>
              <a:t>Q</a:t>
            </a:r>
            <a:r>
              <a:rPr lang="en-US" baseline="-25000" dirty="0" err="1" smtClean="0">
                <a:solidFill>
                  <a:srgbClr val="FF0000"/>
                </a:solidFill>
              </a:rPr>
              <a:t>y</a:t>
            </a:r>
            <a:r>
              <a:rPr lang="en-US" dirty="0" smtClean="0">
                <a:solidFill>
                  <a:srgbClr val="FF0000"/>
                </a:solidFill>
              </a:rPr>
              <a:t>= -6.1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37292" y="3037773"/>
            <a:ext cx="6963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ym typeface="Wingdings" panose="05000000000000000000" pitchFamily="2" charset="2"/>
              </a:rPr>
              <a:t></a:t>
            </a:r>
            <a:endParaRPr lang="en-US" sz="4400" dirty="0"/>
          </a:p>
        </p:txBody>
      </p:sp>
      <p:sp>
        <p:nvSpPr>
          <p:cNvPr id="3" name="Rectangle 2"/>
          <p:cNvSpPr/>
          <p:nvPr/>
        </p:nvSpPr>
        <p:spPr>
          <a:xfrm>
            <a:off x="387000" y="1314504"/>
            <a:ext cx="3480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Abs (norm. chromaticity) shrinks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207001" y="1244207"/>
            <a:ext cx="3645000" cy="3222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0"/>
          <p:cNvSpPr txBox="1"/>
          <p:nvPr/>
        </p:nvSpPr>
        <p:spPr>
          <a:xfrm>
            <a:off x="845122" y="4816059"/>
            <a:ext cx="7825292" cy="1277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smtClean="0"/>
              <a:t>2 – Increase </a:t>
            </a:r>
            <a:r>
              <a:rPr lang="en-US" b="1" dirty="0" err="1" smtClean="0">
                <a:latin typeface="Symbol" panose="05050102010706020507" pitchFamily="18" charset="2"/>
              </a:rPr>
              <a:t>b</a:t>
            </a:r>
            <a:r>
              <a:rPr lang="en-US" b="1" baseline="-25000" dirty="0" err="1" smtClean="0"/>
              <a:t>x</a:t>
            </a:r>
            <a:r>
              <a:rPr lang="en-US" b="1" dirty="0" smtClean="0">
                <a:latin typeface="Symbol" panose="05050102010706020507" pitchFamily="18" charset="2"/>
              </a:rPr>
              <a:t> </a:t>
            </a:r>
            <a:r>
              <a:rPr lang="en-US" b="1" dirty="0" smtClean="0"/>
              <a:t>from TME-value: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reduction of (normalized) chromaticity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increase in sextupole strength up to 50% - due to smaller beta functions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No ‘break through’ in dynamic aperture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45122" y="954000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Normalized chromaticity</a:t>
            </a:r>
            <a:endParaRPr lang="en-US" dirty="0"/>
          </a:p>
        </p:txBody>
      </p:sp>
      <p:sp>
        <p:nvSpPr>
          <p:cNvPr id="8" name="Ellipse 7"/>
          <p:cNvSpPr/>
          <p:nvPr/>
        </p:nvSpPr>
        <p:spPr>
          <a:xfrm>
            <a:off x="2322000" y="1323737"/>
            <a:ext cx="270000" cy="8452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7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ieren 13"/>
          <p:cNvGrpSpPr/>
          <p:nvPr/>
        </p:nvGrpSpPr>
        <p:grpSpPr>
          <a:xfrm>
            <a:off x="5186668" y="1350135"/>
            <a:ext cx="3345332" cy="3293865"/>
            <a:chOff x="4950397" y="3285135"/>
            <a:chExt cx="3345332" cy="329386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0397" y="3285135"/>
              <a:ext cx="3345332" cy="3293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Ellipse 18"/>
            <p:cNvSpPr/>
            <p:nvPr/>
          </p:nvSpPr>
          <p:spPr>
            <a:xfrm>
              <a:off x="7947000" y="3384000"/>
              <a:ext cx="180000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3 - Increase dipole length - keep TME-condition</a:t>
            </a:r>
            <a:endParaRPr lang="en-US" sz="1800" dirty="0">
              <a:latin typeface="Symbol" panose="05050102010706020507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18</a:t>
            </a:fld>
            <a:endParaRPr lang="de-DE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07000" y="954000"/>
            <a:ext cx="8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Findings MBA-cell for increased dipole length:</a:t>
            </a:r>
            <a:endParaRPr lang="en-US" b="1" dirty="0" smtClean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77000" y="2061166"/>
                <a:ext cx="1248025" cy="595410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</m:t>
                      </m:r>
                      <m:r>
                        <a:rPr lang="de-DE" i="1" baseline="3000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000" y="2061166"/>
                <a:ext cx="1248025" cy="5954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0176" y="2008926"/>
                <a:ext cx="1570090" cy="643116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square" lIns="36000" tIns="36000" rIns="36000" bIns="36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i="1" baseline="3000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m:rPr>
                          <m:nor/>
                        </m:rPr>
                        <a:rPr lang="en-US" baseline="-25000" dirty="0"/>
                        <m:t>TME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76" y="2008926"/>
                <a:ext cx="1570090" cy="64311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/>
          <p:cNvSpPr txBox="1"/>
          <p:nvPr/>
        </p:nvSpPr>
        <p:spPr>
          <a:xfrm>
            <a:off x="5157000" y="4743064"/>
            <a:ext cx="38250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Emittance </a:t>
            </a:r>
            <a:r>
              <a:rPr lang="en-US" dirty="0" smtClean="0"/>
              <a:t>contribution of RB</a:t>
            </a:r>
            <a:endParaRPr lang="en-US" dirty="0" smtClean="0"/>
          </a:p>
          <a:p>
            <a:pPr marL="285750" indent="-285750">
              <a:spcBef>
                <a:spcPts val="600"/>
              </a:spcBef>
              <a:buFont typeface="Symbol"/>
              <a:buChar char="Þ"/>
            </a:pPr>
            <a:r>
              <a:rPr lang="en-US" sz="1600" dirty="0" smtClean="0"/>
              <a:t>Impact </a:t>
            </a:r>
            <a:r>
              <a:rPr lang="en-US" sz="1600" dirty="0" smtClean="0"/>
              <a:t>of reverse bend on emittance</a:t>
            </a:r>
          </a:p>
          <a:p>
            <a:pPr lvl="1">
              <a:spcBef>
                <a:spcPts val="600"/>
              </a:spcBef>
            </a:pPr>
            <a:r>
              <a:rPr lang="en-US" sz="1600" dirty="0" smtClean="0"/>
              <a:t>not </a:t>
            </a:r>
            <a:r>
              <a:rPr lang="en-US" sz="1600" dirty="0"/>
              <a:t>negligible </a:t>
            </a:r>
            <a:r>
              <a:rPr lang="en-US" sz="1600" dirty="0" smtClean="0"/>
              <a:t>anymore</a:t>
            </a:r>
          </a:p>
          <a:p>
            <a:pPr marL="285750" indent="-285750">
              <a:spcBef>
                <a:spcPts val="600"/>
              </a:spcBef>
              <a:buFont typeface="Symbol"/>
              <a:buChar char="Þ"/>
            </a:pPr>
            <a:r>
              <a:rPr lang="en-US" sz="1600" dirty="0" smtClean="0"/>
              <a:t>TME conditions </a:t>
            </a:r>
            <a:r>
              <a:rPr lang="en-US" sz="1600" dirty="0" smtClean="0"/>
              <a:t>not </a:t>
            </a:r>
            <a:r>
              <a:rPr lang="en-US" sz="1600" dirty="0" smtClean="0"/>
              <a:t>optimal ?     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275951" y="3971782"/>
            <a:ext cx="3711272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Half d</a:t>
            </a:r>
            <a:r>
              <a:rPr lang="en-US" dirty="0" smtClean="0"/>
              <a:t>ipole</a:t>
            </a:r>
            <a:r>
              <a:rPr lang="en-US" dirty="0" smtClean="0"/>
              <a:t>: 2.39</a:t>
            </a:r>
            <a:r>
              <a:rPr lang="en-US" dirty="0"/>
              <a:t>°, 0.23m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smtClean="0">
                <a:sym typeface="Symbol" panose="05050102010706020507" pitchFamily="18" charset="2"/>
              </a:rPr>
              <a:t>0.40m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sym typeface="Symbol" panose="05050102010706020507" pitchFamily="18" charset="2"/>
              </a:rPr>
              <a:t>Field: 0.87T</a:t>
            </a:r>
            <a:endParaRPr lang="en-US" dirty="0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</a:pPr>
            <a:r>
              <a:rPr lang="en-US" dirty="0" smtClean="0">
                <a:latin typeface="Symbol" panose="05050102010706020507" pitchFamily="18" charset="2"/>
              </a:rPr>
              <a:t>TME</a:t>
            </a:r>
            <a:r>
              <a:rPr lang="en-US" dirty="0">
                <a:latin typeface="Symbol" panose="05050102010706020507" pitchFamily="18" charset="2"/>
              </a:rPr>
              <a:t>: b</a:t>
            </a:r>
            <a:r>
              <a:rPr lang="en-US" baseline="-25000" dirty="0"/>
              <a:t>x</a:t>
            </a:r>
            <a:r>
              <a:rPr lang="en-US" dirty="0">
                <a:latin typeface="Symbol" panose="05050102010706020507" pitchFamily="18" charset="2"/>
              </a:rPr>
              <a:t>0 </a:t>
            </a:r>
            <a:r>
              <a:rPr lang="en-US" dirty="0"/>
              <a:t>= </a:t>
            </a:r>
            <a:r>
              <a:rPr lang="en-US" dirty="0" smtClean="0"/>
              <a:t>0.103m   </a:t>
            </a:r>
            <a:r>
              <a:rPr lang="en-US" dirty="0" smtClean="0">
                <a:solidFill>
                  <a:srgbClr val="00589C"/>
                </a:solidFill>
              </a:rPr>
              <a:t>(0.0594m)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Symbol" panose="05050102010706020507" pitchFamily="18" charset="2"/>
              </a:rPr>
              <a:t> </a:t>
            </a:r>
            <a:r>
              <a:rPr lang="en-US" dirty="0" smtClean="0">
                <a:latin typeface="Symbol" panose="05050102010706020507" pitchFamily="18" charset="2"/>
              </a:rPr>
              <a:t>          h0 </a:t>
            </a:r>
            <a:r>
              <a:rPr lang="en-US" dirty="0"/>
              <a:t>= 0.0028m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589C"/>
                </a:solidFill>
              </a:rPr>
              <a:t>(0.0016m)</a:t>
            </a:r>
            <a:endParaRPr lang="en-US" dirty="0">
              <a:solidFill>
                <a:srgbClr val="00589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1"/>
              <p:cNvSpPr txBox="1"/>
              <p:nvPr/>
            </p:nvSpPr>
            <p:spPr>
              <a:xfrm>
                <a:off x="1152000" y="2904515"/>
                <a:ext cx="1459365" cy="480251"/>
              </a:xfrm>
              <a:prstGeom prst="rect">
                <a:avLst/>
              </a:prstGeom>
              <a:noFill/>
              <a:ln>
                <a:solidFill>
                  <a:srgbClr val="00589C"/>
                </a:solidFill>
              </a:ln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dirty="0" smtClean="0">
                    <a:latin typeface="Symbol" panose="05050102010706020507" pitchFamily="18" charset="2"/>
                  </a:rPr>
                  <a:t>e</a:t>
                </a:r>
                <a:r>
                  <a:rPr lang="en-US" baseline="-250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aseline="-25000" dirty="0"/>
                      <m:t>TME</m:t>
                    </m:r>
                    <m:r>
                      <a:rPr lang="de-DE" b="0" i="1" baseline="-25000" dirty="0" smtClean="0">
                        <a:latin typeface="Cambria Math"/>
                      </a:rPr>
                      <m:t> 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de-DE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³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de-DE" b="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0" y="2904515"/>
                <a:ext cx="1459365" cy="480251"/>
              </a:xfrm>
              <a:prstGeom prst="rect">
                <a:avLst/>
              </a:prstGeom>
              <a:blipFill rotWithShape="1">
                <a:blip r:embed="rId5"/>
                <a:stretch>
                  <a:fillRect l="-7054" r="-830" b="-3704"/>
                </a:stretch>
              </a:blipFill>
              <a:ln>
                <a:solidFill>
                  <a:srgbClr val="00589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86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799000"/>
            <a:ext cx="82677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3 </a:t>
            </a:r>
            <a:r>
              <a:rPr lang="en-US" sz="1800" dirty="0"/>
              <a:t>- Increase dipole length </a:t>
            </a:r>
            <a:r>
              <a:rPr lang="en-US" sz="1800" dirty="0" smtClean="0"/>
              <a:t>– restore minimal Emittance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19</a:t>
            </a:fld>
            <a:endParaRPr lang="de-DE" altLang="en-US" dirty="0"/>
          </a:p>
        </p:txBody>
      </p:sp>
      <p:sp>
        <p:nvSpPr>
          <p:cNvPr id="6" name="Textfeld 5"/>
          <p:cNvSpPr txBox="1"/>
          <p:nvPr/>
        </p:nvSpPr>
        <p:spPr>
          <a:xfrm>
            <a:off x="592546" y="1351552"/>
            <a:ext cx="4288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n-US" dirty="0" smtClean="0"/>
              <a:t>Keep </a:t>
            </a:r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baseline="-25000" dirty="0"/>
              <a:t>x</a:t>
            </a:r>
            <a:r>
              <a:rPr lang="en-US" dirty="0">
                <a:latin typeface="Symbol" panose="05050102010706020507" pitchFamily="18" charset="2"/>
              </a:rPr>
              <a:t>0 </a:t>
            </a:r>
            <a:r>
              <a:rPr lang="en-US" dirty="0"/>
              <a:t>= 0.103m </a:t>
            </a:r>
            <a:r>
              <a:rPr lang="en-US" dirty="0" smtClean="0"/>
              <a:t>(TME)</a:t>
            </a:r>
            <a:endParaRPr lang="en-US" dirty="0"/>
          </a:p>
          <a:p>
            <a:pPr lvl="1"/>
            <a:r>
              <a:rPr lang="en-US" dirty="0" smtClean="0"/>
              <a:t>-   Keep cell deflection angle const</a:t>
            </a:r>
            <a:r>
              <a:rPr lang="en-US" dirty="0"/>
              <a:t>.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feld 3"/>
          <p:cNvSpPr txBox="1"/>
          <p:nvPr/>
        </p:nvSpPr>
        <p:spPr>
          <a:xfrm>
            <a:off x="297000" y="864000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Change </a:t>
            </a:r>
            <a:r>
              <a:rPr lang="en-US" b="1" dirty="0" smtClean="0">
                <a:latin typeface="Symbol" panose="05050102010706020507" pitchFamily="18" charset="2"/>
              </a:rPr>
              <a:t>h0</a:t>
            </a:r>
            <a:r>
              <a:rPr lang="en-US" b="1" dirty="0" smtClean="0"/>
              <a:t> to recover TME-emittance: </a:t>
            </a:r>
            <a:endParaRPr lang="en-US" b="1" dirty="0"/>
          </a:p>
        </p:txBody>
      </p:sp>
      <p:grpSp>
        <p:nvGrpSpPr>
          <p:cNvPr id="19" name="Gruppieren 18"/>
          <p:cNvGrpSpPr/>
          <p:nvPr/>
        </p:nvGrpSpPr>
        <p:grpSpPr>
          <a:xfrm>
            <a:off x="522000" y="2394000"/>
            <a:ext cx="1424135" cy="307777"/>
            <a:chOff x="522000" y="2529000"/>
            <a:chExt cx="1424135" cy="307777"/>
          </a:xfrm>
        </p:grpSpPr>
        <p:sp>
          <p:nvSpPr>
            <p:cNvPr id="16" name="Ellipse 15"/>
            <p:cNvSpPr/>
            <p:nvPr/>
          </p:nvSpPr>
          <p:spPr>
            <a:xfrm>
              <a:off x="522000" y="2574000"/>
              <a:ext cx="197943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657000" y="2529000"/>
              <a:ext cx="12891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 Starting point</a:t>
              </a:r>
              <a:endParaRPr lang="en-US" sz="1400" dirty="0"/>
            </a:p>
          </p:txBody>
        </p:sp>
      </p:grpSp>
      <p:sp>
        <p:nvSpPr>
          <p:cNvPr id="15" name="Textfeld 14"/>
          <p:cNvSpPr txBox="1"/>
          <p:nvPr/>
        </p:nvSpPr>
        <p:spPr>
          <a:xfrm>
            <a:off x="1081134" y="5859000"/>
            <a:ext cx="691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Minimize emittance (-8pm)   </a:t>
            </a:r>
            <a:r>
              <a:rPr lang="en-US" dirty="0" smtClean="0">
                <a:sym typeface="Wingdings" panose="05000000000000000000" pitchFamily="2" charset="2"/>
              </a:rPr>
              <a:t>   keep emittance but increase </a:t>
            </a:r>
            <a:r>
              <a:rPr lang="en-US" dirty="0" smtClean="0"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en-US" dirty="0" smtClean="0">
                <a:sym typeface="Wingdings" panose="05000000000000000000" pitchFamily="2" charset="2"/>
              </a:rPr>
              <a:t> *</a:t>
            </a:r>
            <a:r>
              <a:rPr lang="en-US" dirty="0">
                <a:sym typeface="Wingdings" panose="05000000000000000000" pitchFamily="2" charset="2"/>
              </a:rPr>
              <a:t>7</a:t>
            </a:r>
            <a:endParaRPr lang="en-US" dirty="0"/>
          </a:p>
        </p:txBody>
      </p:sp>
      <p:sp>
        <p:nvSpPr>
          <p:cNvPr id="21" name="Ellipse 20"/>
          <p:cNvSpPr/>
          <p:nvPr/>
        </p:nvSpPr>
        <p:spPr>
          <a:xfrm>
            <a:off x="864057" y="5139000"/>
            <a:ext cx="197943" cy="1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3699057" y="2889000"/>
            <a:ext cx="197943" cy="1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Ellipse 23"/>
          <p:cNvSpPr/>
          <p:nvPr/>
        </p:nvSpPr>
        <p:spPr>
          <a:xfrm>
            <a:off x="6282000" y="5139000"/>
            <a:ext cx="197943" cy="1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Gerade Verbindung mit Pfeil 12"/>
          <p:cNvCxnSpPr/>
          <p:nvPr/>
        </p:nvCxnSpPr>
        <p:spPr>
          <a:xfrm>
            <a:off x="3897000" y="2979000"/>
            <a:ext cx="1890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91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3 - Increase dipole length – Full lattice</a:t>
            </a:r>
            <a:endParaRPr lang="en-US" sz="1800" dirty="0">
              <a:latin typeface="Symbol" panose="05050102010706020507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20</a:t>
            </a:fld>
            <a:endParaRPr lang="de-DE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986729" y="1044674"/>
            <a:ext cx="2995271" cy="1754326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 err="1" smtClean="0"/>
              <a:t>Full</a:t>
            </a:r>
            <a:r>
              <a:rPr lang="de-DE" b="1" dirty="0" smtClean="0">
                <a:latin typeface="Symbol" panose="05050102010706020507" pitchFamily="18" charset="2"/>
              </a:rPr>
              <a:t> </a:t>
            </a:r>
            <a:r>
              <a:rPr lang="de-DE" b="1" dirty="0" err="1"/>
              <a:t>lattice</a:t>
            </a:r>
            <a:r>
              <a:rPr lang="de-DE" b="1" dirty="0" smtClean="0">
                <a:latin typeface="Symbol" panose="05050102010706020507" pitchFamily="18" charset="2"/>
              </a:rPr>
              <a:t>:	</a:t>
            </a:r>
            <a:r>
              <a:rPr lang="de-DE" b="1" dirty="0" err="1" smtClean="0">
                <a:solidFill>
                  <a:srgbClr val="00589C"/>
                </a:solidFill>
              </a:rPr>
              <a:t>Ref</a:t>
            </a:r>
            <a:r>
              <a:rPr lang="de-DE" b="1" dirty="0" smtClean="0">
                <a:solidFill>
                  <a:srgbClr val="00589C"/>
                </a:solidFill>
              </a:rPr>
              <a:t>. </a:t>
            </a:r>
            <a:endParaRPr lang="de-DE" b="1" dirty="0">
              <a:solidFill>
                <a:srgbClr val="00589C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  </a:t>
            </a:r>
            <a:r>
              <a:rPr lang="en-US" dirty="0" smtClean="0">
                <a:solidFill>
                  <a:srgbClr val="FF0000"/>
                </a:solidFill>
              </a:rPr>
              <a:t>= 121pm	</a:t>
            </a:r>
            <a:r>
              <a:rPr lang="en-US" dirty="0" smtClean="0">
                <a:solidFill>
                  <a:srgbClr val="00589C"/>
                </a:solidFill>
              </a:rPr>
              <a:t>(105pm</a:t>
            </a:r>
            <a:r>
              <a:rPr lang="de-DE" dirty="0" smtClean="0">
                <a:solidFill>
                  <a:srgbClr val="00589C"/>
                </a:solidFill>
              </a:rPr>
              <a:t>)</a:t>
            </a:r>
            <a:endParaRPr lang="en-US" dirty="0" smtClean="0">
              <a:solidFill>
                <a:srgbClr val="00589C"/>
              </a:solidFill>
            </a:endParaRP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a</a:t>
            </a:r>
            <a:r>
              <a:rPr lang="en-US" dirty="0" smtClean="0">
                <a:solidFill>
                  <a:srgbClr val="00FF00"/>
                </a:solidFill>
              </a:rPr>
              <a:t> </a:t>
            </a:r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= 0.38</a:t>
            </a:r>
            <a:r>
              <a:rPr lang="en-US" dirty="0" smtClean="0">
                <a:solidFill>
                  <a:srgbClr val="00FF00"/>
                </a:solidFill>
              </a:rPr>
              <a:t>e</a:t>
            </a:r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-4</a:t>
            </a:r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	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(0.14</a:t>
            </a:r>
            <a:r>
              <a:rPr lang="en-US" dirty="0" smtClean="0">
                <a:solidFill>
                  <a:srgbClr val="00589C"/>
                </a:solidFill>
              </a:rPr>
              <a:t>e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-4)</a:t>
            </a:r>
            <a:endParaRPr lang="en-US" dirty="0">
              <a:solidFill>
                <a:srgbClr val="00589C"/>
              </a:solidFill>
              <a:latin typeface="Symbol" panose="05050102010706020507" pitchFamily="18" charset="2"/>
            </a:endParaRP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smtClean="0">
                <a:solidFill>
                  <a:srgbClr val="00FF00"/>
                </a:solidFill>
              </a:rPr>
              <a:t>x</a:t>
            </a:r>
            <a:r>
              <a:rPr lang="en-US" dirty="0" smtClean="0">
                <a:solidFill>
                  <a:srgbClr val="00FF00"/>
                </a:solidFill>
              </a:rPr>
              <a:t> / </a:t>
            </a:r>
            <a:r>
              <a:rPr lang="en-US" dirty="0" err="1" smtClean="0">
                <a:solidFill>
                  <a:srgbClr val="00FF00"/>
                </a:solidFill>
              </a:rPr>
              <a:t>Q</a:t>
            </a:r>
            <a:r>
              <a:rPr lang="en-US" baseline="-25000" dirty="0" err="1" smtClean="0">
                <a:solidFill>
                  <a:srgbClr val="00FF00"/>
                </a:solidFill>
              </a:rPr>
              <a:t>x</a:t>
            </a:r>
            <a:r>
              <a:rPr lang="en-US" baseline="-25000" dirty="0">
                <a:solidFill>
                  <a:srgbClr val="00FF00"/>
                </a:solidFill>
              </a:rPr>
              <a:t> </a:t>
            </a:r>
            <a:r>
              <a:rPr lang="en-US" dirty="0" smtClean="0">
                <a:solidFill>
                  <a:srgbClr val="00FF00"/>
                </a:solidFill>
              </a:rPr>
              <a:t>= -4.6 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(-5.7)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err="1" smtClean="0">
                <a:solidFill>
                  <a:srgbClr val="00FF00"/>
                </a:solidFill>
              </a:rPr>
              <a:t>y</a:t>
            </a:r>
            <a:r>
              <a:rPr lang="en-US" dirty="0" smtClean="0">
                <a:solidFill>
                  <a:srgbClr val="00FF00"/>
                </a:solidFill>
              </a:rPr>
              <a:t> / </a:t>
            </a:r>
            <a:r>
              <a:rPr lang="en-US" dirty="0" err="1" smtClean="0">
                <a:solidFill>
                  <a:srgbClr val="00FF00"/>
                </a:solidFill>
              </a:rPr>
              <a:t>Q</a:t>
            </a:r>
            <a:r>
              <a:rPr lang="en-US" baseline="-25000" dirty="0" err="1" smtClean="0">
                <a:solidFill>
                  <a:srgbClr val="00FF00"/>
                </a:solidFill>
              </a:rPr>
              <a:t>y</a:t>
            </a:r>
            <a:r>
              <a:rPr lang="en-US" dirty="0" smtClean="0">
                <a:solidFill>
                  <a:srgbClr val="00FF00"/>
                </a:solidFill>
              </a:rPr>
              <a:t>= -6.2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(-7.8)</a:t>
            </a:r>
          </a:p>
          <a:p>
            <a:r>
              <a:rPr lang="de-DE" dirty="0" err="1" smtClean="0">
                <a:solidFill>
                  <a:srgbClr val="FF0000"/>
                </a:solidFill>
              </a:rPr>
              <a:t>Circ</a:t>
            </a:r>
            <a:r>
              <a:rPr lang="de-DE" dirty="0" smtClean="0">
                <a:solidFill>
                  <a:srgbClr val="FF0000"/>
                </a:solidFill>
              </a:rPr>
              <a:t>. =</a:t>
            </a:r>
            <a:r>
              <a:rPr lang="de-DE" dirty="0" smtClean="0">
                <a:solidFill>
                  <a:srgbClr val="FF0000"/>
                </a:solidFill>
                <a:latin typeface="Symbol" panose="05050102010706020507" pitchFamily="18" charset="2"/>
              </a:rPr>
              <a:t> </a:t>
            </a:r>
            <a:r>
              <a:rPr lang="de-DE" dirty="0" smtClean="0">
                <a:solidFill>
                  <a:srgbClr val="FF0000"/>
                </a:solidFill>
              </a:rPr>
              <a:t>339.6</a:t>
            </a:r>
            <a:r>
              <a:rPr lang="de-DE" dirty="0" smtClean="0">
                <a:solidFill>
                  <a:srgbClr val="00589C"/>
                </a:solidFill>
                <a:latin typeface="Symbol" panose="05050102010706020507" pitchFamily="18" charset="2"/>
              </a:rPr>
              <a:t>	(321.2)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8573" y="4734000"/>
            <a:ext cx="4820550" cy="1554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r>
              <a:rPr lang="en-US" b="1" dirty="0" smtClean="0"/>
              <a:t> – Increase dipole length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emittance contribution of RB not negligible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full lattice: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</a:t>
            </a:r>
            <a:r>
              <a:rPr lang="en-US" dirty="0"/>
              <a:t>= 1.0e-4 </a:t>
            </a:r>
            <a:r>
              <a:rPr lang="en-US" dirty="0">
                <a:sym typeface="Wingdings" panose="05000000000000000000" pitchFamily="2" charset="2"/>
              </a:rPr>
              <a:t>  </a:t>
            </a:r>
            <a:r>
              <a:rPr lang="en-US" dirty="0"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dirty="0" smtClean="0">
                <a:sym typeface="Wingdings" panose="05000000000000000000" pitchFamily="2" charset="2"/>
              </a:rPr>
              <a:t>158pm</a:t>
            </a:r>
            <a:endParaRPr lang="en-US" dirty="0" smtClean="0">
              <a:latin typeface="Symbol" panose="05050102010706020507" pitchFamily="18" charset="2"/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+ 18m circumference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option for combined function magnets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637000" y="1007391"/>
            <a:ext cx="2954655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MBA-cell:     </a:t>
            </a:r>
            <a:r>
              <a:rPr lang="en-US" b="1" dirty="0" smtClean="0">
                <a:solidFill>
                  <a:srgbClr val="00589C"/>
                </a:solidFill>
              </a:rPr>
              <a:t>(Ref.)</a:t>
            </a:r>
            <a:r>
              <a:rPr lang="en-US" dirty="0" smtClean="0"/>
              <a:t>	</a:t>
            </a:r>
            <a:endParaRPr lang="en-US" dirty="0">
              <a:solidFill>
                <a:srgbClr val="00589C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 = 119pm</a:t>
            </a: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00589C"/>
                </a:solidFill>
              </a:rPr>
              <a:t>(114pm)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solidFill>
                  <a:srgbClr val="00FF00"/>
                </a:solidFill>
              </a:rPr>
              <a:t>= 0.60e-4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589C"/>
                </a:solidFill>
              </a:rPr>
              <a:t>(0.08e-4)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506" y="999000"/>
            <a:ext cx="2032494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Half main bend</a:t>
            </a:r>
            <a:r>
              <a:rPr lang="de-DE" dirty="0" smtClean="0"/>
              <a:t>:</a:t>
            </a:r>
          </a:p>
          <a:p>
            <a:r>
              <a:rPr lang="de-DE" dirty="0"/>
              <a:t>L</a:t>
            </a:r>
            <a:r>
              <a:rPr lang="de-DE" baseline="-25000" dirty="0">
                <a:latin typeface="Symbol" panose="05050102010706020507" pitchFamily="18" charset="2"/>
              </a:rPr>
              <a:t>MB </a:t>
            </a:r>
            <a:r>
              <a:rPr lang="de-DE" dirty="0">
                <a:latin typeface="Symbol" panose="05050102010706020507" pitchFamily="18" charset="2"/>
              </a:rPr>
              <a:t> </a:t>
            </a:r>
            <a:r>
              <a:rPr lang="de-DE" dirty="0"/>
              <a:t>= </a:t>
            </a:r>
            <a:r>
              <a:rPr lang="de-DE" dirty="0" smtClean="0"/>
              <a:t>0.40m</a:t>
            </a:r>
            <a:endParaRPr lang="en-US" baseline="-25000" dirty="0"/>
          </a:p>
          <a:p>
            <a:pPr marL="285750" indent="-285750">
              <a:buFont typeface="Symbol" panose="05050102010706020507" pitchFamily="18" charset="2"/>
              <a:buChar char="q"/>
            </a:pPr>
            <a:r>
              <a:rPr lang="en-US" dirty="0" smtClean="0"/>
              <a:t>= 2.345°	</a:t>
            </a:r>
          </a:p>
          <a:p>
            <a:r>
              <a:rPr lang="en-US" dirty="0" err="1" smtClean="0">
                <a:latin typeface="Symbol" panose="05050102010706020507" pitchFamily="18" charset="2"/>
              </a:rPr>
              <a:t>q</a:t>
            </a:r>
            <a:r>
              <a:rPr lang="en-US" baseline="-25000" dirty="0" err="1" smtClean="0"/>
              <a:t>R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de-DE" dirty="0" smtClean="0"/>
              <a:t>= -0.25°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h0</a:t>
            </a:r>
            <a:r>
              <a:rPr lang="en-US" dirty="0" smtClean="0"/>
              <a:t>= 0.0035m</a:t>
            </a:r>
            <a:endParaRPr lang="de-DE" dirty="0" smtClean="0"/>
          </a:p>
        </p:txBody>
      </p:sp>
      <p:sp>
        <p:nvSpPr>
          <p:cNvPr id="14" name="TextBox 17"/>
          <p:cNvSpPr txBox="1"/>
          <p:nvPr/>
        </p:nvSpPr>
        <p:spPr>
          <a:xfrm>
            <a:off x="5986729" y="3159674"/>
            <a:ext cx="2995271" cy="1754326"/>
          </a:xfrm>
          <a:prstGeom prst="rect">
            <a:avLst/>
          </a:prstGeom>
          <a:noFill/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de-DE" b="1" dirty="0" err="1" smtClean="0"/>
              <a:t>Full</a:t>
            </a:r>
            <a:r>
              <a:rPr lang="de-DE" b="1" dirty="0" smtClean="0">
                <a:latin typeface="Symbol" panose="05050102010706020507" pitchFamily="18" charset="2"/>
              </a:rPr>
              <a:t> </a:t>
            </a:r>
            <a:r>
              <a:rPr lang="de-DE" b="1" dirty="0" err="1"/>
              <a:t>lattice</a:t>
            </a:r>
            <a:r>
              <a:rPr lang="de-DE" b="1" dirty="0" smtClean="0">
                <a:latin typeface="Symbol" panose="05050102010706020507" pitchFamily="18" charset="2"/>
              </a:rPr>
              <a:t>:	</a:t>
            </a:r>
            <a:r>
              <a:rPr lang="de-DE" b="1" dirty="0" err="1" smtClean="0">
                <a:solidFill>
                  <a:srgbClr val="00589C"/>
                </a:solidFill>
              </a:rPr>
              <a:t>Ref</a:t>
            </a:r>
            <a:r>
              <a:rPr lang="de-DE" b="1" dirty="0" smtClean="0">
                <a:solidFill>
                  <a:srgbClr val="00589C"/>
                </a:solidFill>
              </a:rPr>
              <a:t>. </a:t>
            </a:r>
            <a:endParaRPr lang="de-DE" b="1" dirty="0">
              <a:solidFill>
                <a:srgbClr val="00589C"/>
              </a:solidFill>
            </a:endParaRPr>
          </a:p>
          <a:p>
            <a:r>
              <a:rPr lang="en-US" dirty="0" smtClean="0">
                <a:solidFill>
                  <a:srgbClr val="FFC000"/>
                </a:solidFill>
                <a:latin typeface="Symbol" panose="05050102010706020507" pitchFamily="18" charset="2"/>
              </a:rPr>
              <a:t>e  </a:t>
            </a:r>
            <a:r>
              <a:rPr lang="en-US" dirty="0" smtClean="0">
                <a:solidFill>
                  <a:srgbClr val="FFC000"/>
                </a:solidFill>
              </a:rPr>
              <a:t>= 125pm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</a:rPr>
              <a:t>(105pm</a:t>
            </a:r>
            <a:r>
              <a:rPr lang="de-DE" dirty="0" smtClean="0">
                <a:solidFill>
                  <a:srgbClr val="00589C"/>
                </a:solidFill>
              </a:rPr>
              <a:t>)</a:t>
            </a:r>
            <a:endParaRPr lang="en-US" dirty="0" smtClean="0">
              <a:solidFill>
                <a:srgbClr val="00589C"/>
              </a:solidFill>
            </a:endParaRP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a</a:t>
            </a:r>
            <a:r>
              <a:rPr lang="en-US" dirty="0" smtClean="0">
                <a:solidFill>
                  <a:srgbClr val="00FF00"/>
                </a:solidFill>
              </a:rPr>
              <a:t> </a:t>
            </a:r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= 0.58</a:t>
            </a:r>
            <a:r>
              <a:rPr lang="en-US" dirty="0" smtClean="0">
                <a:solidFill>
                  <a:srgbClr val="00FF00"/>
                </a:solidFill>
              </a:rPr>
              <a:t>e</a:t>
            </a:r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-4</a:t>
            </a:r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	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(0.14</a:t>
            </a:r>
            <a:r>
              <a:rPr lang="en-US" dirty="0" smtClean="0">
                <a:solidFill>
                  <a:srgbClr val="00589C"/>
                </a:solidFill>
              </a:rPr>
              <a:t>e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-4)</a:t>
            </a:r>
            <a:endParaRPr lang="en-US" dirty="0">
              <a:solidFill>
                <a:srgbClr val="00589C"/>
              </a:solidFill>
              <a:latin typeface="Symbol" panose="05050102010706020507" pitchFamily="18" charset="2"/>
            </a:endParaRP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smtClean="0">
                <a:solidFill>
                  <a:srgbClr val="00FF00"/>
                </a:solidFill>
              </a:rPr>
              <a:t>x</a:t>
            </a:r>
            <a:r>
              <a:rPr lang="en-US" dirty="0" smtClean="0">
                <a:solidFill>
                  <a:srgbClr val="00FF00"/>
                </a:solidFill>
              </a:rPr>
              <a:t> / </a:t>
            </a:r>
            <a:r>
              <a:rPr lang="en-US" dirty="0" err="1" smtClean="0">
                <a:solidFill>
                  <a:srgbClr val="00FF00"/>
                </a:solidFill>
              </a:rPr>
              <a:t>Q</a:t>
            </a:r>
            <a:r>
              <a:rPr lang="en-US" baseline="-25000" dirty="0" err="1" smtClean="0">
                <a:solidFill>
                  <a:srgbClr val="00FF00"/>
                </a:solidFill>
              </a:rPr>
              <a:t>x</a:t>
            </a:r>
            <a:r>
              <a:rPr lang="en-US" baseline="-25000" dirty="0">
                <a:solidFill>
                  <a:srgbClr val="00FF00"/>
                </a:solidFill>
              </a:rPr>
              <a:t> </a:t>
            </a:r>
            <a:r>
              <a:rPr lang="en-US" dirty="0" smtClean="0">
                <a:solidFill>
                  <a:srgbClr val="00FF00"/>
                </a:solidFill>
              </a:rPr>
              <a:t>= -4.6 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(-5.7)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en-US" baseline="-25000" dirty="0" err="1" smtClean="0">
                <a:solidFill>
                  <a:srgbClr val="00FF00"/>
                </a:solidFill>
              </a:rPr>
              <a:t>y</a:t>
            </a:r>
            <a:r>
              <a:rPr lang="en-US" dirty="0" smtClean="0">
                <a:solidFill>
                  <a:srgbClr val="00FF00"/>
                </a:solidFill>
              </a:rPr>
              <a:t> / </a:t>
            </a:r>
            <a:r>
              <a:rPr lang="en-US" dirty="0" err="1" smtClean="0">
                <a:solidFill>
                  <a:srgbClr val="00FF00"/>
                </a:solidFill>
              </a:rPr>
              <a:t>Q</a:t>
            </a:r>
            <a:r>
              <a:rPr lang="en-US" baseline="-25000" dirty="0" err="1" smtClean="0">
                <a:solidFill>
                  <a:srgbClr val="00FF00"/>
                </a:solidFill>
              </a:rPr>
              <a:t>y</a:t>
            </a:r>
            <a:r>
              <a:rPr lang="en-US" dirty="0" smtClean="0">
                <a:solidFill>
                  <a:srgbClr val="00FF00"/>
                </a:solidFill>
              </a:rPr>
              <a:t>= -6.2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  <a:latin typeface="Symbol" panose="05050102010706020507" pitchFamily="18" charset="2"/>
              </a:rPr>
              <a:t>(-7.8)</a:t>
            </a:r>
          </a:p>
          <a:p>
            <a:r>
              <a:rPr lang="de-DE" dirty="0" err="1" smtClean="0">
                <a:solidFill>
                  <a:srgbClr val="FF0000"/>
                </a:solidFill>
              </a:rPr>
              <a:t>Circ</a:t>
            </a:r>
            <a:r>
              <a:rPr lang="de-DE" dirty="0" smtClean="0">
                <a:solidFill>
                  <a:srgbClr val="FF0000"/>
                </a:solidFill>
              </a:rPr>
              <a:t>. =</a:t>
            </a:r>
            <a:r>
              <a:rPr lang="de-DE" dirty="0" smtClean="0">
                <a:solidFill>
                  <a:srgbClr val="FF0000"/>
                </a:solidFill>
                <a:latin typeface="Symbol" panose="05050102010706020507" pitchFamily="18" charset="2"/>
              </a:rPr>
              <a:t> </a:t>
            </a:r>
            <a:r>
              <a:rPr lang="de-DE" dirty="0" smtClean="0">
                <a:solidFill>
                  <a:srgbClr val="FF0000"/>
                </a:solidFill>
              </a:rPr>
              <a:t>339.6</a:t>
            </a:r>
            <a:r>
              <a:rPr lang="de-DE" dirty="0" smtClean="0">
                <a:solidFill>
                  <a:srgbClr val="00589C"/>
                </a:solidFill>
                <a:latin typeface="Symbol" panose="05050102010706020507" pitchFamily="18" charset="2"/>
              </a:rPr>
              <a:t>	(321.2)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2684521" y="3122391"/>
            <a:ext cx="2967479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MBA-cell:     </a:t>
            </a:r>
            <a:r>
              <a:rPr lang="en-US" b="1" dirty="0" smtClean="0">
                <a:solidFill>
                  <a:srgbClr val="00589C"/>
                </a:solidFill>
              </a:rPr>
              <a:t>(Ref.)</a:t>
            </a:r>
            <a:r>
              <a:rPr lang="en-US" dirty="0" smtClean="0"/>
              <a:t>	</a:t>
            </a:r>
            <a:endParaRPr lang="en-US" dirty="0">
              <a:solidFill>
                <a:srgbClr val="00589C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 = 126pm</a:t>
            </a: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00589C"/>
                </a:solidFill>
              </a:rPr>
              <a:t>(114pm)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solidFill>
                  <a:srgbClr val="00FF00"/>
                </a:solidFill>
              </a:rPr>
              <a:t>= 1.00e-4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589C"/>
                </a:solidFill>
              </a:rPr>
              <a:t>(0.08e-4)</a:t>
            </a:r>
          </a:p>
        </p:txBody>
      </p:sp>
      <p:sp>
        <p:nvSpPr>
          <p:cNvPr id="21" name="TextBox 19"/>
          <p:cNvSpPr txBox="1"/>
          <p:nvPr/>
        </p:nvSpPr>
        <p:spPr>
          <a:xfrm>
            <a:off x="524521" y="3114000"/>
            <a:ext cx="2032494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Half main bend</a:t>
            </a:r>
            <a:r>
              <a:rPr lang="de-DE" dirty="0" smtClean="0"/>
              <a:t>:</a:t>
            </a:r>
          </a:p>
          <a:p>
            <a:r>
              <a:rPr lang="de-DE" dirty="0" smtClean="0"/>
              <a:t>L</a:t>
            </a:r>
            <a:r>
              <a:rPr lang="de-DE" baseline="-25000" dirty="0" smtClean="0">
                <a:latin typeface="Symbol" panose="05050102010706020507" pitchFamily="18" charset="2"/>
              </a:rPr>
              <a:t>MB </a:t>
            </a:r>
            <a:r>
              <a:rPr lang="de-DE" dirty="0" smtClean="0">
                <a:latin typeface="Symbol" panose="05050102010706020507" pitchFamily="18" charset="2"/>
              </a:rPr>
              <a:t> </a:t>
            </a:r>
            <a:r>
              <a:rPr lang="de-DE" dirty="0" smtClean="0"/>
              <a:t>= 0.40m</a:t>
            </a:r>
            <a:endParaRPr lang="en-US" baseline="-25000" dirty="0" smtClean="0"/>
          </a:p>
          <a:p>
            <a:pPr marL="285750" indent="-285750">
              <a:buFont typeface="Symbol" panose="05050102010706020507" pitchFamily="18" charset="2"/>
              <a:buChar char="q"/>
            </a:pPr>
            <a:r>
              <a:rPr lang="en-US" dirty="0" smtClean="0"/>
              <a:t>= 2.3°	</a:t>
            </a:r>
          </a:p>
          <a:p>
            <a:r>
              <a:rPr lang="en-US" dirty="0" err="1" smtClean="0">
                <a:latin typeface="Symbol" panose="05050102010706020507" pitchFamily="18" charset="2"/>
              </a:rPr>
              <a:t>q</a:t>
            </a:r>
            <a:r>
              <a:rPr lang="en-US" baseline="-25000" dirty="0" err="1" smtClean="0"/>
              <a:t>R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de-DE" dirty="0" smtClean="0"/>
              <a:t>= -0.205°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h0</a:t>
            </a:r>
            <a:r>
              <a:rPr lang="en-US" dirty="0" smtClean="0"/>
              <a:t>= 0.0043m</a:t>
            </a:r>
            <a:endParaRPr lang="de-DE" dirty="0" smtClean="0"/>
          </a:p>
        </p:txBody>
      </p:sp>
      <p:sp>
        <p:nvSpPr>
          <p:cNvPr id="3" name="Textfeld 2"/>
          <p:cNvSpPr txBox="1"/>
          <p:nvPr/>
        </p:nvSpPr>
        <p:spPr>
          <a:xfrm>
            <a:off x="342000" y="594000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Minimize emittance:</a:t>
            </a:r>
            <a:endParaRPr lang="en-US" dirty="0"/>
          </a:p>
        </p:txBody>
      </p:sp>
      <p:sp>
        <p:nvSpPr>
          <p:cNvPr id="22" name="Textfeld 21"/>
          <p:cNvSpPr txBox="1"/>
          <p:nvPr/>
        </p:nvSpPr>
        <p:spPr>
          <a:xfrm>
            <a:off x="389521" y="2744668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Maximize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Rechteck 3"/>
          <p:cNvSpPr/>
          <p:nvPr/>
        </p:nvSpPr>
        <p:spPr>
          <a:xfrm>
            <a:off x="117000" y="594000"/>
            <a:ext cx="8955000" cy="22050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/>
          <p:cNvSpPr/>
          <p:nvPr/>
        </p:nvSpPr>
        <p:spPr>
          <a:xfrm>
            <a:off x="6000679" y="4869000"/>
            <a:ext cx="29813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factor 4 in </a:t>
            </a:r>
            <a:r>
              <a:rPr lang="en-US" sz="1600" dirty="0">
                <a:latin typeface="Symbol" panose="05050102010706020507" pitchFamily="18" charset="2"/>
              </a:rPr>
              <a:t>a</a:t>
            </a:r>
            <a:r>
              <a:rPr lang="en-US" sz="1600" dirty="0"/>
              <a:t> with moderate increase in </a:t>
            </a:r>
            <a:r>
              <a:rPr lang="en-US" sz="1600" dirty="0">
                <a:latin typeface="Symbol" panose="05050102010706020507" pitchFamily="18" charset="2"/>
              </a:rPr>
              <a:t>e (16%)</a:t>
            </a:r>
            <a:endParaRPr lang="en-US" sz="1600" dirty="0"/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reduction in norm. </a:t>
            </a:r>
            <a:r>
              <a:rPr lang="en-US" sz="1600" dirty="0" err="1" smtClean="0"/>
              <a:t>chrom</a:t>
            </a:r>
            <a:r>
              <a:rPr lang="en-US" sz="1600" dirty="0" smtClean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152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4a - Increase dipole length + include transverse gradient</a:t>
            </a:r>
            <a:endParaRPr lang="en-US" sz="1800" dirty="0">
              <a:latin typeface="Symbol" panose="05050102010706020507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21</a:t>
            </a:fld>
            <a:endParaRPr lang="de-DE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588225" y="3858106"/>
            <a:ext cx="3018775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MBA-cell:      (long dipole)</a:t>
            </a: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 = 137pm       </a:t>
            </a:r>
            <a:r>
              <a:rPr lang="en-US" dirty="0" smtClean="0"/>
              <a:t>(126pm)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solidFill>
                  <a:srgbClr val="00FF00"/>
                </a:solidFill>
              </a:rPr>
              <a:t>= 2.15e-4    </a:t>
            </a:r>
            <a:r>
              <a:rPr lang="en-US" dirty="0" smtClean="0"/>
              <a:t>(1.03e-4)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00" y="3858106"/>
            <a:ext cx="2610000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Half main bend</a:t>
            </a:r>
            <a:r>
              <a:rPr lang="en-US" dirty="0" smtClean="0"/>
              <a:t>:</a:t>
            </a:r>
          </a:p>
          <a:p>
            <a:r>
              <a:rPr lang="de-DE" dirty="0" smtClean="0"/>
              <a:t>L</a:t>
            </a:r>
            <a:r>
              <a:rPr lang="de-DE" baseline="-25000" dirty="0" smtClean="0">
                <a:latin typeface="Symbol" panose="05050102010706020507" pitchFamily="18" charset="2"/>
              </a:rPr>
              <a:t>MB </a:t>
            </a:r>
            <a:r>
              <a:rPr lang="de-DE" dirty="0" smtClean="0">
                <a:latin typeface="Symbol" panose="05050102010706020507" pitchFamily="18" charset="2"/>
              </a:rPr>
              <a:t> </a:t>
            </a:r>
            <a:r>
              <a:rPr lang="de-DE" dirty="0"/>
              <a:t>= </a:t>
            </a:r>
            <a:r>
              <a:rPr lang="de-DE" dirty="0" smtClean="0"/>
              <a:t>0.40m</a:t>
            </a:r>
            <a:endParaRPr lang="en-US" baseline="-25000" dirty="0"/>
          </a:p>
          <a:p>
            <a:pPr marL="285750" indent="-285750">
              <a:buFont typeface="Symbol" panose="05050102010706020507" pitchFamily="18" charset="2"/>
              <a:buChar char="q"/>
            </a:pPr>
            <a:r>
              <a:rPr lang="en-US" dirty="0" smtClean="0"/>
              <a:t>= 2.3°, </a:t>
            </a:r>
            <a:r>
              <a:rPr lang="de-DE" dirty="0" smtClean="0"/>
              <a:t> 0.84T</a:t>
            </a:r>
            <a:r>
              <a:rPr lang="en-US" dirty="0" smtClean="0"/>
              <a:t>	</a:t>
            </a:r>
          </a:p>
          <a:p>
            <a:r>
              <a:rPr lang="de-DE" dirty="0" smtClean="0"/>
              <a:t>K  = -2.28m</a:t>
            </a:r>
            <a:r>
              <a:rPr lang="de-DE" baseline="30000" dirty="0" smtClean="0"/>
              <a:t>-</a:t>
            </a:r>
            <a:r>
              <a:rPr lang="de-DE" dirty="0" smtClean="0"/>
              <a:t>², -19T/m</a:t>
            </a:r>
          </a:p>
          <a:p>
            <a:r>
              <a:rPr lang="en-US" dirty="0">
                <a:latin typeface="Symbol" panose="05050102010706020507" pitchFamily="18" charset="2"/>
              </a:rPr>
              <a:t>h</a:t>
            </a:r>
            <a:r>
              <a:rPr lang="en-US" dirty="0"/>
              <a:t>0 = </a:t>
            </a:r>
            <a:r>
              <a:rPr lang="en-US" dirty="0" smtClean="0"/>
              <a:t>0.0059m 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baseline="-25000" dirty="0" smtClean="0"/>
              <a:t>y</a:t>
            </a:r>
            <a:r>
              <a:rPr lang="en-US" dirty="0" smtClean="0"/>
              <a:t>0 </a:t>
            </a:r>
            <a:r>
              <a:rPr lang="en-US" dirty="0"/>
              <a:t>= 9m         </a:t>
            </a:r>
            <a:endParaRPr lang="en-US" dirty="0" smtClean="0"/>
          </a:p>
          <a:p>
            <a:r>
              <a:rPr lang="en-US" dirty="0" err="1" smtClean="0">
                <a:latin typeface="Symbol" panose="05050102010706020507" pitchFamily="18" charset="2"/>
              </a:rPr>
              <a:t>q</a:t>
            </a:r>
            <a:r>
              <a:rPr lang="en-US" baseline="-25000" dirty="0" err="1" smtClean="0"/>
              <a:t>R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de-DE" dirty="0"/>
              <a:t>= -</a:t>
            </a:r>
            <a:r>
              <a:rPr lang="de-DE" dirty="0" smtClean="0"/>
              <a:t>0.215°</a:t>
            </a:r>
            <a:endParaRPr lang="de-DE" dirty="0"/>
          </a:p>
        </p:txBody>
      </p:sp>
      <p:sp>
        <p:nvSpPr>
          <p:cNvPr id="3" name="TextBox 2"/>
          <p:cNvSpPr txBox="1"/>
          <p:nvPr/>
        </p:nvSpPr>
        <p:spPr>
          <a:xfrm>
            <a:off x="207000" y="3239668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Include QD in main bend: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000" y="1039783"/>
            <a:ext cx="5641288" cy="183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Effect of transverse gradient (TG) in main dipole:</a:t>
            </a:r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Practical: gradient cast in dipole </a:t>
            </a:r>
            <a:r>
              <a:rPr lang="en-US" dirty="0"/>
              <a:t>profile – fixed </a:t>
            </a:r>
            <a:endParaRPr lang="en-US" dirty="0" smtClean="0"/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QD</a:t>
            </a:r>
            <a:r>
              <a:rPr lang="en-US" dirty="0" smtClean="0">
                <a:latin typeface="Symbol" panose="05050102010706020507" pitchFamily="18" charset="2"/>
              </a:rPr>
              <a:t>: h, </a:t>
            </a:r>
            <a:r>
              <a:rPr lang="en-US" dirty="0" err="1" smtClean="0">
                <a:latin typeface="Symbol" panose="05050102010706020507" pitchFamily="18" charset="2"/>
              </a:rPr>
              <a:t>b</a:t>
            </a:r>
            <a:r>
              <a:rPr lang="en-US" dirty="0" err="1" smtClean="0"/>
              <a:t>x</a:t>
            </a:r>
            <a:r>
              <a:rPr lang="en-US" dirty="0" smtClean="0"/>
              <a:t> (emittance) increases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Damping partition number &gt;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increases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Save circumference</a:t>
            </a:r>
          </a:p>
        </p:txBody>
      </p:sp>
      <p:sp>
        <p:nvSpPr>
          <p:cNvPr id="6" name="Right Brace 5"/>
          <p:cNvSpPr/>
          <p:nvPr/>
        </p:nvSpPr>
        <p:spPr>
          <a:xfrm>
            <a:off x="4347000" y="1764000"/>
            <a:ext cx="156409" cy="4950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03409" y="1831004"/>
            <a:ext cx="231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emittance reduction? 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832000" y="3872675"/>
            <a:ext cx="308289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Full lattice</a:t>
            </a:r>
            <a:r>
              <a:rPr lang="en-US" b="1" dirty="0" smtClean="0">
                <a:solidFill>
                  <a:srgbClr val="00589C"/>
                </a:solidFill>
              </a:rPr>
              <a:t>:          (Ref.)</a:t>
            </a:r>
          </a:p>
          <a:p>
            <a:r>
              <a:rPr lang="en-US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 = 134pm  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00589C"/>
                </a:solidFill>
              </a:rPr>
              <a:t>(105pm)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solidFill>
                  <a:srgbClr val="00FF00"/>
                </a:solidFill>
              </a:rPr>
              <a:t>= 1.01e-4  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00589C"/>
                </a:solidFill>
              </a:rPr>
              <a:t>(0.14e-4)</a:t>
            </a:r>
          </a:p>
          <a:p>
            <a:r>
              <a:rPr lang="de-DE" dirty="0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de-DE" baseline="-25000" dirty="0">
                <a:solidFill>
                  <a:srgbClr val="00FF00"/>
                </a:solidFill>
              </a:rPr>
              <a:t>x</a:t>
            </a:r>
            <a:r>
              <a:rPr lang="de-DE" dirty="0">
                <a:solidFill>
                  <a:srgbClr val="00FF00"/>
                </a:solidFill>
              </a:rPr>
              <a:t>/</a:t>
            </a:r>
            <a:r>
              <a:rPr lang="de-DE" dirty="0" err="1">
                <a:solidFill>
                  <a:srgbClr val="00FF00"/>
                </a:solidFill>
              </a:rPr>
              <a:t>Q</a:t>
            </a:r>
            <a:r>
              <a:rPr lang="de-DE" baseline="-25000" dirty="0" err="1">
                <a:solidFill>
                  <a:srgbClr val="00FF00"/>
                </a:solidFill>
              </a:rPr>
              <a:t>x</a:t>
            </a:r>
            <a:r>
              <a:rPr lang="de-DE" baseline="-25000" dirty="0">
                <a:solidFill>
                  <a:srgbClr val="00FF00"/>
                </a:solidFill>
              </a:rPr>
              <a:t> </a:t>
            </a:r>
            <a:r>
              <a:rPr lang="de-DE" dirty="0">
                <a:solidFill>
                  <a:srgbClr val="00FF00"/>
                </a:solidFill>
              </a:rPr>
              <a:t>= </a:t>
            </a:r>
            <a:r>
              <a:rPr lang="de-DE" dirty="0" smtClean="0">
                <a:solidFill>
                  <a:srgbClr val="00FF00"/>
                </a:solidFill>
              </a:rPr>
              <a:t>-3.8 </a:t>
            </a:r>
            <a:r>
              <a:rPr lang="de-DE" dirty="0"/>
              <a:t>	</a:t>
            </a:r>
            <a:r>
              <a:rPr lang="de-DE" dirty="0" smtClean="0">
                <a:solidFill>
                  <a:srgbClr val="00589C"/>
                </a:solidFill>
              </a:rPr>
              <a:t>(-5.7)</a:t>
            </a:r>
            <a:endParaRPr lang="de-DE" dirty="0">
              <a:solidFill>
                <a:srgbClr val="00589C"/>
              </a:solidFill>
            </a:endParaRPr>
          </a:p>
          <a:p>
            <a:r>
              <a:rPr lang="de-DE" dirty="0" err="1">
                <a:solidFill>
                  <a:srgbClr val="00FF00"/>
                </a:solidFill>
                <a:latin typeface="Symbol" panose="05050102010706020507" pitchFamily="18" charset="2"/>
              </a:rPr>
              <a:t>x</a:t>
            </a:r>
            <a:r>
              <a:rPr lang="de-DE" baseline="-25000" dirty="0" err="1">
                <a:solidFill>
                  <a:srgbClr val="00FF00"/>
                </a:solidFill>
              </a:rPr>
              <a:t>y</a:t>
            </a:r>
            <a:r>
              <a:rPr lang="de-DE" dirty="0">
                <a:solidFill>
                  <a:srgbClr val="00FF00"/>
                </a:solidFill>
              </a:rPr>
              <a:t>/</a:t>
            </a:r>
            <a:r>
              <a:rPr lang="de-DE" dirty="0" err="1">
                <a:solidFill>
                  <a:srgbClr val="00FF00"/>
                </a:solidFill>
              </a:rPr>
              <a:t>Q</a:t>
            </a:r>
            <a:r>
              <a:rPr lang="de-DE" baseline="-25000" dirty="0" err="1">
                <a:solidFill>
                  <a:srgbClr val="00FF00"/>
                </a:solidFill>
              </a:rPr>
              <a:t>y</a:t>
            </a:r>
            <a:r>
              <a:rPr lang="de-DE" baseline="-25000" dirty="0">
                <a:solidFill>
                  <a:srgbClr val="00FF00"/>
                </a:solidFill>
              </a:rPr>
              <a:t> </a:t>
            </a:r>
            <a:r>
              <a:rPr lang="de-DE" dirty="0">
                <a:solidFill>
                  <a:srgbClr val="00FF00"/>
                </a:solidFill>
              </a:rPr>
              <a:t>= </a:t>
            </a:r>
            <a:r>
              <a:rPr lang="de-DE" dirty="0" smtClean="0">
                <a:solidFill>
                  <a:srgbClr val="00FF00"/>
                </a:solidFill>
              </a:rPr>
              <a:t>-3.4</a:t>
            </a:r>
            <a:r>
              <a:rPr lang="en-US" dirty="0" smtClean="0">
                <a:solidFill>
                  <a:srgbClr val="00FF00"/>
                </a:solidFill>
              </a:rPr>
              <a:t> </a:t>
            </a:r>
            <a:r>
              <a:rPr lang="en-US" dirty="0">
                <a:solidFill>
                  <a:srgbClr val="00FF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</a:rPr>
              <a:t>(-7.8)</a:t>
            </a:r>
          </a:p>
          <a:p>
            <a:r>
              <a:rPr lang="de-DE" dirty="0" err="1"/>
              <a:t>J</a:t>
            </a:r>
            <a:r>
              <a:rPr lang="de-DE" baseline="-25000" dirty="0" err="1"/>
              <a:t>x</a:t>
            </a:r>
            <a:r>
              <a:rPr lang="de-DE" baseline="-25000" dirty="0"/>
              <a:t>   </a:t>
            </a:r>
            <a:r>
              <a:rPr lang="de-DE" dirty="0"/>
              <a:t>= </a:t>
            </a:r>
            <a:r>
              <a:rPr lang="de-DE" dirty="0" smtClean="0"/>
              <a:t>1.22	</a:t>
            </a:r>
            <a:r>
              <a:rPr lang="de-DE" dirty="0" smtClean="0">
                <a:solidFill>
                  <a:srgbClr val="00589C"/>
                </a:solidFill>
              </a:rPr>
              <a:t>(1.0)</a:t>
            </a:r>
            <a:endParaRPr lang="en-US" dirty="0" smtClean="0">
              <a:solidFill>
                <a:srgbClr val="00589C"/>
              </a:solidFill>
            </a:endParaRPr>
          </a:p>
          <a:p>
            <a:r>
              <a:rPr lang="de-DE" dirty="0" err="1">
                <a:solidFill>
                  <a:srgbClr val="00FF00"/>
                </a:solidFill>
              </a:rPr>
              <a:t>Circ</a:t>
            </a:r>
            <a:r>
              <a:rPr lang="de-DE" dirty="0">
                <a:solidFill>
                  <a:srgbClr val="00FF00"/>
                </a:solidFill>
              </a:rPr>
              <a:t>: = </a:t>
            </a:r>
            <a:r>
              <a:rPr lang="de-DE" dirty="0" smtClean="0">
                <a:solidFill>
                  <a:srgbClr val="00FF00"/>
                </a:solidFill>
              </a:rPr>
              <a:t>318.8m </a:t>
            </a:r>
            <a:r>
              <a:rPr lang="de-DE" dirty="0" smtClean="0"/>
              <a:t>	</a:t>
            </a:r>
            <a:r>
              <a:rPr lang="de-DE" dirty="0" smtClean="0">
                <a:solidFill>
                  <a:srgbClr val="00589C"/>
                </a:solidFill>
              </a:rPr>
              <a:t>(321.2m)</a:t>
            </a:r>
            <a:endParaRPr lang="de-DE" dirty="0">
              <a:solidFill>
                <a:srgbClr val="00589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15663" y="4895445"/>
            <a:ext cx="852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 smtClean="0">
                <a:sym typeface="Wingdings" panose="05000000000000000000" pitchFamily="2" charset="2"/>
              </a:rPr>
              <a:t></a:t>
            </a:r>
            <a:endParaRPr lang="en-US" sz="4400" dirty="0"/>
          </a:p>
        </p:txBody>
      </p:sp>
      <p:sp>
        <p:nvSpPr>
          <p:cNvPr id="8" name="Ellipse 7"/>
          <p:cNvSpPr/>
          <p:nvPr/>
        </p:nvSpPr>
        <p:spPr>
          <a:xfrm>
            <a:off x="5742000" y="4432000"/>
            <a:ext cx="1620000" cy="3494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/>
          <p:cNvSpPr/>
          <p:nvPr/>
        </p:nvSpPr>
        <p:spPr>
          <a:xfrm>
            <a:off x="2592000" y="4432000"/>
            <a:ext cx="1620000" cy="3494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8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3" grpId="0"/>
      <p:bldP spid="18" grpId="0" animBg="1"/>
      <p:bldP spid="12" grpId="0"/>
      <p:bldP spid="8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1674000"/>
            <a:ext cx="83248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4a - Increase dipole length + include transverse gradient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22</a:t>
            </a:fld>
            <a:endParaRPr lang="de-DE" altLang="en-US"/>
          </a:p>
        </p:txBody>
      </p:sp>
      <p:sp>
        <p:nvSpPr>
          <p:cNvPr id="6" name="Ellipse 5"/>
          <p:cNvSpPr/>
          <p:nvPr/>
        </p:nvSpPr>
        <p:spPr>
          <a:xfrm>
            <a:off x="2862000" y="1809000"/>
            <a:ext cx="225000" cy="225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/>
          <p:cNvSpPr/>
          <p:nvPr/>
        </p:nvSpPr>
        <p:spPr>
          <a:xfrm>
            <a:off x="5562000" y="1809000"/>
            <a:ext cx="225000" cy="225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lipse 8"/>
          <p:cNvSpPr/>
          <p:nvPr/>
        </p:nvSpPr>
        <p:spPr>
          <a:xfrm>
            <a:off x="8307000" y="1809000"/>
            <a:ext cx="225000" cy="225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/>
          <p:cNvSpPr txBox="1"/>
          <p:nvPr/>
        </p:nvSpPr>
        <p:spPr>
          <a:xfrm>
            <a:off x="432000" y="819000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Check the impact of </a:t>
            </a:r>
            <a:r>
              <a:rPr lang="en-US" dirty="0" smtClean="0">
                <a:latin typeface="Symbol" panose="05050102010706020507" pitchFamily="18" charset="2"/>
              </a:rPr>
              <a:t>h</a:t>
            </a:r>
            <a:r>
              <a:rPr lang="en-US" dirty="0" smtClean="0"/>
              <a:t>0 in main bend:</a:t>
            </a:r>
            <a:endParaRPr lang="en-US" dirty="0"/>
          </a:p>
        </p:txBody>
      </p:sp>
      <p:sp>
        <p:nvSpPr>
          <p:cNvPr id="13" name="TextBox 14"/>
          <p:cNvSpPr txBox="1"/>
          <p:nvPr/>
        </p:nvSpPr>
        <p:spPr>
          <a:xfrm>
            <a:off x="522000" y="5056672"/>
            <a:ext cx="8100000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4A – TG in long main dipole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Sufficient increase in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Strong reduction in chromaticity   (small</a:t>
            </a:r>
            <a:r>
              <a:rPr lang="en-US" dirty="0" smtClean="0">
                <a:latin typeface="Symbol" panose="05050102010706020507" pitchFamily="18" charset="2"/>
              </a:rPr>
              <a:t> b, h </a:t>
            </a:r>
            <a:r>
              <a:rPr lang="en-US" dirty="0" smtClean="0"/>
              <a:t>increase sextupole strength)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Moderate increase in emittance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Circumference ok</a:t>
            </a:r>
          </a:p>
        </p:txBody>
      </p:sp>
      <p:sp>
        <p:nvSpPr>
          <p:cNvPr id="10" name="Ellipse 9"/>
          <p:cNvSpPr/>
          <p:nvPr/>
        </p:nvSpPr>
        <p:spPr>
          <a:xfrm>
            <a:off x="567000" y="1404000"/>
            <a:ext cx="225000" cy="225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/>
          <p:cNvSpPr txBox="1"/>
          <p:nvPr/>
        </p:nvSpPr>
        <p:spPr>
          <a:xfrm>
            <a:off x="702000" y="1314000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: best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73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4b </a:t>
            </a:r>
            <a:r>
              <a:rPr lang="en-US" sz="1800" dirty="0"/>
              <a:t>– </a:t>
            </a:r>
            <a:r>
              <a:rPr lang="en-US" sz="1800" dirty="0" smtClean="0"/>
              <a:t>LONG Main </a:t>
            </a:r>
            <a:r>
              <a:rPr lang="en-US" sz="1800" dirty="0"/>
              <a:t>bend with longitudinal gradient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23</a:t>
            </a:fld>
            <a:endParaRPr lang="de-DE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87000" y="954000"/>
            <a:ext cx="1377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smtClean="0"/>
              <a:t>LGB:</a:t>
            </a:r>
          </a:p>
          <a:p>
            <a:r>
              <a:rPr lang="en-US" b="1" dirty="0" smtClean="0"/>
              <a:t>basic</a:t>
            </a:r>
            <a:r>
              <a:rPr lang="de-DE" b="1" dirty="0" smtClean="0"/>
              <a:t> </a:t>
            </a:r>
            <a:r>
              <a:rPr lang="en-US" b="1" dirty="0" smtClean="0"/>
              <a:t>idea</a:t>
            </a:r>
            <a:r>
              <a:rPr lang="de-DE" b="1" dirty="0" smtClean="0"/>
              <a:t>: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000" y="793796"/>
            <a:ext cx="6687000" cy="2455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7000" y="3817669"/>
            <a:ext cx="8945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Optimization module in OPA for longitudinal bends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Even </a:t>
            </a:r>
            <a:r>
              <a:rPr lang="en-US" dirty="0" smtClean="0">
                <a:solidFill>
                  <a:srgbClr val="00589C"/>
                </a:solidFill>
              </a:rPr>
              <a:t>2 field levels 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00589C"/>
                </a:solidFill>
              </a:rPr>
              <a:t>equal length </a:t>
            </a:r>
            <a:r>
              <a:rPr lang="en-US" dirty="0" smtClean="0"/>
              <a:t>lead to emittance reduction of 26%! 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7001" y="526140"/>
            <a:ext cx="1666332" cy="2499282"/>
            <a:chOff x="27001" y="526140"/>
            <a:chExt cx="1585501" cy="2417192"/>
          </a:xfrm>
        </p:grpSpPr>
        <p:grpSp>
          <p:nvGrpSpPr>
            <p:cNvPr id="22" name="Group 21"/>
            <p:cNvGrpSpPr/>
            <p:nvPr/>
          </p:nvGrpSpPr>
          <p:grpSpPr>
            <a:xfrm rot="16200000">
              <a:off x="-767263" y="1320404"/>
              <a:ext cx="1957859" cy="369332"/>
              <a:chOff x="387000" y="2345387"/>
              <a:chExt cx="1957859" cy="369332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>
                <a:off x="387000" y="2709000"/>
                <a:ext cx="89700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522000" y="2345387"/>
                <a:ext cx="18228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 smtClean="0"/>
                  <a:t>B [ T ]</a:t>
                </a:r>
                <a:endParaRPr lang="en-US" dirty="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522000" y="1809000"/>
              <a:ext cx="1090502" cy="1134332"/>
              <a:chOff x="522000" y="1809000"/>
              <a:chExt cx="1090502" cy="1134332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522000" y="2035500"/>
                <a:ext cx="1090502" cy="448501"/>
                <a:chOff x="376498" y="1810500"/>
                <a:chExt cx="1090502" cy="448501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376498" y="2034751"/>
                  <a:ext cx="270000" cy="22424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657000" y="1810500"/>
                  <a:ext cx="540000" cy="448501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1197000" y="2034751"/>
                  <a:ext cx="270000" cy="22425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524998" y="2574000"/>
                <a:ext cx="897002" cy="369332"/>
                <a:chOff x="499141" y="2754000"/>
                <a:chExt cx="897002" cy="369332"/>
              </a:xfrm>
            </p:grpSpPr>
            <p:cxnSp>
              <p:nvCxnSpPr>
                <p:cNvPr id="24" name="Straight Arrow Connector 23"/>
                <p:cNvCxnSpPr/>
                <p:nvPr/>
              </p:nvCxnSpPr>
              <p:spPr>
                <a:xfrm>
                  <a:off x="499141" y="2793281"/>
                  <a:ext cx="89700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Rectangle 25"/>
                <p:cNvSpPr/>
                <p:nvPr/>
              </p:nvSpPr>
              <p:spPr>
                <a:xfrm>
                  <a:off x="567000" y="2754000"/>
                  <a:ext cx="81000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de-DE" dirty="0" smtClean="0"/>
                    <a:t>L [m]</a:t>
                  </a:r>
                  <a:endParaRPr lang="en-US" dirty="0"/>
                </a:p>
              </p:txBody>
            </p:sp>
          </p:grpSp>
          <p:cxnSp>
            <p:nvCxnSpPr>
              <p:cNvPr id="4" name="Straight Connector 3"/>
              <p:cNvCxnSpPr>
                <a:endCxn id="15" idx="2"/>
              </p:cNvCxnSpPr>
              <p:nvPr/>
            </p:nvCxnSpPr>
            <p:spPr>
              <a:xfrm>
                <a:off x="1062000" y="1809000"/>
                <a:ext cx="10502" cy="675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Gruppieren 9"/>
          <p:cNvGrpSpPr/>
          <p:nvPr/>
        </p:nvGrpSpPr>
        <p:grpSpPr>
          <a:xfrm>
            <a:off x="511502" y="4782500"/>
            <a:ext cx="8245498" cy="1426091"/>
            <a:chOff x="511502" y="4789589"/>
            <a:chExt cx="8245498" cy="1426091"/>
          </a:xfrm>
        </p:grpSpPr>
        <p:sp>
          <p:nvSpPr>
            <p:cNvPr id="3" name="TextBox 2"/>
            <p:cNvSpPr txBox="1"/>
            <p:nvPr/>
          </p:nvSpPr>
          <p:spPr>
            <a:xfrm>
              <a:off x="3878741" y="5122669"/>
              <a:ext cx="48782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Further option to reduce length of central part </a:t>
              </a:r>
            </a:p>
            <a:p>
              <a:r>
                <a:rPr lang="en-US" dirty="0" smtClean="0"/>
                <a:t>and increase field not yet invested</a:t>
              </a:r>
              <a:endParaRPr lang="en-US" dirty="0"/>
            </a:p>
          </p:txBody>
        </p:sp>
        <p:grpSp>
          <p:nvGrpSpPr>
            <p:cNvPr id="28" name="Group 27"/>
            <p:cNvGrpSpPr/>
            <p:nvPr/>
          </p:nvGrpSpPr>
          <p:grpSpPr>
            <a:xfrm rot="16200000">
              <a:off x="235087" y="5109747"/>
              <a:ext cx="922161" cy="369332"/>
              <a:chOff x="377670" y="2345390"/>
              <a:chExt cx="935668" cy="369332"/>
            </a:xfrm>
          </p:grpSpPr>
          <p:cxnSp>
            <p:nvCxnSpPr>
              <p:cNvPr id="38" name="Straight Arrow Connector 37"/>
              <p:cNvCxnSpPr/>
              <p:nvPr/>
            </p:nvCxnSpPr>
            <p:spPr>
              <a:xfrm>
                <a:off x="387000" y="2709000"/>
                <a:ext cx="89700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377670" y="2345390"/>
                <a:ext cx="9356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 smtClean="0"/>
                  <a:t>B [ T ]</a:t>
                </a:r>
                <a:endParaRPr lang="en-US" dirty="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020946" y="5122669"/>
              <a:ext cx="1024924" cy="1080507"/>
              <a:chOff x="524998" y="1846999"/>
              <a:chExt cx="1024924" cy="1096333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624336" y="1966141"/>
                <a:ext cx="925586" cy="517859"/>
                <a:chOff x="478834" y="1741141"/>
                <a:chExt cx="925586" cy="517859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478834" y="2120769"/>
                  <a:ext cx="384580" cy="1368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861579" y="1741141"/>
                  <a:ext cx="155421" cy="51785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1020423" y="2123999"/>
                  <a:ext cx="383997" cy="1350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/>
              <p:cNvGrpSpPr/>
              <p:nvPr/>
            </p:nvGrpSpPr>
            <p:grpSpPr>
              <a:xfrm>
                <a:off x="524998" y="2574000"/>
                <a:ext cx="897002" cy="369332"/>
                <a:chOff x="499141" y="2754000"/>
                <a:chExt cx="897002" cy="369332"/>
              </a:xfrm>
            </p:grpSpPr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499141" y="2793281"/>
                  <a:ext cx="89700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Rectangle 33"/>
                <p:cNvSpPr/>
                <p:nvPr/>
              </p:nvSpPr>
              <p:spPr>
                <a:xfrm>
                  <a:off x="567000" y="2754000"/>
                  <a:ext cx="81000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de-DE" dirty="0" smtClean="0"/>
                    <a:t>L [m]</a:t>
                  </a:r>
                  <a:endParaRPr lang="en-US" dirty="0"/>
                </a:p>
              </p:txBody>
            </p:sp>
          </p:grpSp>
          <p:cxnSp>
            <p:nvCxnSpPr>
              <p:cNvPr id="32" name="Straight Connector 31"/>
              <p:cNvCxnSpPr>
                <a:endCxn id="36" idx="2"/>
              </p:cNvCxnSpPr>
              <p:nvPr/>
            </p:nvCxnSpPr>
            <p:spPr>
              <a:xfrm>
                <a:off x="1084792" y="1846999"/>
                <a:ext cx="0" cy="63700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/>
            <p:cNvGrpSpPr/>
            <p:nvPr/>
          </p:nvGrpSpPr>
          <p:grpSpPr>
            <a:xfrm rot="16200000">
              <a:off x="1743559" y="5132531"/>
              <a:ext cx="1055216" cy="369332"/>
              <a:chOff x="387000" y="2345389"/>
              <a:chExt cx="1070669" cy="369332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>
                <a:off x="387000" y="2709000"/>
                <a:ext cx="89700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522001" y="2345389"/>
                <a:ext cx="9356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 smtClean="0"/>
                  <a:t>B [ T ]</a:t>
                </a:r>
                <a:endParaRPr lang="en-US" dirty="0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593999" y="5151270"/>
              <a:ext cx="1033001" cy="1064410"/>
              <a:chOff x="524998" y="1863332"/>
              <a:chExt cx="1033001" cy="1080000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603275" y="2043333"/>
                <a:ext cx="954724" cy="440889"/>
                <a:chOff x="457773" y="1818333"/>
                <a:chExt cx="954724" cy="440889"/>
              </a:xfrm>
            </p:grpSpPr>
            <p:sp>
              <p:nvSpPr>
                <p:cNvPr id="50" name="Rectangle 49"/>
                <p:cNvSpPr/>
                <p:nvPr/>
              </p:nvSpPr>
              <p:spPr>
                <a:xfrm>
                  <a:off x="457773" y="2132646"/>
                  <a:ext cx="255897" cy="12657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713670" y="1818333"/>
                  <a:ext cx="444106" cy="440668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1157777" y="2124000"/>
                  <a:ext cx="254720" cy="1350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/>
              <p:cNvGrpSpPr/>
              <p:nvPr/>
            </p:nvGrpSpPr>
            <p:grpSpPr>
              <a:xfrm>
                <a:off x="524998" y="2574000"/>
                <a:ext cx="897002" cy="369332"/>
                <a:chOff x="499141" y="2754000"/>
                <a:chExt cx="897002" cy="369332"/>
              </a:xfrm>
            </p:grpSpPr>
            <p:cxnSp>
              <p:nvCxnSpPr>
                <p:cNvPr id="48" name="Straight Arrow Connector 47"/>
                <p:cNvCxnSpPr/>
                <p:nvPr/>
              </p:nvCxnSpPr>
              <p:spPr>
                <a:xfrm>
                  <a:off x="499141" y="2793281"/>
                  <a:ext cx="89700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Rectangle 48"/>
                <p:cNvSpPr/>
                <p:nvPr/>
              </p:nvSpPr>
              <p:spPr>
                <a:xfrm>
                  <a:off x="567000" y="2754000"/>
                  <a:ext cx="81000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de-DE" dirty="0" smtClean="0"/>
                    <a:t>L [m]</a:t>
                  </a:r>
                  <a:endParaRPr lang="en-US" dirty="0"/>
                </a:p>
              </p:txBody>
            </p:sp>
          </p:grpSp>
          <p:cxnSp>
            <p:nvCxnSpPr>
              <p:cNvPr id="47" name="Straight Connector 46"/>
              <p:cNvCxnSpPr>
                <a:endCxn id="51" idx="2"/>
              </p:cNvCxnSpPr>
              <p:nvPr/>
            </p:nvCxnSpPr>
            <p:spPr>
              <a:xfrm>
                <a:off x="1072502" y="1863332"/>
                <a:ext cx="8723" cy="62066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Rectangle 15"/>
          <p:cNvSpPr/>
          <p:nvPr/>
        </p:nvSpPr>
        <p:spPr>
          <a:xfrm>
            <a:off x="1693333" y="2428015"/>
            <a:ext cx="283765" cy="1224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15"/>
          <p:cNvSpPr/>
          <p:nvPr/>
        </p:nvSpPr>
        <p:spPr>
          <a:xfrm>
            <a:off x="250778" y="2430395"/>
            <a:ext cx="283765" cy="120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6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914525"/>
            <a:ext cx="81915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4b – LONG Main </a:t>
            </a:r>
            <a:r>
              <a:rPr lang="en-US" sz="1800" dirty="0"/>
              <a:t>bend with longitudinal gradient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24</a:t>
            </a:fld>
            <a:endParaRPr lang="de-DE" altLang="en-US"/>
          </a:p>
        </p:txBody>
      </p:sp>
      <p:sp>
        <p:nvSpPr>
          <p:cNvPr id="9" name="TextBox 12"/>
          <p:cNvSpPr txBox="1"/>
          <p:nvPr/>
        </p:nvSpPr>
        <p:spPr>
          <a:xfrm>
            <a:off x="387000" y="999000"/>
            <a:ext cx="36471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Dipole with LG, two field levels:</a:t>
            </a:r>
            <a:endParaRPr lang="en-US" b="1" dirty="0"/>
          </a:p>
        </p:txBody>
      </p:sp>
      <p:sp>
        <p:nvSpPr>
          <p:cNvPr id="14" name="Geschweifte Klammer rechts 13"/>
          <p:cNvSpPr/>
          <p:nvPr/>
        </p:nvSpPr>
        <p:spPr>
          <a:xfrm>
            <a:off x="4662000" y="3376664"/>
            <a:ext cx="225000" cy="1575000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54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/>
          <p:cNvSpPr/>
          <p:nvPr/>
        </p:nvSpPr>
        <p:spPr>
          <a:xfrm>
            <a:off x="4977000" y="3683025"/>
            <a:ext cx="182055" cy="195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Ellipse 17"/>
          <p:cNvSpPr/>
          <p:nvPr/>
        </p:nvSpPr>
        <p:spPr>
          <a:xfrm>
            <a:off x="7677000" y="2738025"/>
            <a:ext cx="182055" cy="195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2277000" y="2709000"/>
            <a:ext cx="182055" cy="195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197000" y="5364000"/>
            <a:ext cx="5947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Small minimal emittance =&gt; higher increase for large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endParaRPr lang="en-US" dirty="0">
              <a:latin typeface="Symbol" panose="05050102010706020507" pitchFamily="18" charset="2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02000" y="1484668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: best choice</a:t>
            </a:r>
            <a:endParaRPr lang="en-US" dirty="0"/>
          </a:p>
        </p:txBody>
      </p:sp>
      <p:sp>
        <p:nvSpPr>
          <p:cNvPr id="12" name="Ellipse 11"/>
          <p:cNvSpPr/>
          <p:nvPr/>
        </p:nvSpPr>
        <p:spPr>
          <a:xfrm>
            <a:off x="564945" y="1584000"/>
            <a:ext cx="182055" cy="195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2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4b </a:t>
            </a:r>
            <a:r>
              <a:rPr lang="en-US" sz="1800" dirty="0"/>
              <a:t>– </a:t>
            </a:r>
            <a:r>
              <a:rPr lang="en-US" sz="1800" dirty="0" smtClean="0"/>
              <a:t>LONG Main </a:t>
            </a:r>
            <a:r>
              <a:rPr lang="en-US" sz="1800" dirty="0"/>
              <a:t>bend with longitudinal </a:t>
            </a:r>
            <a:r>
              <a:rPr lang="en-US" sz="1800" dirty="0" smtClean="0"/>
              <a:t>gradient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6687000" y="6219000"/>
            <a:ext cx="2133600" cy="365125"/>
          </a:xfrm>
        </p:spPr>
        <p:txBody>
          <a:bodyPr/>
          <a:lstStyle/>
          <a:p>
            <a:fld id="{C3FD5781-ABFD-4250-8CCF-E55B27600506}" type="slidenum">
              <a:rPr lang="de-DE" altLang="en-US" smtClean="0"/>
              <a:pPr/>
              <a:t>25</a:t>
            </a:fld>
            <a:endParaRPr lang="de-DE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32000" y="2927675"/>
            <a:ext cx="2224088" cy="203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Full lattice (single long dipole):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e</a:t>
            </a:r>
            <a:r>
              <a:rPr lang="en-US" dirty="0" smtClean="0"/>
              <a:t> = 125pm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latin typeface="Symbol" panose="05050102010706020507" pitchFamily="18" charset="2"/>
              </a:rPr>
              <a:t>= </a:t>
            </a:r>
            <a:r>
              <a:rPr lang="en-US" dirty="0" smtClean="0"/>
              <a:t>0.58e-4</a:t>
            </a:r>
          </a:p>
          <a:p>
            <a:r>
              <a:rPr lang="de-DE" dirty="0">
                <a:latin typeface="Symbol" panose="05050102010706020507" pitchFamily="18" charset="2"/>
              </a:rPr>
              <a:t>x</a:t>
            </a:r>
            <a:r>
              <a:rPr lang="de-DE" baseline="-25000" dirty="0"/>
              <a:t>x</a:t>
            </a:r>
            <a:r>
              <a:rPr lang="de-DE" dirty="0"/>
              <a:t>/</a:t>
            </a:r>
            <a:r>
              <a:rPr lang="de-DE" dirty="0" err="1"/>
              <a:t>Q</a:t>
            </a:r>
            <a:r>
              <a:rPr lang="de-DE" baseline="-25000" dirty="0" err="1"/>
              <a:t>x</a:t>
            </a:r>
            <a:r>
              <a:rPr lang="de-DE" baseline="-25000" dirty="0"/>
              <a:t> </a:t>
            </a:r>
            <a:r>
              <a:rPr lang="de-DE" dirty="0"/>
              <a:t>= </a:t>
            </a:r>
            <a:r>
              <a:rPr lang="de-DE" dirty="0" smtClean="0"/>
              <a:t>-4.6</a:t>
            </a:r>
            <a:endParaRPr lang="de-DE" dirty="0"/>
          </a:p>
          <a:p>
            <a:r>
              <a:rPr lang="de-DE" dirty="0" err="1">
                <a:latin typeface="Symbol" panose="05050102010706020507" pitchFamily="18" charset="2"/>
              </a:rPr>
              <a:t>x</a:t>
            </a:r>
            <a:r>
              <a:rPr lang="de-DE" baseline="-25000" dirty="0" err="1"/>
              <a:t>y</a:t>
            </a:r>
            <a:r>
              <a:rPr lang="de-DE" dirty="0"/>
              <a:t>/</a:t>
            </a:r>
            <a:r>
              <a:rPr lang="de-DE" dirty="0" err="1"/>
              <a:t>Q</a:t>
            </a:r>
            <a:r>
              <a:rPr lang="de-DE" baseline="-25000" dirty="0" err="1"/>
              <a:t>y</a:t>
            </a:r>
            <a:r>
              <a:rPr lang="de-DE" baseline="-25000" dirty="0"/>
              <a:t> </a:t>
            </a:r>
            <a:r>
              <a:rPr lang="de-DE" dirty="0"/>
              <a:t>= </a:t>
            </a:r>
            <a:r>
              <a:rPr lang="de-DE" dirty="0" smtClean="0"/>
              <a:t>-6.2</a:t>
            </a:r>
          </a:p>
          <a:p>
            <a:r>
              <a:rPr lang="de-DE" dirty="0" err="1"/>
              <a:t>Circ</a:t>
            </a:r>
            <a:r>
              <a:rPr lang="de-DE" dirty="0"/>
              <a:t>. =</a:t>
            </a:r>
            <a:r>
              <a:rPr lang="de-DE" dirty="0">
                <a:latin typeface="Symbol" panose="05050102010706020507" pitchFamily="18" charset="2"/>
              </a:rPr>
              <a:t> </a:t>
            </a:r>
            <a:r>
              <a:rPr lang="de-DE" dirty="0" smtClean="0"/>
              <a:t>339.6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32000" y="729000"/>
            <a:ext cx="2377574" cy="203132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Half MBA-cell </a:t>
            </a:r>
          </a:p>
          <a:p>
            <a:r>
              <a:rPr lang="en-US" b="1" dirty="0" smtClean="0"/>
              <a:t>(single long dipole):</a:t>
            </a:r>
            <a:endParaRPr lang="en-US" b="1" dirty="0"/>
          </a:p>
          <a:p>
            <a:pPr marL="285750" indent="-285750">
              <a:buFont typeface="Symbol" panose="05050102010706020507" pitchFamily="18" charset="2"/>
              <a:buChar char="q"/>
            </a:pPr>
            <a:r>
              <a:rPr lang="en-US" dirty="0"/>
              <a:t>= 2.3°</a:t>
            </a:r>
          </a:p>
          <a:p>
            <a:r>
              <a:rPr lang="en-US" dirty="0" err="1">
                <a:latin typeface="Symbol" panose="05050102010706020507" pitchFamily="18" charset="2"/>
              </a:rPr>
              <a:t>q</a:t>
            </a:r>
            <a:r>
              <a:rPr lang="en-US" baseline="-25000" dirty="0" err="1"/>
              <a:t>R</a:t>
            </a:r>
            <a:r>
              <a:rPr lang="en-US" baseline="-25000" dirty="0"/>
              <a:t> </a:t>
            </a:r>
            <a:r>
              <a:rPr lang="en-US" dirty="0"/>
              <a:t>= -0.205°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h0  </a:t>
            </a:r>
            <a:r>
              <a:rPr lang="en-US" dirty="0"/>
              <a:t>= </a:t>
            </a:r>
            <a:r>
              <a:rPr lang="en-US" dirty="0" smtClean="0"/>
              <a:t>0.0043m</a:t>
            </a:r>
          </a:p>
          <a:p>
            <a:r>
              <a:rPr lang="en-US" dirty="0">
                <a:latin typeface="Symbol" panose="05050102010706020507" pitchFamily="18" charset="2"/>
              </a:rPr>
              <a:t>b</a:t>
            </a:r>
            <a:r>
              <a:rPr lang="en-US" baseline="-25000" dirty="0"/>
              <a:t>x</a:t>
            </a:r>
            <a:r>
              <a:rPr lang="en-US" dirty="0"/>
              <a:t>0 = </a:t>
            </a:r>
            <a:r>
              <a:rPr lang="en-US" dirty="0" smtClean="0"/>
              <a:t>0.103m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baseline="-25000" dirty="0" smtClean="0"/>
              <a:t>y</a:t>
            </a:r>
            <a:r>
              <a:rPr lang="en-US" dirty="0" smtClean="0"/>
              <a:t>0 = 12m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2000" y="999000"/>
            <a:ext cx="2199641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T</a:t>
            </a:r>
            <a:r>
              <a:rPr lang="en-US" b="1" dirty="0" smtClean="0"/>
              <a:t>wo parts 0.2m:</a:t>
            </a:r>
            <a:endParaRPr lang="en-US" b="1" dirty="0"/>
          </a:p>
          <a:p>
            <a:r>
              <a:rPr lang="en-US" b="1" dirty="0" smtClean="0">
                <a:latin typeface="Symbol" panose="05050102010706020507" pitchFamily="18" charset="2"/>
              </a:rPr>
              <a:t>q </a:t>
            </a:r>
            <a:r>
              <a:rPr lang="en-US" b="1" dirty="0" smtClean="0"/>
              <a:t>= 2.3° </a:t>
            </a:r>
            <a:r>
              <a:rPr lang="en-US" b="1" dirty="0"/>
              <a:t>(</a:t>
            </a:r>
            <a:r>
              <a:rPr lang="en-US" b="1" dirty="0" smtClean="0"/>
              <a:t>1.5°/0.8°) </a:t>
            </a:r>
            <a:endParaRPr lang="en-US" b="1" dirty="0"/>
          </a:p>
          <a:p>
            <a:r>
              <a:rPr lang="en-US" dirty="0" err="1">
                <a:latin typeface="Symbol" panose="05050102010706020507" pitchFamily="18" charset="2"/>
              </a:rPr>
              <a:t>q</a:t>
            </a:r>
            <a:r>
              <a:rPr lang="en-US" baseline="-25000" dirty="0" err="1"/>
              <a:t>R</a:t>
            </a:r>
            <a:r>
              <a:rPr lang="en-US" baseline="-25000" dirty="0"/>
              <a:t> </a:t>
            </a:r>
            <a:r>
              <a:rPr lang="en-US" dirty="0"/>
              <a:t>= -</a:t>
            </a:r>
            <a:r>
              <a:rPr lang="en-US" dirty="0" smtClean="0"/>
              <a:t>0.205°</a:t>
            </a:r>
            <a:endParaRPr lang="en-US" dirty="0"/>
          </a:p>
          <a:p>
            <a:r>
              <a:rPr lang="en-US" dirty="0" smtClean="0">
                <a:latin typeface="Symbol" panose="05050102010706020507" pitchFamily="18" charset="2"/>
              </a:rPr>
              <a:t>h</a:t>
            </a:r>
            <a:r>
              <a:rPr lang="en-US" dirty="0" smtClean="0"/>
              <a:t>0  </a:t>
            </a:r>
            <a:r>
              <a:rPr lang="en-US" dirty="0"/>
              <a:t>= 0.0031m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baseline="-25000" dirty="0" smtClean="0"/>
              <a:t>x</a:t>
            </a:r>
            <a:r>
              <a:rPr lang="en-US" dirty="0" smtClean="0"/>
              <a:t>0 = 0.103m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baseline="-25000" dirty="0" smtClean="0"/>
              <a:t>y</a:t>
            </a:r>
            <a:r>
              <a:rPr lang="en-US" dirty="0" smtClean="0"/>
              <a:t>0 = 12m</a:t>
            </a:r>
          </a:p>
        </p:txBody>
      </p:sp>
      <p:sp>
        <p:nvSpPr>
          <p:cNvPr id="9" name="TextBox 17"/>
          <p:cNvSpPr txBox="1"/>
          <p:nvPr/>
        </p:nvSpPr>
        <p:spPr>
          <a:xfrm>
            <a:off x="3447000" y="2927675"/>
            <a:ext cx="2967479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Full lattice</a:t>
            </a:r>
            <a:r>
              <a:rPr lang="en-US" b="1" dirty="0" smtClean="0">
                <a:solidFill>
                  <a:srgbClr val="00589C"/>
                </a:solidFill>
              </a:rPr>
              <a:t>:          (Ref.)</a:t>
            </a:r>
          </a:p>
          <a:p>
            <a:r>
              <a:rPr lang="en-US" b="1" dirty="0" smtClean="0"/>
              <a:t>LG</a:t>
            </a: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00FF00"/>
                </a:solidFill>
              </a:rPr>
              <a:t> = 108pm  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00589C"/>
                </a:solidFill>
              </a:rPr>
              <a:t>(105pm)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solidFill>
                  <a:srgbClr val="00FF00"/>
                </a:solidFill>
              </a:rPr>
              <a:t>= 0.40e-4  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00589C"/>
                </a:solidFill>
              </a:rPr>
              <a:t>(0.14e-4)</a:t>
            </a:r>
          </a:p>
          <a:p>
            <a:r>
              <a:rPr lang="de-DE" dirty="0">
                <a:solidFill>
                  <a:srgbClr val="FFC000"/>
                </a:solidFill>
                <a:latin typeface="Symbol" panose="05050102010706020507" pitchFamily="18" charset="2"/>
              </a:rPr>
              <a:t>x</a:t>
            </a:r>
            <a:r>
              <a:rPr lang="de-DE" baseline="-25000" dirty="0">
                <a:solidFill>
                  <a:srgbClr val="FFC000"/>
                </a:solidFill>
              </a:rPr>
              <a:t>x</a:t>
            </a:r>
            <a:r>
              <a:rPr lang="de-DE" dirty="0">
                <a:solidFill>
                  <a:srgbClr val="FFC000"/>
                </a:solidFill>
              </a:rPr>
              <a:t>/</a:t>
            </a:r>
            <a:r>
              <a:rPr lang="de-DE" dirty="0" err="1">
                <a:solidFill>
                  <a:srgbClr val="FFC000"/>
                </a:solidFill>
              </a:rPr>
              <a:t>Q</a:t>
            </a:r>
            <a:r>
              <a:rPr lang="de-DE" baseline="-25000" dirty="0" err="1">
                <a:solidFill>
                  <a:srgbClr val="FFC000"/>
                </a:solidFill>
              </a:rPr>
              <a:t>x</a:t>
            </a:r>
            <a:r>
              <a:rPr lang="de-DE" baseline="-25000" dirty="0">
                <a:solidFill>
                  <a:srgbClr val="FFC000"/>
                </a:solidFill>
              </a:rPr>
              <a:t> </a:t>
            </a:r>
            <a:r>
              <a:rPr lang="de-DE" dirty="0">
                <a:solidFill>
                  <a:srgbClr val="FFC000"/>
                </a:solidFill>
              </a:rPr>
              <a:t>= </a:t>
            </a:r>
            <a:r>
              <a:rPr lang="de-DE" dirty="0" smtClean="0">
                <a:solidFill>
                  <a:srgbClr val="FFC000"/>
                </a:solidFill>
              </a:rPr>
              <a:t>-4.6</a:t>
            </a:r>
            <a:r>
              <a:rPr lang="de-DE" dirty="0"/>
              <a:t>	</a:t>
            </a:r>
            <a:r>
              <a:rPr lang="de-DE" dirty="0" smtClean="0">
                <a:solidFill>
                  <a:srgbClr val="00589C"/>
                </a:solidFill>
              </a:rPr>
              <a:t>(-5.7)</a:t>
            </a:r>
            <a:endParaRPr lang="de-DE" dirty="0">
              <a:solidFill>
                <a:srgbClr val="00589C"/>
              </a:solidFill>
            </a:endParaRPr>
          </a:p>
          <a:p>
            <a:r>
              <a:rPr lang="de-DE" dirty="0" err="1">
                <a:solidFill>
                  <a:srgbClr val="FFC000"/>
                </a:solidFill>
                <a:latin typeface="Symbol" panose="05050102010706020507" pitchFamily="18" charset="2"/>
              </a:rPr>
              <a:t>x</a:t>
            </a:r>
            <a:r>
              <a:rPr lang="de-DE" baseline="-25000" dirty="0" err="1">
                <a:solidFill>
                  <a:srgbClr val="FFC000"/>
                </a:solidFill>
              </a:rPr>
              <a:t>y</a:t>
            </a:r>
            <a:r>
              <a:rPr lang="de-DE" dirty="0">
                <a:solidFill>
                  <a:srgbClr val="FFC000"/>
                </a:solidFill>
              </a:rPr>
              <a:t>/</a:t>
            </a:r>
            <a:r>
              <a:rPr lang="de-DE" dirty="0" err="1">
                <a:solidFill>
                  <a:srgbClr val="FFC000"/>
                </a:solidFill>
              </a:rPr>
              <a:t>Q</a:t>
            </a:r>
            <a:r>
              <a:rPr lang="de-DE" baseline="-25000" dirty="0" err="1">
                <a:solidFill>
                  <a:srgbClr val="FFC000"/>
                </a:solidFill>
              </a:rPr>
              <a:t>y</a:t>
            </a:r>
            <a:r>
              <a:rPr lang="de-DE" baseline="-25000" dirty="0">
                <a:solidFill>
                  <a:srgbClr val="FFC000"/>
                </a:solidFill>
              </a:rPr>
              <a:t> </a:t>
            </a:r>
            <a:r>
              <a:rPr lang="de-DE" dirty="0">
                <a:solidFill>
                  <a:srgbClr val="FFC000"/>
                </a:solidFill>
              </a:rPr>
              <a:t>= </a:t>
            </a:r>
            <a:r>
              <a:rPr lang="de-DE" dirty="0" smtClean="0">
                <a:solidFill>
                  <a:srgbClr val="FFC000"/>
                </a:solidFill>
              </a:rPr>
              <a:t>-5.5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r>
              <a:rPr lang="en-US" dirty="0">
                <a:solidFill>
                  <a:srgbClr val="00FF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</a:rPr>
              <a:t>(-7.8)</a:t>
            </a:r>
          </a:p>
          <a:p>
            <a:r>
              <a:rPr lang="de-DE" dirty="0" err="1">
                <a:solidFill>
                  <a:srgbClr val="FF0000"/>
                </a:solidFill>
              </a:rPr>
              <a:t>Circ</a:t>
            </a:r>
            <a:r>
              <a:rPr lang="de-DE" dirty="0">
                <a:solidFill>
                  <a:srgbClr val="FF0000"/>
                </a:solidFill>
              </a:rPr>
              <a:t>: = </a:t>
            </a:r>
            <a:r>
              <a:rPr lang="de-DE" dirty="0" smtClean="0">
                <a:solidFill>
                  <a:srgbClr val="FF0000"/>
                </a:solidFill>
              </a:rPr>
              <a:t>340.4m </a:t>
            </a:r>
            <a:r>
              <a:rPr lang="de-DE" dirty="0" smtClean="0"/>
              <a:t>	</a:t>
            </a:r>
            <a:r>
              <a:rPr lang="de-DE" dirty="0" smtClean="0">
                <a:solidFill>
                  <a:srgbClr val="00589C"/>
                </a:solidFill>
              </a:rPr>
              <a:t>(321.2m)</a:t>
            </a:r>
            <a:endParaRPr lang="de-DE" dirty="0">
              <a:solidFill>
                <a:srgbClr val="00589C"/>
              </a:solidFill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5517000" y="722675"/>
            <a:ext cx="3429144" cy="203132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Half MBA-cell</a:t>
            </a:r>
            <a:r>
              <a:rPr lang="en-US" b="1" dirty="0"/>
              <a:t>: </a:t>
            </a:r>
            <a:r>
              <a:rPr lang="en-US" b="1" dirty="0" smtClean="0"/>
              <a:t>    (</a:t>
            </a:r>
            <a:r>
              <a:rPr lang="en-US" b="1" dirty="0"/>
              <a:t>single long </a:t>
            </a:r>
            <a:endParaRPr lang="en-US" b="1" dirty="0" smtClean="0"/>
          </a:p>
          <a:p>
            <a:r>
              <a:rPr lang="en-US" b="1" dirty="0" smtClean="0"/>
              <a:t>LG</a:t>
            </a:r>
            <a:r>
              <a:rPr lang="en-US" b="1" dirty="0"/>
              <a:t>	 </a:t>
            </a:r>
            <a:r>
              <a:rPr lang="en-US" b="1" dirty="0" smtClean="0"/>
              <a:t>               dipole):</a:t>
            </a:r>
          </a:p>
          <a:p>
            <a:r>
              <a:rPr lang="en-US" b="1" dirty="0" smtClean="0"/>
              <a:t>                             </a:t>
            </a: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00FF00"/>
                </a:solidFill>
              </a:rPr>
              <a:t> = 95pm                </a:t>
            </a:r>
            <a:r>
              <a:rPr lang="en-US" dirty="0" smtClean="0"/>
              <a:t>(126pm)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solidFill>
                  <a:srgbClr val="FF0000"/>
                </a:solidFill>
              </a:rPr>
              <a:t>= 0.64e-4           </a:t>
            </a:r>
            <a:r>
              <a:rPr lang="en-US" dirty="0" smtClean="0"/>
              <a:t>(1.03e-4)</a:t>
            </a:r>
          </a:p>
          <a:p>
            <a:r>
              <a:rPr lang="de-DE" dirty="0" smtClean="0">
                <a:latin typeface="Symbol" panose="05050102010706020507" pitchFamily="18" charset="2"/>
              </a:rPr>
              <a:t>x</a:t>
            </a:r>
            <a:r>
              <a:rPr lang="de-DE" baseline="-25000" dirty="0" smtClean="0"/>
              <a:t>x</a:t>
            </a:r>
            <a:r>
              <a:rPr lang="de-DE" dirty="0" smtClean="0"/>
              <a:t>/</a:t>
            </a:r>
            <a:r>
              <a:rPr lang="de-DE" dirty="0" err="1" smtClean="0"/>
              <a:t>Q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-4.5             (-4.5)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x</a:t>
            </a:r>
            <a:r>
              <a:rPr lang="de-DE" baseline="-25000" dirty="0" err="1" smtClean="0"/>
              <a:t>y</a:t>
            </a:r>
            <a:r>
              <a:rPr lang="de-DE" dirty="0" smtClean="0"/>
              <a:t>/</a:t>
            </a:r>
            <a:r>
              <a:rPr lang="de-DE" dirty="0" err="1" smtClean="0"/>
              <a:t>Q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 smtClean="0"/>
              <a:t>= -11.3           (-11.2)</a:t>
            </a:r>
            <a:endParaRPr lang="en-US" dirty="0"/>
          </a:p>
        </p:txBody>
      </p:sp>
      <p:sp>
        <p:nvSpPr>
          <p:cNvPr id="11" name="TextBox 24"/>
          <p:cNvSpPr txBox="1"/>
          <p:nvPr/>
        </p:nvSpPr>
        <p:spPr>
          <a:xfrm>
            <a:off x="792000" y="5360725"/>
            <a:ext cx="7605000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589C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4B – LG in long main dipole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Can seek very small emittance at negative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Full lattice: 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</a:t>
            </a:r>
            <a:r>
              <a:rPr lang="en-US" dirty="0"/>
              <a:t>= 1.0e-4 </a:t>
            </a:r>
            <a:r>
              <a:rPr lang="en-US" dirty="0">
                <a:sym typeface="Wingdings" panose="05000000000000000000" pitchFamily="2" charset="2"/>
              </a:rPr>
              <a:t>  </a:t>
            </a:r>
            <a:r>
              <a:rPr lang="en-US" dirty="0"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dirty="0" smtClean="0">
                <a:sym typeface="Wingdings" panose="05000000000000000000" pitchFamily="2" charset="2"/>
              </a:rPr>
              <a:t>179pm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6726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4" grpId="0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5</a:t>
            </a:r>
            <a:r>
              <a:rPr lang="en-US" sz="1800" dirty="0" smtClean="0"/>
              <a:t> - include transverse gradient in reverse bend</a:t>
            </a:r>
            <a:endParaRPr lang="en-US" sz="1800" dirty="0">
              <a:latin typeface="Symbol" panose="05050102010706020507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26</a:t>
            </a:fld>
            <a:endParaRPr lang="de-DE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2000" y="1089000"/>
            <a:ext cx="5448928" cy="18312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Transverse gradient (TG) in reverse bend:</a:t>
            </a:r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Realization as displaced quadrupole </a:t>
            </a:r>
            <a:r>
              <a:rPr lang="en-US" dirty="0" smtClean="0"/>
              <a:t>(QF) </a:t>
            </a:r>
            <a:endParaRPr lang="en-US" dirty="0"/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No change in main bend </a:t>
            </a:r>
            <a:r>
              <a:rPr lang="en-US" dirty="0"/>
              <a:t>2.39</a:t>
            </a:r>
            <a:r>
              <a:rPr lang="en-US" dirty="0" smtClean="0"/>
              <a:t>°, L=0.23m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00589C"/>
                </a:solidFill>
              </a:rPr>
              <a:t> </a:t>
            </a:r>
            <a:r>
              <a:rPr lang="en-US" dirty="0" smtClean="0">
                <a:solidFill>
                  <a:srgbClr val="00589C"/>
                </a:solidFill>
              </a:rPr>
              <a:t>    (</a:t>
            </a:r>
            <a:r>
              <a:rPr lang="en-US" dirty="0">
                <a:solidFill>
                  <a:srgbClr val="00589C"/>
                </a:solidFill>
              </a:rPr>
              <a:t>TME: </a:t>
            </a:r>
            <a:r>
              <a:rPr lang="en-US" dirty="0">
                <a:solidFill>
                  <a:srgbClr val="00589C"/>
                </a:solidFill>
                <a:latin typeface="Symbol" panose="05050102010706020507" pitchFamily="18" charset="2"/>
              </a:rPr>
              <a:t>b</a:t>
            </a:r>
            <a:r>
              <a:rPr lang="en-US" baseline="-25000" dirty="0">
                <a:solidFill>
                  <a:srgbClr val="00589C"/>
                </a:solidFill>
              </a:rPr>
              <a:t>x</a:t>
            </a:r>
            <a:r>
              <a:rPr lang="en-US" dirty="0">
                <a:solidFill>
                  <a:srgbClr val="00589C"/>
                </a:solidFill>
              </a:rPr>
              <a:t>0 = 0.0594m, </a:t>
            </a:r>
            <a:r>
              <a:rPr lang="en-US" dirty="0">
                <a:solidFill>
                  <a:srgbClr val="00589C"/>
                </a:solidFill>
                <a:latin typeface="Symbol" panose="05050102010706020507" pitchFamily="18" charset="2"/>
              </a:rPr>
              <a:t>b</a:t>
            </a:r>
            <a:r>
              <a:rPr lang="en-US" baseline="-25000" dirty="0">
                <a:solidFill>
                  <a:srgbClr val="00589C"/>
                </a:solidFill>
              </a:rPr>
              <a:t>y</a:t>
            </a:r>
            <a:r>
              <a:rPr lang="en-US" dirty="0">
                <a:solidFill>
                  <a:srgbClr val="00589C"/>
                </a:solidFill>
              </a:rPr>
              <a:t>0 = 15m, </a:t>
            </a:r>
            <a:r>
              <a:rPr lang="en-US" dirty="0">
                <a:solidFill>
                  <a:srgbClr val="00589C"/>
                </a:solidFill>
                <a:latin typeface="Symbol" panose="05050102010706020507" pitchFamily="18" charset="2"/>
              </a:rPr>
              <a:t>h0  = 0.0016</a:t>
            </a:r>
            <a:r>
              <a:rPr lang="en-US" dirty="0">
                <a:solidFill>
                  <a:srgbClr val="00589C"/>
                </a:solidFill>
              </a:rPr>
              <a:t>m)</a:t>
            </a:r>
            <a:endParaRPr lang="en-US" dirty="0"/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/>
              <a:t>J</a:t>
            </a:r>
            <a:r>
              <a:rPr lang="en-US" baseline="-25000" dirty="0" err="1" smtClean="0"/>
              <a:t>x</a:t>
            </a:r>
            <a:r>
              <a:rPr lang="en-US" dirty="0" smtClean="0"/>
              <a:t> &gt; 1 =&gt; emittance reduction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Reduction of circumference 18m (0.15*6*20)</a:t>
            </a:r>
          </a:p>
        </p:txBody>
      </p:sp>
      <p:grpSp>
        <p:nvGrpSpPr>
          <p:cNvPr id="11" name="Gruppieren 10"/>
          <p:cNvGrpSpPr/>
          <p:nvPr/>
        </p:nvGrpSpPr>
        <p:grpSpPr>
          <a:xfrm>
            <a:off x="427875" y="3312900"/>
            <a:ext cx="8239125" cy="3086100"/>
            <a:chOff x="427875" y="1647900"/>
            <a:chExt cx="8239125" cy="3086100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875" y="1647900"/>
              <a:ext cx="8239125" cy="3086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Ellipse 12"/>
            <p:cNvSpPr/>
            <p:nvPr/>
          </p:nvSpPr>
          <p:spPr>
            <a:xfrm>
              <a:off x="902264" y="4059000"/>
              <a:ext cx="159736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Ellipse 14"/>
            <p:cNvSpPr/>
            <p:nvPr/>
          </p:nvSpPr>
          <p:spPr>
            <a:xfrm>
              <a:off x="3602264" y="4059000"/>
              <a:ext cx="159736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Ellipse 15"/>
            <p:cNvSpPr/>
            <p:nvPr/>
          </p:nvSpPr>
          <p:spPr>
            <a:xfrm>
              <a:off x="6302264" y="4059000"/>
              <a:ext cx="159736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feld 16"/>
          <p:cNvSpPr txBox="1"/>
          <p:nvPr/>
        </p:nvSpPr>
        <p:spPr>
          <a:xfrm>
            <a:off x="702000" y="2934000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: </a:t>
            </a:r>
            <a:r>
              <a:rPr lang="en-US" sz="1600" dirty="0" smtClean="0"/>
              <a:t>best choice</a:t>
            </a:r>
            <a:endParaRPr lang="en-US" sz="1600" dirty="0"/>
          </a:p>
        </p:txBody>
      </p:sp>
      <p:sp>
        <p:nvSpPr>
          <p:cNvPr id="19" name="Ellipse 18"/>
          <p:cNvSpPr/>
          <p:nvPr/>
        </p:nvSpPr>
        <p:spPr>
          <a:xfrm>
            <a:off x="564945" y="3033332"/>
            <a:ext cx="182055" cy="195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02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5</a:t>
            </a:r>
            <a:r>
              <a:rPr lang="en-US" sz="1800" dirty="0" smtClean="0"/>
              <a:t> - include transverse gradient in reverse bend</a:t>
            </a:r>
            <a:endParaRPr lang="en-US" sz="1800" dirty="0">
              <a:latin typeface="Symbol" panose="05050102010706020507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27</a:t>
            </a:fld>
            <a:endParaRPr lang="de-DE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0938" y="1608608"/>
            <a:ext cx="223651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b="1" dirty="0" smtClean="0"/>
              <a:t>QF/</a:t>
            </a:r>
            <a:r>
              <a:rPr lang="de-DE" b="1" dirty="0" err="1" smtClean="0"/>
              <a:t>reverse</a:t>
            </a:r>
            <a:r>
              <a:rPr lang="de-DE" b="1" dirty="0" smtClean="0"/>
              <a:t> </a:t>
            </a:r>
            <a:r>
              <a:rPr lang="de-DE" b="1" dirty="0" err="1" smtClean="0"/>
              <a:t>bend</a:t>
            </a:r>
            <a:r>
              <a:rPr lang="de-DE" dirty="0" smtClean="0"/>
              <a:t>:</a:t>
            </a:r>
          </a:p>
          <a:p>
            <a:pPr>
              <a:spcBef>
                <a:spcPts val="0"/>
              </a:spcBef>
            </a:pPr>
            <a:r>
              <a:rPr lang="en-US" dirty="0" err="1" smtClean="0">
                <a:latin typeface="Symbol" panose="05050102010706020507" pitchFamily="18" charset="2"/>
              </a:rPr>
              <a:t>q</a:t>
            </a:r>
            <a:r>
              <a:rPr lang="en-US" baseline="-25000" dirty="0" err="1" smtClean="0"/>
              <a:t>R</a:t>
            </a:r>
            <a:r>
              <a:rPr lang="en-US" dirty="0" smtClean="0">
                <a:latin typeface="Symbol" panose="05050102010706020507" pitchFamily="18" charset="2"/>
              </a:rPr>
              <a:t> </a:t>
            </a:r>
            <a:r>
              <a:rPr lang="de-DE" dirty="0" smtClean="0"/>
              <a:t>= -0.215°, 0.22T</a:t>
            </a:r>
          </a:p>
          <a:p>
            <a:pPr>
              <a:spcBef>
                <a:spcPts val="0"/>
              </a:spcBef>
            </a:pPr>
            <a:r>
              <a:rPr lang="de-DE" dirty="0" smtClean="0"/>
              <a:t>L</a:t>
            </a:r>
            <a:r>
              <a:rPr lang="en-US" baseline="-25000" dirty="0" smtClean="0"/>
              <a:t>R </a:t>
            </a:r>
            <a:r>
              <a:rPr lang="en-US" dirty="0" smtClean="0"/>
              <a:t> = 0.14m</a:t>
            </a:r>
          </a:p>
          <a:p>
            <a:pPr>
              <a:spcBef>
                <a:spcPts val="0"/>
              </a:spcBef>
            </a:pPr>
            <a:r>
              <a:rPr lang="de-DE" dirty="0" smtClean="0"/>
              <a:t>K  = 11.1m</a:t>
            </a:r>
            <a:r>
              <a:rPr lang="de-DE" baseline="30000" dirty="0" smtClean="0"/>
              <a:t>-</a:t>
            </a:r>
            <a:r>
              <a:rPr lang="de-DE" dirty="0" smtClean="0"/>
              <a:t>², 92T/m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7000" y="1217675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Include QF in reverse bend :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659339" y="1532675"/>
            <a:ext cx="3031599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Full lattice:	</a:t>
            </a:r>
            <a:r>
              <a:rPr lang="en-US" b="1" dirty="0" smtClean="0">
                <a:solidFill>
                  <a:srgbClr val="00589C"/>
                </a:solidFill>
              </a:rPr>
              <a:t>Ref.</a:t>
            </a:r>
          </a:p>
          <a:p>
            <a:r>
              <a:rPr lang="en-US" dirty="0" smtClean="0">
                <a:solidFill>
                  <a:srgbClr val="00FF00"/>
                </a:solidFill>
                <a:latin typeface="Symbol" panose="05050102010706020507" pitchFamily="18" charset="2"/>
              </a:rPr>
              <a:t>e</a:t>
            </a:r>
            <a:r>
              <a:rPr lang="en-US" dirty="0" smtClean="0">
                <a:solidFill>
                  <a:srgbClr val="00FF00"/>
                </a:solidFill>
              </a:rPr>
              <a:t> = 84pm  	</a:t>
            </a:r>
            <a:r>
              <a:rPr lang="en-US" dirty="0" smtClean="0">
                <a:solidFill>
                  <a:srgbClr val="00589C"/>
                </a:solidFill>
              </a:rPr>
              <a:t>(105pm)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 smtClean="0">
                <a:latin typeface="Symbol" panose="05050102010706020507" pitchFamily="18" charset="2"/>
              </a:rPr>
              <a:t>= </a:t>
            </a:r>
            <a:r>
              <a:rPr lang="en-US" dirty="0" smtClean="0"/>
              <a:t>0.14e-4  	</a:t>
            </a:r>
            <a:r>
              <a:rPr lang="en-US" dirty="0" smtClean="0">
                <a:solidFill>
                  <a:srgbClr val="00589C"/>
                </a:solidFill>
              </a:rPr>
              <a:t>(0.14e-4)</a:t>
            </a:r>
          </a:p>
          <a:p>
            <a:r>
              <a:rPr lang="de-DE" dirty="0" err="1"/>
              <a:t>J</a:t>
            </a:r>
            <a:r>
              <a:rPr lang="de-DE" baseline="-25000" dirty="0" err="1"/>
              <a:t>x</a:t>
            </a:r>
            <a:r>
              <a:rPr lang="de-DE" baseline="-25000" dirty="0"/>
              <a:t>   </a:t>
            </a:r>
            <a:r>
              <a:rPr lang="de-DE" dirty="0"/>
              <a:t>= </a:t>
            </a:r>
            <a:r>
              <a:rPr lang="de-DE" dirty="0" smtClean="0"/>
              <a:t>1.13	</a:t>
            </a:r>
            <a:r>
              <a:rPr lang="de-DE" dirty="0" smtClean="0">
                <a:solidFill>
                  <a:srgbClr val="00589C"/>
                </a:solidFill>
              </a:rPr>
              <a:t>(1)</a:t>
            </a:r>
          </a:p>
          <a:p>
            <a:r>
              <a:rPr lang="de-DE" dirty="0">
                <a:latin typeface="Symbol" panose="05050102010706020507" pitchFamily="18" charset="2"/>
              </a:rPr>
              <a:t>x</a:t>
            </a:r>
            <a:r>
              <a:rPr lang="de-DE" baseline="-25000" dirty="0"/>
              <a:t>x</a:t>
            </a:r>
            <a:r>
              <a:rPr lang="de-DE" dirty="0"/>
              <a:t>/</a:t>
            </a:r>
            <a:r>
              <a:rPr lang="de-DE" dirty="0" err="1"/>
              <a:t>Q</a:t>
            </a:r>
            <a:r>
              <a:rPr lang="de-DE" baseline="-25000" dirty="0" err="1"/>
              <a:t>x</a:t>
            </a:r>
            <a:r>
              <a:rPr lang="de-DE" baseline="-25000" dirty="0"/>
              <a:t> </a:t>
            </a:r>
            <a:r>
              <a:rPr lang="de-DE" dirty="0"/>
              <a:t>= </a:t>
            </a:r>
            <a:r>
              <a:rPr lang="de-DE" dirty="0" smtClean="0"/>
              <a:t>-6.1  </a:t>
            </a:r>
            <a:r>
              <a:rPr lang="de-DE" dirty="0"/>
              <a:t>	</a:t>
            </a:r>
            <a:r>
              <a:rPr lang="de-DE" dirty="0" smtClean="0">
                <a:solidFill>
                  <a:srgbClr val="00589C"/>
                </a:solidFill>
              </a:rPr>
              <a:t>(-5.7)</a:t>
            </a:r>
            <a:endParaRPr lang="de-DE" dirty="0">
              <a:solidFill>
                <a:srgbClr val="00589C"/>
              </a:solidFill>
            </a:endParaRPr>
          </a:p>
          <a:p>
            <a:r>
              <a:rPr lang="de-DE" dirty="0" err="1">
                <a:latin typeface="Symbol" panose="05050102010706020507" pitchFamily="18" charset="2"/>
              </a:rPr>
              <a:t>x</a:t>
            </a:r>
            <a:r>
              <a:rPr lang="de-DE" baseline="-25000" dirty="0" err="1"/>
              <a:t>y</a:t>
            </a:r>
            <a:r>
              <a:rPr lang="de-DE" dirty="0"/>
              <a:t>/</a:t>
            </a:r>
            <a:r>
              <a:rPr lang="de-DE" dirty="0" err="1"/>
              <a:t>Q</a:t>
            </a:r>
            <a:r>
              <a:rPr lang="de-DE" baseline="-25000" dirty="0" err="1"/>
              <a:t>y</a:t>
            </a:r>
            <a:r>
              <a:rPr lang="de-DE" baseline="-25000" dirty="0"/>
              <a:t> </a:t>
            </a:r>
            <a:r>
              <a:rPr lang="de-DE" dirty="0"/>
              <a:t>= </a:t>
            </a:r>
            <a:r>
              <a:rPr lang="de-DE" dirty="0" smtClean="0"/>
              <a:t>-7.7</a:t>
            </a: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00589C"/>
                </a:solidFill>
              </a:rPr>
              <a:t>(-7.8)</a:t>
            </a:r>
            <a:endParaRPr lang="de-DE" dirty="0" smtClean="0">
              <a:solidFill>
                <a:srgbClr val="00589C"/>
              </a:solidFill>
            </a:endParaRPr>
          </a:p>
          <a:p>
            <a:r>
              <a:rPr lang="de-DE" dirty="0" err="1" smtClean="0">
                <a:solidFill>
                  <a:srgbClr val="00FF00"/>
                </a:solidFill>
              </a:rPr>
              <a:t>Circ</a:t>
            </a:r>
            <a:r>
              <a:rPr lang="de-DE" dirty="0">
                <a:solidFill>
                  <a:srgbClr val="00FF00"/>
                </a:solidFill>
              </a:rPr>
              <a:t>: = </a:t>
            </a:r>
            <a:r>
              <a:rPr lang="de-DE" dirty="0" smtClean="0">
                <a:solidFill>
                  <a:srgbClr val="00FF00"/>
                </a:solidFill>
              </a:rPr>
              <a:t>304.0m</a:t>
            </a:r>
            <a:r>
              <a:rPr lang="de-DE" dirty="0" smtClean="0"/>
              <a:t> 	</a:t>
            </a:r>
            <a:r>
              <a:rPr lang="de-DE" dirty="0" smtClean="0">
                <a:solidFill>
                  <a:srgbClr val="00589C"/>
                </a:solidFill>
              </a:rPr>
              <a:t>(322.4m)</a:t>
            </a:r>
            <a:endParaRPr lang="de-DE" dirty="0">
              <a:solidFill>
                <a:srgbClr val="00589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87562" y="1608608"/>
            <a:ext cx="45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ym typeface="Wingdings" panose="05000000000000000000" pitchFamily="2" charset="2"/>
              </a:rPr>
              <a:t></a:t>
            </a:r>
            <a:endParaRPr lang="en-US" sz="4400" dirty="0"/>
          </a:p>
        </p:txBody>
      </p:sp>
      <p:sp>
        <p:nvSpPr>
          <p:cNvPr id="10" name="TextBox 10"/>
          <p:cNvSpPr txBox="1"/>
          <p:nvPr/>
        </p:nvSpPr>
        <p:spPr>
          <a:xfrm>
            <a:off x="3020938" y="1608608"/>
            <a:ext cx="2655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MBA-cell:</a:t>
            </a:r>
          </a:p>
          <a:p>
            <a:pPr marL="285750" indent="-285750">
              <a:buFont typeface="Symbol"/>
              <a:buChar char="e"/>
            </a:pPr>
            <a:r>
              <a:rPr lang="en-US" dirty="0" smtClean="0">
                <a:solidFill>
                  <a:srgbClr val="00FF00"/>
                </a:solidFill>
              </a:rPr>
              <a:t>= 84pm     </a:t>
            </a:r>
            <a:r>
              <a:rPr lang="en-US" dirty="0" smtClean="0">
                <a:solidFill>
                  <a:srgbClr val="00589C"/>
                </a:solidFill>
              </a:rPr>
              <a:t>(114pm)</a:t>
            </a:r>
          </a:p>
          <a:p>
            <a:pPr marL="285750" indent="-285750">
              <a:buFont typeface="Symbol"/>
              <a:buChar char="a"/>
            </a:pPr>
            <a:r>
              <a:rPr lang="en-US" dirty="0" smtClean="0"/>
              <a:t>= 0.11e-4  </a:t>
            </a:r>
            <a:r>
              <a:rPr lang="en-US" dirty="0" smtClean="0">
                <a:solidFill>
                  <a:srgbClr val="00589C"/>
                </a:solidFill>
              </a:rPr>
              <a:t>(0.08e-4)</a:t>
            </a:r>
          </a:p>
          <a:p>
            <a:r>
              <a:rPr lang="en-US" dirty="0" err="1" smtClean="0"/>
              <a:t>J</a:t>
            </a:r>
            <a:r>
              <a:rPr lang="en-US" baseline="-25000" dirty="0" err="1" smtClean="0"/>
              <a:t>x</a:t>
            </a:r>
            <a:r>
              <a:rPr lang="en-US" dirty="0" smtClean="0"/>
              <a:t> = 1.25        </a:t>
            </a:r>
            <a:r>
              <a:rPr lang="en-US" dirty="0" smtClean="0">
                <a:solidFill>
                  <a:srgbClr val="00589C"/>
                </a:solidFill>
              </a:rPr>
              <a:t>(1.0)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590938" y="3689668"/>
            <a:ext cx="776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Effect of gradient in reverse bend on emittance is ~25% reduction due to</a:t>
            </a:r>
            <a:r>
              <a:rPr lang="en-US" dirty="0"/>
              <a:t> </a:t>
            </a:r>
            <a:r>
              <a:rPr lang="en-US" dirty="0" err="1" smtClean="0"/>
              <a:t>J</a:t>
            </a:r>
            <a:r>
              <a:rPr lang="en-US" baseline="-25000" dirty="0" err="1" smtClean="0"/>
              <a:t>x</a:t>
            </a:r>
            <a:endParaRPr lang="en-US" baseline="-25000" dirty="0" smtClean="0"/>
          </a:p>
        </p:txBody>
      </p:sp>
      <p:sp>
        <p:nvSpPr>
          <p:cNvPr id="11" name="TextBox 8"/>
          <p:cNvSpPr txBox="1"/>
          <p:nvPr/>
        </p:nvSpPr>
        <p:spPr>
          <a:xfrm>
            <a:off x="1512000" y="4734000"/>
            <a:ext cx="6378669" cy="1000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589C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5 – Displaced QF</a:t>
            </a:r>
            <a:endParaRPr lang="en-US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Tool to reduce emittance and circumference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Full lattice: </a:t>
            </a:r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 = 1.0e-4 </a:t>
            </a:r>
            <a:r>
              <a:rPr lang="en-US" dirty="0">
                <a:sym typeface="Wingdings" panose="05000000000000000000" pitchFamily="2" charset="2"/>
              </a:rPr>
              <a:t>  </a:t>
            </a:r>
            <a:r>
              <a:rPr lang="en-US" dirty="0"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dirty="0">
                <a:sym typeface="Wingdings" panose="05000000000000000000" pitchFamily="2" charset="2"/>
              </a:rPr>
              <a:t> = 254pm    no reverse </a:t>
            </a:r>
            <a:r>
              <a:rPr lang="en-US" dirty="0" smtClean="0">
                <a:sym typeface="Wingdings" panose="05000000000000000000" pitchFamily="2" charset="2"/>
              </a:rPr>
              <a:t>bend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383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Comparison of 5 options to relax the MBA-cell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28</a:t>
            </a:fld>
            <a:endParaRPr lang="de-DE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557191"/>
              </p:ext>
            </p:extLst>
          </p:nvPr>
        </p:nvGraphicFramePr>
        <p:xfrm>
          <a:off x="251999" y="729000"/>
          <a:ext cx="7286678" cy="4289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01">
                  <a:extLst>
                    <a:ext uri="{9D8B030D-6E8A-4147-A177-3AD203B41FA5}">
                      <a16:colId xmlns="" xmlns:a16="http://schemas.microsoft.com/office/drawing/2014/main" val="3030002639"/>
                    </a:ext>
                  </a:extLst>
                </a:gridCol>
                <a:gridCol w="1980000">
                  <a:extLst>
                    <a:ext uri="{9D8B030D-6E8A-4147-A177-3AD203B41FA5}">
                      <a16:colId xmlns="" xmlns:a16="http://schemas.microsoft.com/office/drawing/2014/main" val="1494168751"/>
                    </a:ext>
                  </a:extLst>
                </a:gridCol>
                <a:gridCol w="688331">
                  <a:extLst>
                    <a:ext uri="{9D8B030D-6E8A-4147-A177-3AD203B41FA5}">
                      <a16:colId xmlns="" xmlns:a16="http://schemas.microsoft.com/office/drawing/2014/main" val="3058922813"/>
                    </a:ext>
                  </a:extLst>
                </a:gridCol>
                <a:gridCol w="742741">
                  <a:extLst>
                    <a:ext uri="{9D8B030D-6E8A-4147-A177-3AD203B41FA5}">
                      <a16:colId xmlns="" xmlns:a16="http://schemas.microsoft.com/office/drawing/2014/main" val="643909583"/>
                    </a:ext>
                  </a:extLst>
                </a:gridCol>
                <a:gridCol w="813036">
                  <a:extLst>
                    <a:ext uri="{9D8B030D-6E8A-4147-A177-3AD203B41FA5}">
                      <a16:colId xmlns="" xmlns:a16="http://schemas.microsoft.com/office/drawing/2014/main" val="456351272"/>
                    </a:ext>
                  </a:extLst>
                </a:gridCol>
                <a:gridCol w="812704">
                  <a:extLst>
                    <a:ext uri="{9D8B030D-6E8A-4147-A177-3AD203B41FA5}">
                      <a16:colId xmlns="" xmlns:a16="http://schemas.microsoft.com/office/drawing/2014/main" val="1321654437"/>
                    </a:ext>
                  </a:extLst>
                </a:gridCol>
                <a:gridCol w="887680">
                  <a:extLst>
                    <a:ext uri="{9D8B030D-6E8A-4147-A177-3AD203B41FA5}">
                      <a16:colId xmlns="" xmlns:a16="http://schemas.microsoft.com/office/drawing/2014/main" val="1493365858"/>
                    </a:ext>
                  </a:extLst>
                </a:gridCol>
                <a:gridCol w="867185">
                  <a:extLst>
                    <a:ext uri="{9D8B030D-6E8A-4147-A177-3AD203B41FA5}">
                      <a16:colId xmlns="" xmlns:a16="http://schemas.microsoft.com/office/drawing/2014/main" val="2809212853"/>
                    </a:ext>
                  </a:extLst>
                </a:gridCol>
              </a:tblGrid>
              <a:tr h="637106"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Results for full lattices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[</a:t>
                      </a: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de-DE" dirty="0" smtClean="0">
                          <a:latin typeface="Symbol" panose="05050102010706020507" pitchFamily="18" charset="2"/>
                        </a:rPr>
                        <a:t>]</a:t>
                      </a:r>
                      <a:endParaRPr lang="en-US" dirty="0" smtClean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latin typeface="Symbol" panose="05050102010706020507" pitchFamily="18" charset="2"/>
                        </a:rPr>
                        <a:t>a</a:t>
                      </a:r>
                    </a:p>
                    <a:p>
                      <a:pPr algn="ctr"/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[e-4]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q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</a:t>
                      </a: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[m]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996505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solidFill>
                            <a:srgbClr val="00589C"/>
                          </a:solidFill>
                        </a:rPr>
                        <a:t>reference</a:t>
                      </a:r>
                      <a:endParaRPr lang="en-US" noProof="0" dirty="0">
                        <a:solidFill>
                          <a:srgbClr val="00589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105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0.14</a:t>
                      </a:r>
                      <a:endParaRPr lang="en-US" dirty="0" smtClean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-5.7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7.8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321.2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799588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1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h</a:t>
                      </a:r>
                      <a:r>
                        <a:rPr lang="en-US" noProof="0" dirty="0" smtClean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3388002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>
                          <a:latin typeface="Symbol" panose="05050102010706020507" pitchFamily="18" charset="2"/>
                        </a:rPr>
                        <a:t>2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noProof="0" dirty="0" smtClean="0"/>
                        <a:t>0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139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0.06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-3.9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-0.235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322.8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646504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3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+mj-lt"/>
                          <a:cs typeface="Arial" panose="020B0604020202020204" pitchFamily="34" charset="0"/>
                        </a:rPr>
                        <a:t>Increase L</a:t>
                      </a:r>
                      <a:endParaRPr lang="en-US" noProof="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4a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 L + 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134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1.01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318.8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05308020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</a:t>
                      </a:r>
                      <a:r>
                        <a:rPr lang="de-DE" noProof="0" dirty="0" smtClean="0"/>
                        <a:t> L (+LG)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-5.6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338.8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5532795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0.12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-6.3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5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Displaced QF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135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0.62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-6.0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-8.4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-0.095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5691223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0.14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-6.1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-7.7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-0.215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 smtClean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7000" y="5139000"/>
            <a:ext cx="8723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Separated </a:t>
            </a:r>
            <a:r>
              <a:rPr lang="en-US" dirty="0" smtClean="0"/>
              <a:t>function magnet lattices </a:t>
            </a:r>
            <a:r>
              <a:rPr lang="en-US" b="1" dirty="0" smtClean="0"/>
              <a:t>do not </a:t>
            </a:r>
            <a:r>
              <a:rPr lang="en-US" dirty="0" smtClean="0"/>
              <a:t>seek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&gt; 1e-4 </a:t>
            </a:r>
            <a:r>
              <a:rPr lang="en-US" dirty="0"/>
              <a:t>with </a:t>
            </a:r>
            <a:r>
              <a:rPr lang="en-US" dirty="0" smtClean="0"/>
              <a:t>emittance ~100pm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Long bend most promising (</a:t>
            </a:r>
            <a:r>
              <a:rPr lang="en-US" dirty="0">
                <a:latin typeface="Symbol" panose="05050102010706020507" pitchFamily="18" charset="2"/>
              </a:rPr>
              <a:t>a = 0.99</a:t>
            </a:r>
            <a:r>
              <a:rPr lang="en-US" dirty="0"/>
              <a:t>e</a:t>
            </a:r>
            <a:r>
              <a:rPr lang="en-US" dirty="0">
                <a:latin typeface="Symbol" panose="05050102010706020507" pitchFamily="18" charset="2"/>
              </a:rPr>
              <a:t>-4, e = 158</a:t>
            </a:r>
            <a:r>
              <a:rPr lang="en-US" dirty="0"/>
              <a:t>pm)</a:t>
            </a:r>
            <a:endParaRPr lang="en-US" dirty="0" smtClean="0"/>
          </a:p>
        </p:txBody>
      </p:sp>
      <p:sp>
        <p:nvSpPr>
          <p:cNvPr id="4" name="Geschweifte Klammer rechts 3"/>
          <p:cNvSpPr/>
          <p:nvPr/>
        </p:nvSpPr>
        <p:spPr>
          <a:xfrm>
            <a:off x="7542000" y="1384363"/>
            <a:ext cx="180000" cy="16200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/>
          <p:cNvSpPr txBox="1"/>
          <p:nvPr/>
        </p:nvSpPr>
        <p:spPr>
          <a:xfrm>
            <a:off x="7739625" y="1721033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Separated</a:t>
            </a:r>
          </a:p>
          <a:p>
            <a:r>
              <a:rPr lang="en-US" dirty="0"/>
              <a:t>f</a:t>
            </a:r>
            <a:r>
              <a:rPr lang="en-US" dirty="0" smtClean="0"/>
              <a:t>unction </a:t>
            </a:r>
          </a:p>
          <a:p>
            <a:r>
              <a:rPr lang="en-US" dirty="0" smtClean="0"/>
              <a:t>magnets</a:t>
            </a:r>
            <a:endParaRPr lang="en-US" dirty="0"/>
          </a:p>
        </p:txBody>
      </p:sp>
      <p:sp>
        <p:nvSpPr>
          <p:cNvPr id="8" name="TextBox 2"/>
          <p:cNvSpPr txBox="1"/>
          <p:nvPr/>
        </p:nvSpPr>
        <p:spPr>
          <a:xfrm>
            <a:off x="216732" y="5733332"/>
            <a:ext cx="6351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A long main bend w/, w/o gradient seeks highest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values</a:t>
            </a:r>
          </a:p>
        </p:txBody>
      </p:sp>
      <p:sp>
        <p:nvSpPr>
          <p:cNvPr id="9" name="Ellipse 8"/>
          <p:cNvSpPr/>
          <p:nvPr/>
        </p:nvSpPr>
        <p:spPr>
          <a:xfrm>
            <a:off x="2637000" y="1676033"/>
            <a:ext cx="1665000" cy="14066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/>
          <p:cNvSpPr/>
          <p:nvPr/>
        </p:nvSpPr>
        <p:spPr>
          <a:xfrm>
            <a:off x="2637000" y="2486033"/>
            <a:ext cx="1665000" cy="14066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2"/>
          <p:cNvSpPr txBox="1"/>
          <p:nvPr/>
        </p:nvSpPr>
        <p:spPr>
          <a:xfrm>
            <a:off x="207000" y="6048332"/>
            <a:ext cx="610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Both, 4b and 5 can also be used to lower the emittance</a:t>
            </a:r>
          </a:p>
        </p:txBody>
      </p:sp>
      <p:sp>
        <p:nvSpPr>
          <p:cNvPr id="12" name="Ellipse 11"/>
          <p:cNvSpPr/>
          <p:nvPr/>
        </p:nvSpPr>
        <p:spPr>
          <a:xfrm>
            <a:off x="2637000" y="3757643"/>
            <a:ext cx="1575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/>
          <p:cNvSpPr/>
          <p:nvPr/>
        </p:nvSpPr>
        <p:spPr>
          <a:xfrm>
            <a:off x="2637000" y="4522643"/>
            <a:ext cx="1575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/>
          <p:cNvSpPr/>
          <p:nvPr/>
        </p:nvSpPr>
        <p:spPr>
          <a:xfrm>
            <a:off x="2187000" y="6389668"/>
            <a:ext cx="4224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=&gt; Combination of measures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83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 animBg="1"/>
      <p:bldP spid="9" grpId="1" animBg="1"/>
      <p:bldP spid="10" grpId="0" animBg="1"/>
      <p:bldP spid="10" grpId="1" animBg="1"/>
      <p:bldP spid="11" grpId="0"/>
      <p:bldP spid="12" grpId="0" animBg="1"/>
      <p:bldP spid="13" grpId="0" animBg="1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1800" dirty="0"/>
              <a:t>comparison of dipole </a:t>
            </a:r>
            <a:r>
              <a:rPr lang="en-US" sz="1800" dirty="0" smtClean="0"/>
              <a:t>options 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29</a:t>
            </a:fld>
            <a:endParaRPr lang="de-DE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000" y="954000"/>
            <a:ext cx="405765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567000" y="4779000"/>
            <a:ext cx="83901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 </a:t>
            </a:r>
            <a:r>
              <a:rPr lang="en-US" dirty="0" smtClean="0"/>
              <a:t>~2e-4 and </a:t>
            </a:r>
            <a:r>
              <a:rPr lang="en-US" dirty="0" smtClean="0">
                <a:latin typeface="Symbol" panose="05050102010706020507" pitchFamily="18" charset="2"/>
              </a:rPr>
              <a:t>e</a:t>
            </a:r>
            <a:r>
              <a:rPr lang="en-US" dirty="0" smtClean="0"/>
              <a:t> ~100pm not possible with single measure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original </a:t>
            </a:r>
            <a:r>
              <a:rPr lang="en-US" dirty="0" smtClean="0">
                <a:solidFill>
                  <a:srgbClr val="FF0000"/>
                </a:solidFill>
              </a:rPr>
              <a:t>short bend </a:t>
            </a:r>
            <a:r>
              <a:rPr lang="en-US" dirty="0" smtClean="0"/>
              <a:t>is worst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C000"/>
                </a:solidFill>
              </a:rPr>
              <a:t>Long bend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0070C0"/>
                </a:solidFill>
              </a:rPr>
              <a:t>TG</a:t>
            </a:r>
            <a:r>
              <a:rPr lang="en-US" dirty="0" smtClean="0"/>
              <a:t> improve alpha, LG and </a:t>
            </a:r>
            <a:r>
              <a:rPr lang="en-US" dirty="0" smtClean="0">
                <a:solidFill>
                  <a:srgbClr val="00B050"/>
                </a:solidFill>
              </a:rPr>
              <a:t>TG-RB</a:t>
            </a:r>
            <a:r>
              <a:rPr lang="en-US" dirty="0" smtClean="0"/>
              <a:t> improve emittance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Fun fact: identical dependence of LG and </a:t>
            </a:r>
            <a:r>
              <a:rPr lang="en-US" dirty="0" smtClean="0">
                <a:solidFill>
                  <a:srgbClr val="00B050"/>
                </a:solidFill>
              </a:rPr>
              <a:t>TG-RB</a:t>
            </a:r>
            <a:r>
              <a:rPr lang="en-US" dirty="0" smtClean="0"/>
              <a:t>, but at different bend 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@ ~130pm,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~ 1e-4 achievable with all methods (but short bend)</a:t>
            </a:r>
          </a:p>
          <a:p>
            <a:r>
              <a:rPr lang="en-US" dirty="0" smtClean="0"/>
              <a:t>	</a:t>
            </a:r>
            <a:r>
              <a:rPr lang="en-US" dirty="0" smtClean="0">
                <a:sym typeface="Wingdings" panose="05000000000000000000" pitchFamily="2" charset="2"/>
              </a:rPr>
              <a:t> corresponds to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</a:t>
            </a:r>
            <a:r>
              <a:rPr lang="en-US" dirty="0"/>
              <a:t>~ </a:t>
            </a:r>
            <a:r>
              <a:rPr lang="en-US" dirty="0" smtClean="0"/>
              <a:t>0.6e-4 , </a:t>
            </a:r>
            <a:r>
              <a:rPr lang="en-US" dirty="0">
                <a:latin typeface="Symbol" panose="05050102010706020507" pitchFamily="18" charset="2"/>
              </a:rPr>
              <a:t>e</a:t>
            </a:r>
            <a:r>
              <a:rPr lang="en-US" dirty="0"/>
              <a:t> ~</a:t>
            </a:r>
            <a:r>
              <a:rPr lang="en-US" dirty="0" smtClean="0"/>
              <a:t>125pm </a:t>
            </a:r>
            <a:r>
              <a:rPr lang="en-US" dirty="0" smtClean="0"/>
              <a:t>(full lattice)</a:t>
            </a:r>
            <a:endParaRPr lang="en-US" dirty="0" smtClean="0"/>
          </a:p>
        </p:txBody>
      </p:sp>
      <p:sp>
        <p:nvSpPr>
          <p:cNvPr id="3" name="Rechteck 2"/>
          <p:cNvSpPr/>
          <p:nvPr/>
        </p:nvSpPr>
        <p:spPr>
          <a:xfrm>
            <a:off x="5697000" y="3564000"/>
            <a:ext cx="540000" cy="630000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/>
          <p:cNvSpPr txBox="1"/>
          <p:nvPr/>
        </p:nvSpPr>
        <p:spPr>
          <a:xfrm>
            <a:off x="2997000" y="750446"/>
            <a:ext cx="336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Values for </a:t>
            </a:r>
            <a:r>
              <a:rPr lang="en-US" sz="1600" dirty="0" smtClean="0"/>
              <a:t>MBA-cell (not full lattice)</a:t>
            </a:r>
            <a:endParaRPr lang="en-US" sz="1600" dirty="0"/>
          </a:p>
        </p:txBody>
      </p:sp>
      <p:sp>
        <p:nvSpPr>
          <p:cNvPr id="6" name="Ellipse 5"/>
          <p:cNvSpPr/>
          <p:nvPr/>
        </p:nvSpPr>
        <p:spPr>
          <a:xfrm>
            <a:off x="4318293" y="2349000"/>
            <a:ext cx="720000" cy="6873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44497"/>
              </p:ext>
            </p:extLst>
          </p:nvPr>
        </p:nvGraphicFramePr>
        <p:xfrm>
          <a:off x="837000" y="1224000"/>
          <a:ext cx="7286678" cy="4289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01">
                  <a:extLst>
                    <a:ext uri="{9D8B030D-6E8A-4147-A177-3AD203B41FA5}">
                      <a16:colId xmlns="" xmlns:a16="http://schemas.microsoft.com/office/drawing/2014/main" val="3030002639"/>
                    </a:ext>
                  </a:extLst>
                </a:gridCol>
                <a:gridCol w="1980000">
                  <a:extLst>
                    <a:ext uri="{9D8B030D-6E8A-4147-A177-3AD203B41FA5}">
                      <a16:colId xmlns="" xmlns:a16="http://schemas.microsoft.com/office/drawing/2014/main" val="1494168751"/>
                    </a:ext>
                  </a:extLst>
                </a:gridCol>
                <a:gridCol w="688331">
                  <a:extLst>
                    <a:ext uri="{9D8B030D-6E8A-4147-A177-3AD203B41FA5}">
                      <a16:colId xmlns="" xmlns:a16="http://schemas.microsoft.com/office/drawing/2014/main" val="3058922813"/>
                    </a:ext>
                  </a:extLst>
                </a:gridCol>
                <a:gridCol w="742741">
                  <a:extLst>
                    <a:ext uri="{9D8B030D-6E8A-4147-A177-3AD203B41FA5}">
                      <a16:colId xmlns="" xmlns:a16="http://schemas.microsoft.com/office/drawing/2014/main" val="643909583"/>
                    </a:ext>
                  </a:extLst>
                </a:gridCol>
                <a:gridCol w="813036">
                  <a:extLst>
                    <a:ext uri="{9D8B030D-6E8A-4147-A177-3AD203B41FA5}">
                      <a16:colId xmlns="" xmlns:a16="http://schemas.microsoft.com/office/drawing/2014/main" val="456351272"/>
                    </a:ext>
                  </a:extLst>
                </a:gridCol>
                <a:gridCol w="812704">
                  <a:extLst>
                    <a:ext uri="{9D8B030D-6E8A-4147-A177-3AD203B41FA5}">
                      <a16:colId xmlns="" xmlns:a16="http://schemas.microsoft.com/office/drawing/2014/main" val="1321654437"/>
                    </a:ext>
                  </a:extLst>
                </a:gridCol>
                <a:gridCol w="887680">
                  <a:extLst>
                    <a:ext uri="{9D8B030D-6E8A-4147-A177-3AD203B41FA5}">
                      <a16:colId xmlns="" xmlns:a16="http://schemas.microsoft.com/office/drawing/2014/main" val="1493365858"/>
                    </a:ext>
                  </a:extLst>
                </a:gridCol>
                <a:gridCol w="867185">
                  <a:extLst>
                    <a:ext uri="{9D8B030D-6E8A-4147-A177-3AD203B41FA5}">
                      <a16:colId xmlns="" xmlns:a16="http://schemas.microsoft.com/office/drawing/2014/main" val="2809212853"/>
                    </a:ext>
                  </a:extLst>
                </a:gridCol>
              </a:tblGrid>
              <a:tr h="637106"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Results for full lattices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[</a:t>
                      </a: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de-DE" dirty="0" smtClean="0">
                          <a:latin typeface="Symbol" panose="05050102010706020507" pitchFamily="18" charset="2"/>
                        </a:rPr>
                        <a:t>]</a:t>
                      </a:r>
                      <a:endParaRPr lang="en-US" dirty="0" smtClean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latin typeface="Symbol" panose="05050102010706020507" pitchFamily="18" charset="2"/>
                        </a:rPr>
                        <a:t>a</a:t>
                      </a:r>
                    </a:p>
                    <a:p>
                      <a:pPr algn="ctr"/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[e-4]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q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</a:t>
                      </a: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[m]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996505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solidFill>
                            <a:srgbClr val="00589C"/>
                          </a:solidFill>
                        </a:rPr>
                        <a:t>reference</a:t>
                      </a:r>
                      <a:endParaRPr lang="en-US" noProof="0" dirty="0">
                        <a:solidFill>
                          <a:srgbClr val="00589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105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0.14</a:t>
                      </a:r>
                      <a:endParaRPr lang="en-US" dirty="0" smtClean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-5.7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7.8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321.2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799588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1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h</a:t>
                      </a:r>
                      <a:r>
                        <a:rPr lang="en-US" noProof="0" dirty="0" smtClean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3388002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>
                          <a:latin typeface="Symbol" panose="05050102010706020507" pitchFamily="18" charset="2"/>
                        </a:rPr>
                        <a:t>2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noProof="0" dirty="0" smtClean="0"/>
                        <a:t>0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139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0.06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-3.9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-0.235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322.8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646504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3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+mj-lt"/>
                          <a:cs typeface="Arial" panose="020B0604020202020204" pitchFamily="34" charset="0"/>
                        </a:rPr>
                        <a:t>Increase L</a:t>
                      </a:r>
                      <a:endParaRPr lang="en-US" noProof="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4a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 L + 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134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1.01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318.8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05308020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</a:t>
                      </a:r>
                      <a:r>
                        <a:rPr lang="de-DE" noProof="0" dirty="0" smtClean="0"/>
                        <a:t> L (+LG)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-5.6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338.8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5532795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0.12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-6.3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5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Displaced QF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135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0.62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-6.0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-8.4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-0.095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5691223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0.14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-6.1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-7.7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-0.215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 smtClean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lattice combining options 4a and 5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30</a:t>
            </a:fld>
            <a:endParaRPr lang="de-DE" altLang="en-US"/>
          </a:p>
        </p:txBody>
      </p:sp>
      <p:sp>
        <p:nvSpPr>
          <p:cNvPr id="8" name="Ellipse 7"/>
          <p:cNvSpPr/>
          <p:nvPr/>
        </p:nvSpPr>
        <p:spPr>
          <a:xfrm>
            <a:off x="612000" y="3384000"/>
            <a:ext cx="8010000" cy="58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lipse 8"/>
          <p:cNvSpPr/>
          <p:nvPr/>
        </p:nvSpPr>
        <p:spPr>
          <a:xfrm>
            <a:off x="657000" y="5049000"/>
            <a:ext cx="8010000" cy="58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1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01" y="963332"/>
            <a:ext cx="8685000" cy="3545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59" y="166540"/>
            <a:ext cx="8229600" cy="439738"/>
          </a:xfrm>
        </p:spPr>
        <p:txBody>
          <a:bodyPr/>
          <a:lstStyle/>
          <a:p>
            <a:r>
              <a:rPr lang="en-US" sz="1800" dirty="0" smtClean="0"/>
              <a:t>lattice combining options 4a and 5 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31</a:t>
            </a:fld>
            <a:endParaRPr lang="de-DE" alt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2745817" y="4914000"/>
            <a:ext cx="5985001" cy="12003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rgbClr val="00FF00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  = 106pm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52.27	</a:t>
            </a:r>
            <a:r>
              <a:rPr lang="en-US" altLang="en-US" sz="1800" b="0" dirty="0" err="1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16.35</a:t>
            </a: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Symbol"/>
              <a:buChar char="a"/>
            </a:pP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= 1.08e-4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-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189	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-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53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C  = 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307.6m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rgbClr val="00FF00"/>
                </a:solidFill>
                <a:latin typeface="Cambria Math" panose="02040503050406030204" pitchFamily="18" charset="0"/>
              </a:rPr>
              <a:t>x 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>
                <a:solidFill>
                  <a:srgbClr val="00FF00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 = ~3.6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rgbClr val="00FF00"/>
                </a:solidFill>
                <a:latin typeface="Cambria Math" panose="02040503050406030204" pitchFamily="18" charset="0"/>
              </a:rPr>
              <a:t>y 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>
                <a:solidFill>
                  <a:srgbClr val="00FF00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 = ~</a:t>
            </a: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3.2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L  =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15.38m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	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endParaRPr lang="en-US" altLang="en-US" sz="1800" b="0" dirty="0" smtClean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2302" y="594000"/>
            <a:ext cx="8285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5-bend MBA with 20 straight </a:t>
            </a:r>
            <a:r>
              <a:rPr lang="en-US" dirty="0"/>
              <a:t>sections, </a:t>
            </a:r>
            <a:r>
              <a:rPr lang="en-US" dirty="0" smtClean="0"/>
              <a:t>TG in main bend and displaced QF (RB)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-18001" y="4605731"/>
            <a:ext cx="2610001" cy="23237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Input </a:t>
            </a:r>
            <a:r>
              <a:rPr lang="en-US" sz="1400" b="1" dirty="0"/>
              <a:t>(</a:t>
            </a:r>
            <a:r>
              <a:rPr lang="en-US" sz="1400" b="1" dirty="0" smtClean="0"/>
              <a:t>MBA-cell):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Half length dipole:   </a:t>
            </a:r>
            <a:r>
              <a:rPr lang="en-US" sz="1400" dirty="0" smtClean="0"/>
              <a:t>40cm</a:t>
            </a:r>
          </a:p>
          <a:p>
            <a:pPr>
              <a:spcBef>
                <a:spcPts val="0"/>
              </a:spcBef>
            </a:pPr>
            <a:r>
              <a:rPr lang="en-US" sz="1400" dirty="0" smtClean="0"/>
              <a:t>Half angle dipole:  2.3°, 0.84T</a:t>
            </a:r>
          </a:p>
          <a:p>
            <a:pPr lvl="1">
              <a:spcBef>
                <a:spcPts val="0"/>
              </a:spcBef>
            </a:pPr>
            <a:r>
              <a:rPr lang="en-US" sz="1400" dirty="0" smtClean="0"/>
              <a:t>K = -2.25, 18.8T/m</a:t>
            </a:r>
          </a:p>
          <a:p>
            <a:pPr>
              <a:spcBef>
                <a:spcPts val="0"/>
              </a:spcBef>
            </a:pPr>
            <a:r>
              <a:rPr lang="en-US" sz="1400" dirty="0" smtClean="0"/>
              <a:t>Displaced QF: 0.13m</a:t>
            </a:r>
          </a:p>
          <a:p>
            <a:pPr lvl="1">
              <a:spcBef>
                <a:spcPts val="0"/>
              </a:spcBef>
            </a:pPr>
            <a:r>
              <a:rPr lang="en-US" sz="1400" dirty="0" smtClean="0"/>
              <a:t>K=11.1, 92T/m</a:t>
            </a:r>
          </a:p>
          <a:p>
            <a:pPr lvl="1">
              <a:spcBef>
                <a:spcPts val="0"/>
              </a:spcBef>
            </a:pPr>
            <a:r>
              <a:rPr lang="en-US" sz="1400" dirty="0"/>
              <a:t>-0.205°, </a:t>
            </a:r>
            <a:r>
              <a:rPr lang="en-US" sz="1400" dirty="0" smtClean="0">
                <a:latin typeface="Symbol" panose="05050102010706020507" pitchFamily="18" charset="2"/>
              </a:rPr>
              <a:t>D</a:t>
            </a:r>
            <a:r>
              <a:rPr lang="en-US" sz="1400" dirty="0" smtClean="0"/>
              <a:t>x~2.5mm</a:t>
            </a:r>
          </a:p>
          <a:p>
            <a:r>
              <a:rPr lang="en-US" sz="1400" dirty="0" err="1" smtClean="0">
                <a:latin typeface="Symbol" panose="05050102010706020507" pitchFamily="18" charset="2"/>
              </a:rPr>
              <a:t>b</a:t>
            </a:r>
            <a:r>
              <a:rPr lang="en-US" sz="1400" dirty="0" err="1" smtClean="0"/>
              <a:t>x</a:t>
            </a:r>
            <a:r>
              <a:rPr lang="en-US" sz="1400" dirty="0" smtClean="0"/>
              <a:t> = 0.103m</a:t>
            </a:r>
          </a:p>
          <a:p>
            <a:r>
              <a:rPr lang="en-US" sz="1400" dirty="0" smtClean="0">
                <a:latin typeface="Symbol" panose="05050102010706020507" pitchFamily="18" charset="2"/>
              </a:rPr>
              <a:t>b</a:t>
            </a:r>
            <a:r>
              <a:rPr lang="en-US" sz="1400" dirty="0" smtClean="0"/>
              <a:t>y =8m</a:t>
            </a:r>
          </a:p>
          <a:p>
            <a:r>
              <a:rPr lang="en-US" sz="1400" dirty="0" smtClean="0">
                <a:latin typeface="Symbol" panose="05050102010706020507" pitchFamily="18" charset="2"/>
              </a:rPr>
              <a:t>h</a:t>
            </a:r>
            <a:r>
              <a:rPr lang="en-US" sz="1400" dirty="0" smtClean="0"/>
              <a:t> = 0.0058m</a:t>
            </a:r>
          </a:p>
        </p:txBody>
      </p:sp>
    </p:spTree>
    <p:extLst>
      <p:ext uri="{BB962C8B-B14F-4D97-AF65-F5344CB8AC3E}">
        <p14:creationId xmlns:p14="http://schemas.microsoft.com/office/powerpoint/2010/main" val="376959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lattice combining options 4a and 5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32</a:t>
            </a:fld>
            <a:endParaRPr lang="de-DE" altLang="en-US"/>
          </a:p>
        </p:txBody>
      </p:sp>
      <p:sp>
        <p:nvSpPr>
          <p:cNvPr id="8" name="TextBox 6"/>
          <p:cNvSpPr txBox="1"/>
          <p:nvPr/>
        </p:nvSpPr>
        <p:spPr>
          <a:xfrm>
            <a:off x="477000" y="729000"/>
            <a:ext cx="462601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Dynamic Aperture – stage 0 – 1000 turns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Qx</a:t>
            </a:r>
            <a:r>
              <a:rPr lang="en-US" dirty="0" smtClean="0"/>
              <a:t>=52.27, 16.35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Chromaticity tuned to 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Symbol" panose="05050102010706020507" pitchFamily="18" charset="2"/>
              </a:rPr>
              <a:t>b</a:t>
            </a:r>
            <a:r>
              <a:rPr lang="en-US" dirty="0" err="1" smtClean="0"/>
              <a:t>x</a:t>
            </a:r>
            <a:r>
              <a:rPr lang="en-US" dirty="0" smtClean="0"/>
              <a:t> = </a:t>
            </a:r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dirty="0" smtClean="0"/>
              <a:t>y = 1.5m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6 SX </a:t>
            </a:r>
            <a:r>
              <a:rPr lang="en-US" altLang="en-US" dirty="0" smtClean="0"/>
              <a:t>families: 	SD/SF </a:t>
            </a:r>
            <a:r>
              <a:rPr lang="en-US" altLang="en-US" dirty="0"/>
              <a:t>in MBA </a:t>
            </a:r>
            <a:r>
              <a:rPr lang="en-US" altLang="en-US" dirty="0" smtClean="0"/>
              <a:t>cell </a:t>
            </a:r>
          </a:p>
          <a:p>
            <a:pPr lvl="4"/>
            <a:r>
              <a:rPr lang="en-US" altLang="en-US" dirty="0" smtClean="0"/>
              <a:t>SD/SF </a:t>
            </a:r>
            <a:r>
              <a:rPr lang="en-US" altLang="en-US" dirty="0"/>
              <a:t>in matching </a:t>
            </a:r>
            <a:r>
              <a:rPr lang="en-US" altLang="en-US" dirty="0" smtClean="0"/>
              <a:t>cell</a:t>
            </a:r>
          </a:p>
          <a:p>
            <a:pPr lvl="4"/>
            <a:r>
              <a:rPr lang="en-US" altLang="en-US" dirty="0" smtClean="0"/>
              <a:t>S3,S4 </a:t>
            </a:r>
            <a:r>
              <a:rPr lang="en-US" altLang="en-US" dirty="0"/>
              <a:t>in straight section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OPA – optimization tune shift terms</a:t>
            </a:r>
          </a:p>
          <a:p>
            <a:r>
              <a:rPr lang="en-US" dirty="0" smtClean="0"/>
              <a:t>=&gt; Promising start for optimization</a:t>
            </a:r>
            <a:endParaRPr lang="en-US" dirty="0"/>
          </a:p>
        </p:txBody>
      </p:sp>
      <p:sp>
        <p:nvSpPr>
          <p:cNvPr id="9" name="TextBox 2"/>
          <p:cNvSpPr txBox="1"/>
          <p:nvPr/>
        </p:nvSpPr>
        <p:spPr>
          <a:xfrm>
            <a:off x="2457000" y="3987773"/>
            <a:ext cx="1736373" cy="146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@</a:t>
            </a:r>
            <a:r>
              <a:rPr lang="en-US" dirty="0"/>
              <a:t> center of </a:t>
            </a:r>
            <a:endParaRPr lang="en-US" dirty="0" smtClean="0"/>
          </a:p>
          <a:p>
            <a:r>
              <a:rPr lang="en-US" dirty="0" smtClean="0"/>
              <a:t>straight section</a:t>
            </a:r>
            <a:endParaRPr lang="de-DE" dirty="0"/>
          </a:p>
          <a:p>
            <a:pPr>
              <a:spcBef>
                <a:spcPts val="600"/>
              </a:spcBef>
            </a:pPr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 smtClean="0"/>
              <a:t>= 1.5m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1.5m</a:t>
            </a:r>
            <a:endParaRPr lang="en-US" baseline="-25000" dirty="0"/>
          </a:p>
          <a:p>
            <a:endParaRPr lang="en-US" baseline="-25000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558" y="3467433"/>
            <a:ext cx="3816690" cy="3222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00" y="3498277"/>
            <a:ext cx="3824400" cy="319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2"/>
          <p:cNvSpPr txBox="1"/>
          <p:nvPr/>
        </p:nvSpPr>
        <p:spPr>
          <a:xfrm>
            <a:off x="6012000" y="1089000"/>
            <a:ext cx="3185487" cy="2292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 values of Soleil upgrade </a:t>
            </a:r>
          </a:p>
          <a:p>
            <a:r>
              <a:rPr lang="en-US" dirty="0" smtClean="0"/>
              <a:t>injection straight:</a:t>
            </a:r>
          </a:p>
          <a:p>
            <a:pPr>
              <a:spcBef>
                <a:spcPts val="600"/>
              </a:spcBef>
            </a:pPr>
            <a:r>
              <a:rPr lang="en-US" dirty="0" err="1" smtClean="0">
                <a:latin typeface="Symbol" panose="05050102010706020507" pitchFamily="18" charset="2"/>
              </a:rPr>
              <a:t>b</a:t>
            </a:r>
            <a:r>
              <a:rPr lang="en-US" baseline="-25000" dirty="0" err="1" smtClean="0"/>
              <a:t>x</a:t>
            </a:r>
            <a:r>
              <a:rPr lang="en-US" baseline="-25000" dirty="0" smtClean="0"/>
              <a:t> </a:t>
            </a:r>
            <a:r>
              <a:rPr lang="en-US" dirty="0" smtClean="0"/>
              <a:t>= 11m</a:t>
            </a:r>
          </a:p>
          <a:p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baseline="-25000" dirty="0" smtClean="0"/>
              <a:t>y </a:t>
            </a:r>
            <a:r>
              <a:rPr lang="en-US" dirty="0" smtClean="0"/>
              <a:t>= 3m</a:t>
            </a:r>
          </a:p>
          <a:p>
            <a:endParaRPr lang="en-US" baseline="-25000" dirty="0" smtClean="0"/>
          </a:p>
          <a:p>
            <a:r>
              <a:rPr lang="en-US" dirty="0" smtClean="0"/>
              <a:t>Soleil goal: Ax = 6mm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Ay = 2.5mm</a:t>
            </a:r>
          </a:p>
          <a:p>
            <a:r>
              <a:rPr lang="en-US" dirty="0" smtClean="0"/>
              <a:t>SLS2: </a:t>
            </a:r>
            <a:r>
              <a:rPr lang="en-US" dirty="0" err="1" smtClean="0"/>
              <a:t>Ax,y</a:t>
            </a:r>
            <a:r>
              <a:rPr lang="en-US" dirty="0" smtClean="0"/>
              <a:t> &lt; 4mm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7405971" y="3744000"/>
            <a:ext cx="1441420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All straights </a:t>
            </a:r>
          </a:p>
          <a:p>
            <a:r>
              <a:rPr lang="en-US" dirty="0" smtClean="0"/>
              <a:t>11m / 3m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390221"/>
              </p:ext>
            </p:extLst>
          </p:nvPr>
        </p:nvGraphicFramePr>
        <p:xfrm>
          <a:off x="972000" y="1396669"/>
          <a:ext cx="7286678" cy="4289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01">
                  <a:extLst>
                    <a:ext uri="{9D8B030D-6E8A-4147-A177-3AD203B41FA5}">
                      <a16:colId xmlns="" xmlns:a16="http://schemas.microsoft.com/office/drawing/2014/main" val="3030002639"/>
                    </a:ext>
                  </a:extLst>
                </a:gridCol>
                <a:gridCol w="1980000">
                  <a:extLst>
                    <a:ext uri="{9D8B030D-6E8A-4147-A177-3AD203B41FA5}">
                      <a16:colId xmlns="" xmlns:a16="http://schemas.microsoft.com/office/drawing/2014/main" val="1494168751"/>
                    </a:ext>
                  </a:extLst>
                </a:gridCol>
                <a:gridCol w="688331">
                  <a:extLst>
                    <a:ext uri="{9D8B030D-6E8A-4147-A177-3AD203B41FA5}">
                      <a16:colId xmlns="" xmlns:a16="http://schemas.microsoft.com/office/drawing/2014/main" val="3058922813"/>
                    </a:ext>
                  </a:extLst>
                </a:gridCol>
                <a:gridCol w="742741">
                  <a:extLst>
                    <a:ext uri="{9D8B030D-6E8A-4147-A177-3AD203B41FA5}">
                      <a16:colId xmlns="" xmlns:a16="http://schemas.microsoft.com/office/drawing/2014/main" val="643909583"/>
                    </a:ext>
                  </a:extLst>
                </a:gridCol>
                <a:gridCol w="813036">
                  <a:extLst>
                    <a:ext uri="{9D8B030D-6E8A-4147-A177-3AD203B41FA5}">
                      <a16:colId xmlns="" xmlns:a16="http://schemas.microsoft.com/office/drawing/2014/main" val="456351272"/>
                    </a:ext>
                  </a:extLst>
                </a:gridCol>
                <a:gridCol w="812704">
                  <a:extLst>
                    <a:ext uri="{9D8B030D-6E8A-4147-A177-3AD203B41FA5}">
                      <a16:colId xmlns="" xmlns:a16="http://schemas.microsoft.com/office/drawing/2014/main" val="1321654437"/>
                    </a:ext>
                  </a:extLst>
                </a:gridCol>
                <a:gridCol w="887680">
                  <a:extLst>
                    <a:ext uri="{9D8B030D-6E8A-4147-A177-3AD203B41FA5}">
                      <a16:colId xmlns="" xmlns:a16="http://schemas.microsoft.com/office/drawing/2014/main" val="1493365858"/>
                    </a:ext>
                  </a:extLst>
                </a:gridCol>
                <a:gridCol w="867185">
                  <a:extLst>
                    <a:ext uri="{9D8B030D-6E8A-4147-A177-3AD203B41FA5}">
                      <a16:colId xmlns="" xmlns:a16="http://schemas.microsoft.com/office/drawing/2014/main" val="2809212853"/>
                    </a:ext>
                  </a:extLst>
                </a:gridCol>
              </a:tblGrid>
              <a:tr h="637106"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Results for full lattices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[</a:t>
                      </a: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de-DE" dirty="0" smtClean="0">
                          <a:latin typeface="Symbol" panose="05050102010706020507" pitchFamily="18" charset="2"/>
                        </a:rPr>
                        <a:t>]</a:t>
                      </a:r>
                      <a:endParaRPr lang="en-US" dirty="0" smtClean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latin typeface="Symbol" panose="05050102010706020507" pitchFamily="18" charset="2"/>
                        </a:rPr>
                        <a:t>a</a:t>
                      </a:r>
                    </a:p>
                    <a:p>
                      <a:pPr algn="ctr"/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[e-4]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q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</a:t>
                      </a: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[m]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996505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solidFill>
                            <a:srgbClr val="00589C"/>
                          </a:solidFill>
                        </a:rPr>
                        <a:t>reference</a:t>
                      </a:r>
                      <a:endParaRPr lang="en-US" noProof="0" dirty="0">
                        <a:solidFill>
                          <a:srgbClr val="00589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105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0.14</a:t>
                      </a:r>
                      <a:endParaRPr lang="en-US" dirty="0" smtClean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-5.7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7.8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321.2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799588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1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h</a:t>
                      </a:r>
                      <a:r>
                        <a:rPr lang="en-US" noProof="0" dirty="0" smtClean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3388002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>
                          <a:latin typeface="Symbol" panose="05050102010706020507" pitchFamily="18" charset="2"/>
                        </a:rPr>
                        <a:t>2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noProof="0" dirty="0" smtClean="0"/>
                        <a:t>0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139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0.06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-3.9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-0.235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322.8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646504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3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+mj-lt"/>
                          <a:cs typeface="Arial" panose="020B0604020202020204" pitchFamily="34" charset="0"/>
                        </a:rPr>
                        <a:t>Increase L</a:t>
                      </a:r>
                      <a:endParaRPr lang="en-US" noProof="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4a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 L + 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134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1.01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318.8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05308020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</a:t>
                      </a:r>
                      <a:r>
                        <a:rPr lang="de-DE" noProof="0" dirty="0" smtClean="0"/>
                        <a:t> L (+LG)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-5.6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338.8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5532795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0.12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-6.3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5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Displaced QF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135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0.62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-6.0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-8.4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-0.095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5691223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0.14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-6.1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-7.7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-0.215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 smtClean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lattice combining options 3</a:t>
            </a:r>
            <a:r>
              <a:rPr lang="en-US" sz="1800" dirty="0" smtClean="0"/>
              <a:t> </a:t>
            </a:r>
            <a:r>
              <a:rPr lang="en-US" sz="1800" dirty="0"/>
              <a:t>and 5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33</a:t>
            </a:fld>
            <a:endParaRPr lang="de-DE" altLang="en-US"/>
          </a:p>
        </p:txBody>
      </p:sp>
      <p:sp>
        <p:nvSpPr>
          <p:cNvPr id="7" name="Ellipse 6"/>
          <p:cNvSpPr/>
          <p:nvPr/>
        </p:nvSpPr>
        <p:spPr>
          <a:xfrm>
            <a:off x="747000" y="5229000"/>
            <a:ext cx="7965000" cy="58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/>
          <p:cNvSpPr/>
          <p:nvPr/>
        </p:nvSpPr>
        <p:spPr>
          <a:xfrm>
            <a:off x="630000" y="3159000"/>
            <a:ext cx="7947000" cy="58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3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59" y="166540"/>
            <a:ext cx="8229600" cy="439738"/>
          </a:xfrm>
        </p:spPr>
        <p:txBody>
          <a:bodyPr/>
          <a:lstStyle/>
          <a:p>
            <a:r>
              <a:rPr lang="en-US" sz="1800" dirty="0" smtClean="0"/>
              <a:t>lattice combining options 3 and 5 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A576645-5E5F-4892-A2AA-3F784726F915}" type="slidenum">
              <a:rPr lang="de-DE" altLang="en-US" smtClean="0"/>
              <a:pPr/>
              <a:t>34</a:t>
            </a:fld>
            <a:endParaRPr lang="de-DE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42302" y="729000"/>
            <a:ext cx="759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5-bend  MBA with 20 straight </a:t>
            </a:r>
            <a:r>
              <a:rPr lang="en-US" dirty="0"/>
              <a:t>sections, </a:t>
            </a:r>
            <a:r>
              <a:rPr lang="en-US" dirty="0" smtClean="0"/>
              <a:t>long bend and displaced </a:t>
            </a:r>
            <a:r>
              <a:rPr lang="en-US" dirty="0"/>
              <a:t>QF (RB)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8001" y="4740731"/>
            <a:ext cx="2790001" cy="21082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Input </a:t>
            </a:r>
            <a:r>
              <a:rPr lang="en-US" sz="1400" b="1" dirty="0"/>
              <a:t>(</a:t>
            </a:r>
            <a:r>
              <a:rPr lang="en-US" sz="1400" b="1" dirty="0" smtClean="0"/>
              <a:t>MBA-cell):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Half length dipole:   </a:t>
            </a:r>
            <a:r>
              <a:rPr lang="en-US" sz="1400" dirty="0" smtClean="0"/>
              <a:t>40cm</a:t>
            </a:r>
          </a:p>
          <a:p>
            <a:pPr>
              <a:spcBef>
                <a:spcPts val="0"/>
              </a:spcBef>
            </a:pPr>
            <a:r>
              <a:rPr lang="en-US" sz="1400" dirty="0" smtClean="0"/>
              <a:t>Half angle dipole:  2.22°, 0.81T</a:t>
            </a:r>
          </a:p>
          <a:p>
            <a:pPr>
              <a:spcBef>
                <a:spcPts val="0"/>
              </a:spcBef>
            </a:pPr>
            <a:r>
              <a:rPr lang="en-US" sz="1400" dirty="0" smtClean="0"/>
              <a:t>Displaced QF: 12cm</a:t>
            </a:r>
          </a:p>
          <a:p>
            <a:pPr lvl="1">
              <a:spcBef>
                <a:spcPts val="0"/>
              </a:spcBef>
            </a:pPr>
            <a:r>
              <a:rPr lang="en-US" sz="1400" dirty="0" smtClean="0"/>
              <a:t>K=11.4, 95T/m</a:t>
            </a:r>
          </a:p>
          <a:p>
            <a:pPr lvl="1">
              <a:spcBef>
                <a:spcPts val="0"/>
              </a:spcBef>
            </a:pPr>
            <a:r>
              <a:rPr lang="en-US" sz="1400" dirty="0"/>
              <a:t>-0.125</a:t>
            </a:r>
            <a:r>
              <a:rPr lang="en-US" sz="1400" dirty="0" smtClean="0"/>
              <a:t>°, </a:t>
            </a:r>
            <a:r>
              <a:rPr lang="en-US" sz="1400" dirty="0" smtClean="0">
                <a:latin typeface="Symbol" panose="05050102010706020507" pitchFamily="18" charset="2"/>
              </a:rPr>
              <a:t>D</a:t>
            </a:r>
            <a:r>
              <a:rPr lang="en-US" sz="1400" dirty="0" smtClean="0"/>
              <a:t>x~1.6mm</a:t>
            </a:r>
          </a:p>
          <a:p>
            <a:r>
              <a:rPr lang="en-US" sz="1400" dirty="0" err="1" smtClean="0">
                <a:latin typeface="Symbol" panose="05050102010706020507" pitchFamily="18" charset="2"/>
              </a:rPr>
              <a:t>b</a:t>
            </a:r>
            <a:r>
              <a:rPr lang="en-US" sz="1400" dirty="0" err="1" smtClean="0"/>
              <a:t>x</a:t>
            </a:r>
            <a:r>
              <a:rPr lang="en-US" sz="1400" dirty="0" smtClean="0"/>
              <a:t> = 0.103m</a:t>
            </a:r>
          </a:p>
          <a:p>
            <a:r>
              <a:rPr lang="en-US" sz="1400" dirty="0" smtClean="0">
                <a:latin typeface="Symbol" panose="05050102010706020507" pitchFamily="18" charset="2"/>
              </a:rPr>
              <a:t>b</a:t>
            </a:r>
            <a:r>
              <a:rPr lang="en-US" sz="1400" dirty="0" smtClean="0"/>
              <a:t>y =12m</a:t>
            </a:r>
          </a:p>
          <a:p>
            <a:r>
              <a:rPr lang="en-US" sz="1400" dirty="0" smtClean="0">
                <a:latin typeface="Symbol" panose="05050102010706020507" pitchFamily="18" charset="2"/>
              </a:rPr>
              <a:t>h</a:t>
            </a:r>
            <a:r>
              <a:rPr lang="en-US" sz="1400" dirty="0" smtClean="0"/>
              <a:t> = 0.0058m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0" y="1098333"/>
            <a:ext cx="8955000" cy="3545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18"/>
          <p:cNvSpPr txBox="1">
            <a:spLocks noChangeArrowheads="1"/>
          </p:cNvSpPr>
          <p:nvPr/>
        </p:nvSpPr>
        <p:spPr bwMode="auto">
          <a:xfrm>
            <a:off x="2951999" y="5049000"/>
            <a:ext cx="5985001" cy="12003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rgbClr val="FFC000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  = 120pm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53.25	</a:t>
            </a:r>
            <a:r>
              <a:rPr lang="en-US" altLang="en-US" sz="1800" b="0" dirty="0" err="1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11.35</a:t>
            </a: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Symbol"/>
              <a:buChar char="a"/>
            </a:pP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= 1.00e-4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-233	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-71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C  = 321.5m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>
                <a:solidFill>
                  <a:srgbClr val="FFC000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rgbClr val="FFC000"/>
                </a:solidFill>
                <a:latin typeface="Cambria Math" panose="02040503050406030204" pitchFamily="18" charset="0"/>
              </a:rPr>
              <a:t>x </a:t>
            </a:r>
            <a:r>
              <a:rPr lang="en-US" altLang="en-US" sz="1800" b="0" dirty="0">
                <a:solidFill>
                  <a:srgbClr val="FFC000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>
                <a:solidFill>
                  <a:srgbClr val="FFC000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>
                <a:solidFill>
                  <a:srgbClr val="FFC000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~-4.4 	</a:t>
            </a:r>
            <a:r>
              <a:rPr lang="en-US" altLang="en-US" sz="1800" b="0" dirty="0">
                <a:solidFill>
                  <a:srgbClr val="FFC000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rgbClr val="FFC000"/>
                </a:solidFill>
                <a:latin typeface="Cambria Math" panose="02040503050406030204" pitchFamily="18" charset="0"/>
              </a:rPr>
              <a:t>y </a:t>
            </a:r>
            <a:r>
              <a:rPr lang="en-US" altLang="en-US" sz="1800" b="0" dirty="0">
                <a:solidFill>
                  <a:srgbClr val="FFC000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>
                <a:solidFill>
                  <a:srgbClr val="FFC000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>
                <a:solidFill>
                  <a:srgbClr val="FFC000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~-6.3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L  = 16.08m 		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endParaRPr lang="en-US" altLang="en-US" sz="1800" b="0" dirty="0" smtClean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132000" y="6399000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=&gt; as close to separated function as possible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68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lattice combining options 3</a:t>
            </a:r>
            <a:r>
              <a:rPr lang="en-US" sz="1800" dirty="0" smtClean="0"/>
              <a:t> </a:t>
            </a:r>
            <a:r>
              <a:rPr lang="en-US" sz="1800" dirty="0"/>
              <a:t>and 5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35</a:t>
            </a:fld>
            <a:endParaRPr lang="de-DE" altLang="en-US"/>
          </a:p>
        </p:txBody>
      </p:sp>
      <p:sp>
        <p:nvSpPr>
          <p:cNvPr id="8" name="TextBox 6"/>
          <p:cNvSpPr txBox="1"/>
          <p:nvPr/>
        </p:nvSpPr>
        <p:spPr>
          <a:xfrm>
            <a:off x="477000" y="729000"/>
            <a:ext cx="462601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Dynamic Aperture – stage 0 – 1000 turns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Qx</a:t>
            </a:r>
            <a:r>
              <a:rPr lang="en-US" dirty="0" smtClean="0"/>
              <a:t>=53.25, 11.35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Chromaticity tuned to 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Symbol" panose="05050102010706020507" pitchFamily="18" charset="2"/>
              </a:rPr>
              <a:t>b</a:t>
            </a:r>
            <a:r>
              <a:rPr lang="en-US" dirty="0" err="1" smtClean="0"/>
              <a:t>x</a:t>
            </a:r>
            <a:r>
              <a:rPr lang="en-US" dirty="0" smtClean="0"/>
              <a:t> = </a:t>
            </a:r>
            <a:r>
              <a:rPr lang="en-US" dirty="0" smtClean="0">
                <a:latin typeface="Symbol" panose="05050102010706020507" pitchFamily="18" charset="2"/>
              </a:rPr>
              <a:t>b</a:t>
            </a:r>
            <a:r>
              <a:rPr lang="en-US" dirty="0" smtClean="0"/>
              <a:t>y = 1.5m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6 SX </a:t>
            </a:r>
            <a:r>
              <a:rPr lang="en-US" altLang="en-US" dirty="0" smtClean="0"/>
              <a:t>families: 	SD/SF </a:t>
            </a:r>
            <a:r>
              <a:rPr lang="en-US" altLang="en-US" dirty="0"/>
              <a:t>in MBA </a:t>
            </a:r>
            <a:r>
              <a:rPr lang="en-US" altLang="en-US" dirty="0" smtClean="0"/>
              <a:t>cell </a:t>
            </a:r>
          </a:p>
          <a:p>
            <a:pPr lvl="4"/>
            <a:r>
              <a:rPr lang="en-US" altLang="en-US" dirty="0" smtClean="0"/>
              <a:t>SD/SF </a:t>
            </a:r>
            <a:r>
              <a:rPr lang="en-US" altLang="en-US" dirty="0"/>
              <a:t>in matching </a:t>
            </a:r>
            <a:r>
              <a:rPr lang="en-US" altLang="en-US" dirty="0" smtClean="0"/>
              <a:t>cell</a:t>
            </a:r>
          </a:p>
          <a:p>
            <a:pPr lvl="4"/>
            <a:r>
              <a:rPr lang="en-US" altLang="en-US" dirty="0" smtClean="0"/>
              <a:t>S3,S4 </a:t>
            </a:r>
            <a:r>
              <a:rPr lang="en-US" altLang="en-US" dirty="0"/>
              <a:t>in straight section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OPA – optimization tune shift terms</a:t>
            </a:r>
          </a:p>
          <a:p>
            <a:r>
              <a:rPr lang="en-US" dirty="0" smtClean="0"/>
              <a:t>=&gt; Promising start for optimization</a:t>
            </a:r>
            <a:endParaRPr lang="en-US" dirty="0"/>
          </a:p>
        </p:txBody>
      </p:sp>
      <p:sp>
        <p:nvSpPr>
          <p:cNvPr id="9" name="TextBox 2"/>
          <p:cNvSpPr txBox="1"/>
          <p:nvPr/>
        </p:nvSpPr>
        <p:spPr>
          <a:xfrm>
            <a:off x="2457000" y="3987773"/>
            <a:ext cx="1736373" cy="1461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@</a:t>
            </a:r>
            <a:r>
              <a:rPr lang="en-US" dirty="0"/>
              <a:t> center of </a:t>
            </a:r>
            <a:endParaRPr lang="en-US" dirty="0" smtClean="0"/>
          </a:p>
          <a:p>
            <a:r>
              <a:rPr lang="en-US" dirty="0" smtClean="0"/>
              <a:t>straight section</a:t>
            </a:r>
            <a:endParaRPr lang="de-DE" dirty="0"/>
          </a:p>
          <a:p>
            <a:pPr>
              <a:spcBef>
                <a:spcPts val="600"/>
              </a:spcBef>
            </a:pPr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x</a:t>
            </a:r>
            <a:r>
              <a:rPr lang="de-DE" baseline="-25000" dirty="0" smtClean="0"/>
              <a:t> </a:t>
            </a:r>
            <a:r>
              <a:rPr lang="de-DE" dirty="0" smtClean="0"/>
              <a:t>= 1.5m</a:t>
            </a:r>
          </a:p>
          <a:p>
            <a:r>
              <a:rPr lang="de-DE" dirty="0" err="1" smtClean="0">
                <a:latin typeface="Symbol" panose="05050102010706020507" pitchFamily="18" charset="2"/>
              </a:rPr>
              <a:t>b</a:t>
            </a:r>
            <a:r>
              <a:rPr lang="de-DE" baseline="-25000" dirty="0" err="1" smtClean="0"/>
              <a:t>y</a:t>
            </a:r>
            <a:r>
              <a:rPr lang="de-DE" baseline="-25000" dirty="0" smtClean="0"/>
              <a:t> </a:t>
            </a:r>
            <a:r>
              <a:rPr lang="de-DE" dirty="0"/>
              <a:t>= </a:t>
            </a:r>
            <a:r>
              <a:rPr lang="de-DE" dirty="0" smtClean="0"/>
              <a:t>1.5m</a:t>
            </a:r>
            <a:endParaRPr lang="en-US" baseline="-25000" dirty="0"/>
          </a:p>
          <a:p>
            <a:endParaRPr lang="en-US" baseline="-25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38458"/>
            <a:ext cx="3869999" cy="3240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974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101345"/>
              </p:ext>
            </p:extLst>
          </p:nvPr>
        </p:nvGraphicFramePr>
        <p:xfrm>
          <a:off x="892661" y="1314000"/>
          <a:ext cx="7286678" cy="4289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01">
                  <a:extLst>
                    <a:ext uri="{9D8B030D-6E8A-4147-A177-3AD203B41FA5}">
                      <a16:colId xmlns="" xmlns:a16="http://schemas.microsoft.com/office/drawing/2014/main" val="3030002639"/>
                    </a:ext>
                  </a:extLst>
                </a:gridCol>
                <a:gridCol w="1980000">
                  <a:extLst>
                    <a:ext uri="{9D8B030D-6E8A-4147-A177-3AD203B41FA5}">
                      <a16:colId xmlns="" xmlns:a16="http://schemas.microsoft.com/office/drawing/2014/main" val="1494168751"/>
                    </a:ext>
                  </a:extLst>
                </a:gridCol>
                <a:gridCol w="688331">
                  <a:extLst>
                    <a:ext uri="{9D8B030D-6E8A-4147-A177-3AD203B41FA5}">
                      <a16:colId xmlns="" xmlns:a16="http://schemas.microsoft.com/office/drawing/2014/main" val="3058922813"/>
                    </a:ext>
                  </a:extLst>
                </a:gridCol>
                <a:gridCol w="742741">
                  <a:extLst>
                    <a:ext uri="{9D8B030D-6E8A-4147-A177-3AD203B41FA5}">
                      <a16:colId xmlns="" xmlns:a16="http://schemas.microsoft.com/office/drawing/2014/main" val="643909583"/>
                    </a:ext>
                  </a:extLst>
                </a:gridCol>
                <a:gridCol w="813036">
                  <a:extLst>
                    <a:ext uri="{9D8B030D-6E8A-4147-A177-3AD203B41FA5}">
                      <a16:colId xmlns="" xmlns:a16="http://schemas.microsoft.com/office/drawing/2014/main" val="456351272"/>
                    </a:ext>
                  </a:extLst>
                </a:gridCol>
                <a:gridCol w="812704">
                  <a:extLst>
                    <a:ext uri="{9D8B030D-6E8A-4147-A177-3AD203B41FA5}">
                      <a16:colId xmlns="" xmlns:a16="http://schemas.microsoft.com/office/drawing/2014/main" val="1321654437"/>
                    </a:ext>
                  </a:extLst>
                </a:gridCol>
                <a:gridCol w="887680">
                  <a:extLst>
                    <a:ext uri="{9D8B030D-6E8A-4147-A177-3AD203B41FA5}">
                      <a16:colId xmlns="" xmlns:a16="http://schemas.microsoft.com/office/drawing/2014/main" val="1493365858"/>
                    </a:ext>
                  </a:extLst>
                </a:gridCol>
                <a:gridCol w="867185">
                  <a:extLst>
                    <a:ext uri="{9D8B030D-6E8A-4147-A177-3AD203B41FA5}">
                      <a16:colId xmlns="" xmlns:a16="http://schemas.microsoft.com/office/drawing/2014/main" val="2809212853"/>
                    </a:ext>
                  </a:extLst>
                </a:gridCol>
              </a:tblGrid>
              <a:tr h="637106"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Results for full lattices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[</a:t>
                      </a: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de-DE" dirty="0" smtClean="0">
                          <a:latin typeface="Symbol" panose="05050102010706020507" pitchFamily="18" charset="2"/>
                        </a:rPr>
                        <a:t>]</a:t>
                      </a:r>
                      <a:endParaRPr lang="en-US" dirty="0" smtClean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latin typeface="Symbol" panose="05050102010706020507" pitchFamily="18" charset="2"/>
                        </a:rPr>
                        <a:t>a</a:t>
                      </a:r>
                    </a:p>
                    <a:p>
                      <a:pPr algn="ctr"/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[e-4]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q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</a:t>
                      </a: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[m]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996505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solidFill>
                            <a:srgbClr val="00589C"/>
                          </a:solidFill>
                        </a:rPr>
                        <a:t>reference</a:t>
                      </a:r>
                      <a:endParaRPr lang="en-US" noProof="0" dirty="0">
                        <a:solidFill>
                          <a:srgbClr val="00589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105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0.14</a:t>
                      </a:r>
                      <a:endParaRPr lang="en-US" dirty="0" smtClean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-5.7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7.8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321.2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799588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1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h</a:t>
                      </a:r>
                      <a:r>
                        <a:rPr lang="en-US" noProof="0" dirty="0" smtClean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3388002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>
                          <a:latin typeface="Symbol" panose="05050102010706020507" pitchFamily="18" charset="2"/>
                        </a:rPr>
                        <a:t>2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noProof="0" dirty="0" smtClean="0"/>
                        <a:t>0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139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0.06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-3.9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-0.235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322.8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646504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3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+mj-lt"/>
                          <a:cs typeface="Arial" panose="020B0604020202020204" pitchFamily="34" charset="0"/>
                        </a:rPr>
                        <a:t>Increase L</a:t>
                      </a:r>
                      <a:endParaRPr lang="en-US" noProof="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4a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 L + 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134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1.01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318.8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05308020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</a:t>
                      </a:r>
                      <a:r>
                        <a:rPr lang="de-DE" noProof="0" dirty="0" smtClean="0"/>
                        <a:t> L (+LG)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-5.6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338.8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5532795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0.12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-6.3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5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Displaced QF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135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0.62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-6.0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-8.4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-0.095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5691223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0.14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-6.1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-7.7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-0.215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 smtClean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lattice combining options </a:t>
            </a:r>
            <a:r>
              <a:rPr lang="en-US" sz="1800" dirty="0" smtClean="0"/>
              <a:t>4b </a:t>
            </a:r>
            <a:r>
              <a:rPr lang="en-US" sz="1800" dirty="0"/>
              <a:t>and 5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36</a:t>
            </a:fld>
            <a:endParaRPr lang="de-DE" altLang="en-US"/>
          </a:p>
        </p:txBody>
      </p:sp>
      <p:sp>
        <p:nvSpPr>
          <p:cNvPr id="7" name="Ellipse 6"/>
          <p:cNvSpPr/>
          <p:nvPr/>
        </p:nvSpPr>
        <p:spPr>
          <a:xfrm>
            <a:off x="612000" y="5139000"/>
            <a:ext cx="7920000" cy="49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/>
          <p:cNvSpPr/>
          <p:nvPr/>
        </p:nvSpPr>
        <p:spPr>
          <a:xfrm>
            <a:off x="585000" y="3924000"/>
            <a:ext cx="7902000" cy="49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/>
          <p:cNvSpPr txBox="1"/>
          <p:nvPr/>
        </p:nvSpPr>
        <p:spPr>
          <a:xfrm>
            <a:off x="1062000" y="5769000"/>
            <a:ext cx="426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 successful: </a:t>
            </a:r>
            <a:r>
              <a:rPr lang="en-US" altLang="en-US" dirty="0">
                <a:latin typeface="Symbol" panose="05050102010706020507" pitchFamily="18" charset="2"/>
              </a:rPr>
              <a:t>e</a:t>
            </a:r>
            <a:r>
              <a:rPr lang="en-US" altLang="en-US" dirty="0">
                <a:latin typeface="Cambria Math" panose="02040503050406030204" pitchFamily="18" charset="0"/>
              </a:rPr>
              <a:t>  = </a:t>
            </a:r>
            <a:r>
              <a:rPr lang="en-US" altLang="en-US" dirty="0" smtClean="0">
                <a:latin typeface="Cambria Math" panose="02040503050406030204" pitchFamily="18" charset="0"/>
              </a:rPr>
              <a:t>144pm , </a:t>
            </a:r>
            <a:r>
              <a:rPr lang="en-US" altLang="en-US" dirty="0" smtClean="0">
                <a:latin typeface="Symbol" panose="05050102010706020507" pitchFamily="18" charset="2"/>
              </a:rPr>
              <a:t>a</a:t>
            </a:r>
            <a:r>
              <a:rPr lang="en-US" altLang="en-US" dirty="0" smtClean="0">
                <a:latin typeface="Cambria Math" panose="02040503050406030204" pitchFamily="18" charset="0"/>
              </a:rPr>
              <a:t>= 1.04e-4 </a:t>
            </a:r>
          </a:p>
        </p:txBody>
      </p:sp>
    </p:spTree>
    <p:extLst>
      <p:ext uri="{BB962C8B-B14F-4D97-AF65-F5344CB8AC3E}">
        <p14:creationId xmlns:p14="http://schemas.microsoft.com/office/powerpoint/2010/main" val="263125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11064"/>
              </p:ext>
            </p:extLst>
          </p:nvPr>
        </p:nvGraphicFramePr>
        <p:xfrm>
          <a:off x="892661" y="1314000"/>
          <a:ext cx="7286678" cy="4289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01">
                  <a:extLst>
                    <a:ext uri="{9D8B030D-6E8A-4147-A177-3AD203B41FA5}">
                      <a16:colId xmlns="" xmlns:a16="http://schemas.microsoft.com/office/drawing/2014/main" val="3030002639"/>
                    </a:ext>
                  </a:extLst>
                </a:gridCol>
                <a:gridCol w="1980000">
                  <a:extLst>
                    <a:ext uri="{9D8B030D-6E8A-4147-A177-3AD203B41FA5}">
                      <a16:colId xmlns="" xmlns:a16="http://schemas.microsoft.com/office/drawing/2014/main" val="1494168751"/>
                    </a:ext>
                  </a:extLst>
                </a:gridCol>
                <a:gridCol w="688331">
                  <a:extLst>
                    <a:ext uri="{9D8B030D-6E8A-4147-A177-3AD203B41FA5}">
                      <a16:colId xmlns="" xmlns:a16="http://schemas.microsoft.com/office/drawing/2014/main" val="3058922813"/>
                    </a:ext>
                  </a:extLst>
                </a:gridCol>
                <a:gridCol w="742741">
                  <a:extLst>
                    <a:ext uri="{9D8B030D-6E8A-4147-A177-3AD203B41FA5}">
                      <a16:colId xmlns="" xmlns:a16="http://schemas.microsoft.com/office/drawing/2014/main" val="643909583"/>
                    </a:ext>
                  </a:extLst>
                </a:gridCol>
                <a:gridCol w="813036">
                  <a:extLst>
                    <a:ext uri="{9D8B030D-6E8A-4147-A177-3AD203B41FA5}">
                      <a16:colId xmlns="" xmlns:a16="http://schemas.microsoft.com/office/drawing/2014/main" val="456351272"/>
                    </a:ext>
                  </a:extLst>
                </a:gridCol>
                <a:gridCol w="812704">
                  <a:extLst>
                    <a:ext uri="{9D8B030D-6E8A-4147-A177-3AD203B41FA5}">
                      <a16:colId xmlns="" xmlns:a16="http://schemas.microsoft.com/office/drawing/2014/main" val="1321654437"/>
                    </a:ext>
                  </a:extLst>
                </a:gridCol>
                <a:gridCol w="887680">
                  <a:extLst>
                    <a:ext uri="{9D8B030D-6E8A-4147-A177-3AD203B41FA5}">
                      <a16:colId xmlns="" xmlns:a16="http://schemas.microsoft.com/office/drawing/2014/main" val="1493365858"/>
                    </a:ext>
                  </a:extLst>
                </a:gridCol>
                <a:gridCol w="867185">
                  <a:extLst>
                    <a:ext uri="{9D8B030D-6E8A-4147-A177-3AD203B41FA5}">
                      <a16:colId xmlns="" xmlns:a16="http://schemas.microsoft.com/office/drawing/2014/main" val="2809212853"/>
                    </a:ext>
                  </a:extLst>
                </a:gridCol>
              </a:tblGrid>
              <a:tr h="637106"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Results for full lattices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[</a:t>
                      </a: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de-DE" dirty="0" smtClean="0">
                          <a:latin typeface="Symbol" panose="05050102010706020507" pitchFamily="18" charset="2"/>
                        </a:rPr>
                        <a:t>]</a:t>
                      </a:r>
                      <a:endParaRPr lang="en-US" dirty="0" smtClean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latin typeface="Symbol" panose="05050102010706020507" pitchFamily="18" charset="2"/>
                        </a:rPr>
                        <a:t>a</a:t>
                      </a:r>
                    </a:p>
                    <a:p>
                      <a:pPr algn="ctr"/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[e-4]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x/</a:t>
                      </a:r>
                      <a:r>
                        <a:rPr lang="de-DE" baseline="0" dirty="0" smtClean="0">
                          <a:latin typeface="Symbol" panose="05050102010706020507" pitchFamily="18" charset="2"/>
                        </a:rPr>
                        <a:t> </a:t>
                      </a: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q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</a:t>
                      </a: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[m]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996505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solidFill>
                            <a:srgbClr val="00589C"/>
                          </a:solidFill>
                        </a:rPr>
                        <a:t>reference</a:t>
                      </a:r>
                      <a:endParaRPr lang="en-US" noProof="0" dirty="0">
                        <a:solidFill>
                          <a:srgbClr val="00589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105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0.14</a:t>
                      </a:r>
                      <a:endParaRPr lang="en-US" dirty="0" smtClean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-5.7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7.8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321.2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799588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1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h</a:t>
                      </a:r>
                      <a:r>
                        <a:rPr lang="en-US" noProof="0" dirty="0" smtClean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-0.110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3388002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>
                          <a:latin typeface="Symbol" panose="05050102010706020507" pitchFamily="18" charset="2"/>
                        </a:rPr>
                        <a:t>2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Relax </a:t>
                      </a:r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noProof="0" dirty="0" smtClean="0"/>
                        <a:t>0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139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0.06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-3.9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-0.235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322.8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646504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3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+mj-lt"/>
                          <a:cs typeface="Arial" panose="020B0604020202020204" pitchFamily="34" charset="0"/>
                        </a:rPr>
                        <a:t>Increase L</a:t>
                      </a:r>
                      <a:endParaRPr lang="en-US" noProof="0" dirty="0"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135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4a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 L + 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134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1.01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-3.4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-0.205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318.8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05308020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Increase</a:t>
                      </a:r>
                      <a:r>
                        <a:rPr lang="de-DE" noProof="0" dirty="0" smtClean="0"/>
                        <a:t> L (+LG)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0.74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-5.6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-0.165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338.8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5532795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0.12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-4.6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</a:rPr>
                        <a:t>-6.3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-0.265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339.6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5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Displaced QF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  <a:cs typeface="Arial" panose="020B0604020202020204" pitchFamily="34" charset="0"/>
                        </a:rPr>
                        <a:t>135</a:t>
                      </a:r>
                      <a:endParaRPr lang="en-US" dirty="0" smtClean="0">
                        <a:solidFill>
                          <a:srgbClr val="FF0000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0.62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-6.0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FF0000"/>
                          </a:solidFill>
                          <a:latin typeface="+mn-lt"/>
                        </a:rPr>
                        <a:t>-8.4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-0.095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56912233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00B050"/>
                          </a:solidFill>
                          <a:latin typeface="+mn-lt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0.14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+mn-lt"/>
                        </a:rPr>
                        <a:t>-6.1</a:t>
                      </a:r>
                      <a:endParaRPr lang="en-US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-7.7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-0.215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B050"/>
                          </a:solidFill>
                          <a:latin typeface="+mn-lt"/>
                        </a:rPr>
                        <a:t>304.0</a:t>
                      </a:r>
                      <a:endParaRPr lang="en-US" dirty="0" smtClean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lattice combining options </a:t>
            </a:r>
            <a:r>
              <a:rPr lang="en-US" sz="1800" dirty="0" smtClean="0"/>
              <a:t>4A and 4b 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37</a:t>
            </a:fld>
            <a:endParaRPr lang="de-DE" altLang="en-US"/>
          </a:p>
        </p:txBody>
      </p:sp>
      <p:sp>
        <p:nvSpPr>
          <p:cNvPr id="7" name="Ellipse 6"/>
          <p:cNvSpPr/>
          <p:nvPr/>
        </p:nvSpPr>
        <p:spPr>
          <a:xfrm>
            <a:off x="612000" y="3474000"/>
            <a:ext cx="7920000" cy="49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/>
          <p:cNvSpPr/>
          <p:nvPr/>
        </p:nvSpPr>
        <p:spPr>
          <a:xfrm>
            <a:off x="585000" y="3924000"/>
            <a:ext cx="7902000" cy="49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/>
          <p:cNvSpPr txBox="1"/>
          <p:nvPr/>
        </p:nvSpPr>
        <p:spPr>
          <a:xfrm>
            <a:off x="1062000" y="5769000"/>
            <a:ext cx="426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 successful: </a:t>
            </a:r>
            <a:r>
              <a:rPr lang="en-US" altLang="en-US" dirty="0">
                <a:latin typeface="Symbol" panose="05050102010706020507" pitchFamily="18" charset="2"/>
              </a:rPr>
              <a:t>e</a:t>
            </a:r>
            <a:r>
              <a:rPr lang="en-US" altLang="en-US" dirty="0">
                <a:latin typeface="Cambria Math" panose="02040503050406030204" pitchFamily="18" charset="0"/>
              </a:rPr>
              <a:t>  = </a:t>
            </a:r>
            <a:r>
              <a:rPr lang="en-US" altLang="en-US" dirty="0" smtClean="0">
                <a:latin typeface="Cambria Math" panose="02040503050406030204" pitchFamily="18" charset="0"/>
              </a:rPr>
              <a:t>151pm , </a:t>
            </a:r>
            <a:r>
              <a:rPr lang="en-US" altLang="en-US" dirty="0" smtClean="0">
                <a:latin typeface="Symbol" panose="05050102010706020507" pitchFamily="18" charset="2"/>
              </a:rPr>
              <a:t>a</a:t>
            </a:r>
            <a:r>
              <a:rPr lang="en-US" altLang="en-US" dirty="0" smtClean="0">
                <a:latin typeface="Cambria Math" panose="02040503050406030204" pitchFamily="18" charset="0"/>
              </a:rPr>
              <a:t>= 1.04e-4 </a:t>
            </a:r>
          </a:p>
        </p:txBody>
      </p:sp>
    </p:spTree>
    <p:extLst>
      <p:ext uri="{BB962C8B-B14F-4D97-AF65-F5344CB8AC3E}">
        <p14:creationId xmlns:p14="http://schemas.microsoft.com/office/powerpoint/2010/main" val="91595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38</a:t>
            </a:fld>
            <a:endParaRPr lang="de-DE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0" y="1203450"/>
            <a:ext cx="9017659" cy="344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905059" y="166540"/>
            <a:ext cx="82296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 cap="all" baseline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1800" smtClean="0"/>
              <a:t>lattice combining options 4a and 5 </a:t>
            </a:r>
            <a:endParaRPr lang="en-US" sz="1800" dirty="0"/>
          </a:p>
        </p:txBody>
      </p:sp>
      <p:sp>
        <p:nvSpPr>
          <p:cNvPr id="8" name="TextBox 8"/>
          <p:cNvSpPr txBox="1"/>
          <p:nvPr/>
        </p:nvSpPr>
        <p:spPr>
          <a:xfrm>
            <a:off x="442302" y="594000"/>
            <a:ext cx="8221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5-bend MBA with 20 straight </a:t>
            </a:r>
            <a:r>
              <a:rPr lang="en-US" dirty="0"/>
              <a:t>sections, </a:t>
            </a:r>
            <a:r>
              <a:rPr lang="en-US" dirty="0" smtClean="0"/>
              <a:t>TG in main bend and displaced QF (RB)</a:t>
            </a:r>
          </a:p>
          <a:p>
            <a:r>
              <a:rPr lang="en-US" i="1" dirty="0" smtClean="0"/>
              <a:t>+ space for vacuum and adjusted sextupole </a:t>
            </a:r>
            <a:r>
              <a:rPr lang="en-US" i="1" dirty="0"/>
              <a:t>length </a:t>
            </a:r>
          </a:p>
        </p:txBody>
      </p:sp>
      <p:sp>
        <p:nvSpPr>
          <p:cNvPr id="6" name="Pfeil nach oben 5"/>
          <p:cNvSpPr/>
          <p:nvPr/>
        </p:nvSpPr>
        <p:spPr>
          <a:xfrm>
            <a:off x="2727000" y="4644000"/>
            <a:ext cx="135000" cy="4050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feil nach oben 9"/>
          <p:cNvSpPr/>
          <p:nvPr/>
        </p:nvSpPr>
        <p:spPr>
          <a:xfrm>
            <a:off x="3987000" y="4644000"/>
            <a:ext cx="135000" cy="4050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feil nach oben 10"/>
          <p:cNvSpPr/>
          <p:nvPr/>
        </p:nvSpPr>
        <p:spPr>
          <a:xfrm>
            <a:off x="4932000" y="4644000"/>
            <a:ext cx="135000" cy="4050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feil nach oben 11"/>
          <p:cNvSpPr/>
          <p:nvPr/>
        </p:nvSpPr>
        <p:spPr>
          <a:xfrm>
            <a:off x="6147000" y="4644000"/>
            <a:ext cx="135000" cy="4050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feld 18"/>
          <p:cNvSpPr txBox="1">
            <a:spLocks noChangeArrowheads="1"/>
          </p:cNvSpPr>
          <p:nvPr/>
        </p:nvSpPr>
        <p:spPr bwMode="auto">
          <a:xfrm>
            <a:off x="3492000" y="5544000"/>
            <a:ext cx="5238818" cy="92333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ts val="2800"/>
              </a:lnSpc>
              <a:spcBef>
                <a:spcPct val="20000"/>
              </a:spcBef>
              <a:buFont typeface="Arial" panose="020B0604020202020204" pitchFamily="34" charset="0"/>
              <a:defRPr sz="2100" b="1">
                <a:solidFill>
                  <a:srgbClr val="00589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169988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rgbClr val="00FF00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  = 104pm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 err="1" smtClean="0">
                <a:solidFill>
                  <a:schemeClr val="tx1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 = 52.25	</a:t>
            </a:r>
            <a:r>
              <a:rPr lang="en-US" altLang="en-US" sz="1800" b="0" dirty="0" err="1">
                <a:solidFill>
                  <a:schemeClr val="tx1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16.35</a:t>
            </a: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buFont typeface="Symbol"/>
              <a:buChar char="a"/>
            </a:pP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= 1.04e-4 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x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-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176		𝜉</a:t>
            </a:r>
            <a:r>
              <a:rPr lang="en-US" altLang="en-US" sz="1800" b="0" baseline="-25000" dirty="0">
                <a:solidFill>
                  <a:schemeClr val="tx1"/>
                </a:solidFill>
                <a:latin typeface="Cambria Math" panose="02040503050406030204" pitchFamily="18" charset="0"/>
              </a:rPr>
              <a:t>y</a:t>
            </a:r>
            <a:r>
              <a:rPr lang="en-US" altLang="en-US" sz="1800" b="0" dirty="0">
                <a:solidFill>
                  <a:schemeClr val="tx1"/>
                </a:solidFill>
                <a:latin typeface="Cambria Math" panose="02040503050406030204" pitchFamily="18" charset="0"/>
              </a:rPr>
              <a:t> =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-57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 b="0" dirty="0" smtClean="0">
                <a:solidFill>
                  <a:srgbClr val="FFC000"/>
                </a:solidFill>
                <a:latin typeface="Cambria Math" panose="02040503050406030204" pitchFamily="18" charset="0"/>
              </a:rPr>
              <a:t>C  = 318.4m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rgbClr val="00FF00"/>
                </a:solidFill>
                <a:latin typeface="Cambria Math" panose="02040503050406030204" pitchFamily="18" charset="0"/>
              </a:rPr>
              <a:t>x 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>
                <a:solidFill>
                  <a:srgbClr val="00FF00"/>
                </a:solidFill>
                <a:latin typeface="Cambria Math" panose="02040503050406030204" pitchFamily="18" charset="0"/>
              </a:rPr>
              <a:t>Qx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 = ~</a:t>
            </a: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3.4 </a:t>
            </a:r>
            <a:r>
              <a:rPr lang="en-US" altLang="en-US" sz="1800" b="0" dirty="0" smtClean="0">
                <a:solidFill>
                  <a:schemeClr val="tx1"/>
                </a:solidFill>
                <a:latin typeface="Cambria Math" panose="02040503050406030204" pitchFamily="18" charset="0"/>
              </a:rPr>
              <a:t>	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𝜉</a:t>
            </a:r>
            <a:r>
              <a:rPr lang="en-US" altLang="en-US" sz="1800" b="0" baseline="-25000" dirty="0">
                <a:solidFill>
                  <a:srgbClr val="00FF00"/>
                </a:solidFill>
                <a:latin typeface="Cambria Math" panose="02040503050406030204" pitchFamily="18" charset="0"/>
              </a:rPr>
              <a:t>y 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/</a:t>
            </a:r>
            <a:r>
              <a:rPr lang="en-US" altLang="en-US" sz="1800" b="0" dirty="0" err="1">
                <a:solidFill>
                  <a:srgbClr val="00FF00"/>
                </a:solidFill>
                <a:latin typeface="Cambria Math" panose="02040503050406030204" pitchFamily="18" charset="0"/>
              </a:rPr>
              <a:t>Qy</a:t>
            </a:r>
            <a:r>
              <a:rPr lang="en-US" altLang="en-US" sz="1800" b="0" dirty="0">
                <a:solidFill>
                  <a:srgbClr val="00FF00"/>
                </a:solidFill>
                <a:latin typeface="Cambria Math" panose="02040503050406030204" pitchFamily="18" charset="0"/>
              </a:rPr>
              <a:t> = ~</a:t>
            </a:r>
            <a:r>
              <a:rPr lang="en-US" altLang="en-US" sz="1800" b="0" dirty="0" smtClean="0">
                <a:solidFill>
                  <a:srgbClr val="00FF00"/>
                </a:solidFill>
                <a:latin typeface="Cambria Math" panose="02040503050406030204" pitchFamily="18" charset="0"/>
              </a:rPr>
              <a:t>3.5</a:t>
            </a:r>
            <a:endParaRPr lang="en-US" altLang="en-US" sz="1800" b="0" dirty="0" smtClean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5" name="Pfeil nach oben 14"/>
          <p:cNvSpPr/>
          <p:nvPr/>
        </p:nvSpPr>
        <p:spPr>
          <a:xfrm>
            <a:off x="5292000" y="5049000"/>
            <a:ext cx="135000" cy="4050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feld 13"/>
          <p:cNvSpPr txBox="1"/>
          <p:nvPr/>
        </p:nvSpPr>
        <p:spPr>
          <a:xfrm>
            <a:off x="5427000" y="5122220"/>
            <a:ext cx="274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= +10cm;    0.4m*20= 8m</a:t>
            </a:r>
            <a:endParaRPr lang="en-US" sz="16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29" b="753"/>
          <a:stretch/>
        </p:blipFill>
        <p:spPr bwMode="auto">
          <a:xfrm>
            <a:off x="109081" y="5023545"/>
            <a:ext cx="3215596" cy="173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feld 15"/>
          <p:cNvSpPr txBox="1"/>
          <p:nvPr/>
        </p:nvSpPr>
        <p:spPr>
          <a:xfrm rot="847755">
            <a:off x="5810675" y="1224319"/>
            <a:ext cx="29161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End of identical MBA-</a:t>
            </a:r>
            <a:r>
              <a:rPr lang="en-US" dirty="0" err="1" smtClean="0"/>
              <a:t>cellls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20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List of magnets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39</a:t>
            </a:fld>
            <a:endParaRPr lang="de-DE" altLang="en-US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422600"/>
              </p:ext>
            </p:extLst>
          </p:nvPr>
        </p:nvGraphicFramePr>
        <p:xfrm>
          <a:off x="251998" y="819000"/>
          <a:ext cx="8280003" cy="58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02"/>
                <a:gridCol w="945000"/>
                <a:gridCol w="765000"/>
                <a:gridCol w="765000"/>
                <a:gridCol w="945000"/>
                <a:gridCol w="1080000"/>
                <a:gridCol w="1170000"/>
                <a:gridCol w="121500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magnet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Length</a:t>
                      </a:r>
                    </a:p>
                    <a:p>
                      <a:pPr algn="ctr"/>
                      <a:r>
                        <a:rPr lang="en-US" dirty="0" smtClean="0"/>
                        <a:t>[m]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Angle </a:t>
                      </a:r>
                    </a:p>
                    <a:p>
                      <a:pPr algn="ctr"/>
                      <a:r>
                        <a:rPr lang="en-US" dirty="0" smtClean="0"/>
                        <a:t>[°]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Field </a:t>
                      </a:r>
                    </a:p>
                    <a:p>
                      <a:pPr algn="ctr"/>
                      <a:r>
                        <a:rPr lang="en-US" dirty="0" smtClean="0"/>
                        <a:t>[T]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</a:t>
                      </a:r>
                    </a:p>
                    <a:p>
                      <a:pPr algn="ctr"/>
                      <a:r>
                        <a:rPr lang="en-US" dirty="0" smtClean="0"/>
                        <a:t>[1/m²]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Gradient </a:t>
                      </a:r>
                      <a:r>
                        <a:rPr lang="en-US" dirty="0" smtClean="0"/>
                        <a:t>[T/m]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B’’/2B</a:t>
                      </a:r>
                      <a:r>
                        <a:rPr lang="en-US" dirty="0" smtClean="0">
                          <a:latin typeface="Symbol" panose="05050102010706020507" pitchFamily="18" charset="2"/>
                        </a:rPr>
                        <a:t>r</a:t>
                      </a:r>
                    </a:p>
                    <a:p>
                      <a:pPr algn="ctr"/>
                      <a:r>
                        <a:rPr lang="en-US" dirty="0" smtClean="0"/>
                        <a:t>[1/m³]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SX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[T/m²]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main bend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displaced </a:t>
                      </a:r>
                      <a:r>
                        <a:rPr lang="en-US" dirty="0" smtClean="0"/>
                        <a:t>QF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97.5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Q1A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36.7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MQ2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MQ1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-23.3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UQ1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-11.2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-93.3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UQ2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93.3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UQ3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-10.9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-793.0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-13216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789.8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13162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S1A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-157.9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-2631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S0A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871.0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14516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-568.9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-9481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302.9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5048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feld 7"/>
          <p:cNvSpPr txBox="1"/>
          <p:nvPr/>
        </p:nvSpPr>
        <p:spPr>
          <a:xfrm>
            <a:off x="1962000" y="558332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E/0.3 = B*</a:t>
            </a:r>
            <a:r>
              <a:rPr lang="en-US" dirty="0" smtClean="0">
                <a:latin typeface="Symbol" panose="05050102010706020507" pitchFamily="18" charset="2"/>
              </a:rPr>
              <a:t>r = </a:t>
            </a:r>
            <a:r>
              <a:rPr lang="en-US" dirty="0" smtClean="0"/>
              <a:t>8.333</a:t>
            </a:r>
            <a:endParaRPr lang="en-US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6923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List of lattice  </a:t>
            </a:r>
            <a:r>
              <a:rPr lang="en-US" sz="1800" dirty="0" smtClean="0"/>
              <a:t>options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40</a:t>
            </a:fld>
            <a:endParaRPr lang="de-DE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287688"/>
              </p:ext>
            </p:extLst>
          </p:nvPr>
        </p:nvGraphicFramePr>
        <p:xfrm>
          <a:off x="162000" y="684000"/>
          <a:ext cx="8729999" cy="3880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0">
                  <a:extLst>
                    <a:ext uri="{9D8B030D-6E8A-4147-A177-3AD203B41FA5}">
                      <a16:colId xmlns="" xmlns:a16="http://schemas.microsoft.com/office/drawing/2014/main" val="3030002639"/>
                    </a:ext>
                  </a:extLst>
                </a:gridCol>
                <a:gridCol w="3300077">
                  <a:extLst>
                    <a:ext uri="{9D8B030D-6E8A-4147-A177-3AD203B41FA5}">
                      <a16:colId xmlns="" xmlns:a16="http://schemas.microsoft.com/office/drawing/2014/main" val="1494168751"/>
                    </a:ext>
                  </a:extLst>
                </a:gridCol>
                <a:gridCol w="1006374"/>
                <a:gridCol w="1090049"/>
                <a:gridCol w="1502124"/>
                <a:gridCol w="805126">
                  <a:extLst>
                    <a:ext uri="{9D8B030D-6E8A-4147-A177-3AD203B41FA5}">
                      <a16:colId xmlns="" xmlns:a16="http://schemas.microsoft.com/office/drawing/2014/main" val="3058922813"/>
                    </a:ext>
                  </a:extLst>
                </a:gridCol>
                <a:gridCol w="707749">
                  <a:extLst>
                    <a:ext uri="{9D8B030D-6E8A-4147-A177-3AD203B41FA5}">
                      <a16:colId xmlns="" xmlns:a16="http://schemas.microsoft.com/office/drawing/2014/main" val="643909583"/>
                    </a:ext>
                  </a:extLst>
                </a:gridCol>
              </a:tblGrid>
              <a:tr h="637106">
                <a:tc>
                  <a:txBody>
                    <a:bodyPr/>
                    <a:lstStyle/>
                    <a:p>
                      <a:pPr algn="ctr"/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 smtClean="0"/>
                        <a:t>lattice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 of bends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Circum</a:t>
                      </a: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ference</a:t>
                      </a: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latin typeface="Symbol" panose="05050102010706020507" pitchFamily="18" charset="2"/>
                        </a:rPr>
                        <a:t>[</a:t>
                      </a:r>
                      <a:r>
                        <a:rPr lang="de-DE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de-DE" dirty="0" smtClean="0">
                          <a:latin typeface="Symbol" panose="05050102010706020507" pitchFamily="18" charset="2"/>
                        </a:rPr>
                        <a:t>]</a:t>
                      </a:r>
                      <a:endParaRPr lang="en-US" dirty="0" smtClean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latin typeface="Symbol" panose="05050102010706020507" pitchFamily="18" charset="2"/>
                        </a:rPr>
                        <a:t>a</a:t>
                      </a:r>
                    </a:p>
                    <a:p>
                      <a:pPr algn="ctr"/>
                      <a:r>
                        <a:rPr lang="de-DE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[e-4]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996505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solidFill>
                            <a:srgbClr val="00589C"/>
                          </a:solidFill>
                        </a:rPr>
                        <a:t>reference</a:t>
                      </a:r>
                      <a:endParaRPr lang="en-US" noProof="0" dirty="0">
                        <a:solidFill>
                          <a:srgbClr val="00589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589C"/>
                          </a:solidFill>
                          <a:latin typeface="+mn-lt"/>
                        </a:rPr>
                        <a:t>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589C"/>
                          </a:solidFill>
                          <a:latin typeface="+mn-lt"/>
                        </a:rPr>
                        <a:t>20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589C"/>
                          </a:solidFill>
                          <a:latin typeface="+mn-lt"/>
                        </a:rPr>
                        <a:t>321.2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105</a:t>
                      </a:r>
                      <a:endParaRPr lang="en-US" dirty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>
                          <a:solidFill>
                            <a:srgbClr val="00589C"/>
                          </a:solidFill>
                          <a:latin typeface="+mn-lt"/>
                        </a:rPr>
                        <a:t>0.14</a:t>
                      </a:r>
                      <a:endParaRPr lang="en-US" dirty="0" smtClean="0">
                        <a:solidFill>
                          <a:srgbClr val="00589C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97995882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>
                          <a:latin typeface="Symbol" panose="05050102010706020507" pitchFamily="18" charset="2"/>
                        </a:rPr>
                        <a:t>1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Long main</a:t>
                      </a:r>
                      <a:r>
                        <a:rPr lang="en-US" baseline="0" noProof="0" dirty="0" smtClean="0"/>
                        <a:t> dipole w/o gradient and displaced QF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321.5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120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1.00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646504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>
                          <a:latin typeface="Symbol" panose="05050102010706020507" pitchFamily="18" charset="2"/>
                        </a:rPr>
                        <a:t>2</a:t>
                      </a:r>
                      <a:endParaRPr lang="en-US" noProof="0" dirty="0">
                        <a:latin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smtClean="0"/>
                        <a:t>Transverse gradient in main bend and displaced QF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307.6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106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1.08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405509">
                <a:tc>
                  <a:txBody>
                    <a:bodyPr/>
                    <a:lstStyle/>
                    <a:p>
                      <a:r>
                        <a:rPr lang="de-DE" noProof="0" dirty="0" smtClean="0"/>
                        <a:t>3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smtClean="0"/>
                        <a:t>Transverse gradient in main bend and displaced QF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307.8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1.05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05308020"/>
                  </a:ext>
                </a:extLst>
              </a:tr>
              <a:tr h="405509"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 smtClean="0"/>
                        <a:t>Transverse gradient in main bend and displaced </a:t>
                      </a:r>
                      <a:r>
                        <a:rPr lang="en-US" noProof="0" dirty="0" smtClean="0"/>
                        <a:t>QF</a:t>
                      </a:r>
                      <a:endParaRPr lang="en-US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5</a:t>
                      </a:r>
                      <a:endParaRPr lang="en-US" dirty="0" smtClean="0">
                        <a:solidFill>
                          <a:schemeClr val="tx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n-lt"/>
                        </a:rPr>
                        <a:t>0.99</a:t>
                      </a:r>
                      <a:endParaRPr lang="en-US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5532795"/>
                  </a:ext>
                </a:extLst>
              </a:tr>
            </a:tbl>
          </a:graphicData>
        </a:graphic>
      </p:graphicFrame>
      <p:sp>
        <p:nvSpPr>
          <p:cNvPr id="7" name="Textfeld 6"/>
          <p:cNvSpPr txBox="1"/>
          <p:nvPr/>
        </p:nvSpPr>
        <p:spPr>
          <a:xfrm>
            <a:off x="882000" y="4869000"/>
            <a:ext cx="73405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Fall back solution without magnet-technological challenges</a:t>
            </a:r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dirty="0" smtClean="0"/>
              <a:t>Most efficient solution </a:t>
            </a:r>
            <a:endParaRPr lang="en-US" dirty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dirty="0" smtClean="0"/>
              <a:t>Most inefficient solution, unless </a:t>
            </a:r>
            <a:r>
              <a:rPr lang="en-US" dirty="0" smtClean="0">
                <a:latin typeface="Symbol" panose="05050102010706020507" pitchFamily="18" charset="2"/>
              </a:rPr>
              <a:t>e</a:t>
            </a:r>
            <a:r>
              <a:rPr lang="en-US" dirty="0" smtClean="0"/>
              <a:t> &lt;&lt; 100pm is needed</a:t>
            </a:r>
          </a:p>
          <a:p>
            <a:pPr lvl="1"/>
            <a:r>
              <a:rPr lang="en-US" dirty="0" smtClean="0"/>
              <a:t>816 magnets </a:t>
            </a:r>
            <a:r>
              <a:rPr lang="en-US" dirty="0" smtClean="0">
                <a:sym typeface="Wingdings" panose="05000000000000000000" pitchFamily="2" charset="2"/>
              </a:rPr>
              <a:t> 780 magnets for 20 periods</a:t>
            </a:r>
            <a:endParaRPr lang="en-US" dirty="0" smtClean="0"/>
          </a:p>
          <a:p>
            <a:pPr marL="342900" indent="-342900">
              <a:spcBef>
                <a:spcPts val="400"/>
              </a:spcBef>
              <a:buFont typeface="+mj-lt"/>
              <a:buAutoNum type="arabicPeriod"/>
            </a:pPr>
            <a:r>
              <a:rPr lang="en-US" dirty="0" smtClean="0"/>
              <a:t>Tough, but feasible…(i.e. permanent magnet as matching dipole...)</a:t>
            </a:r>
            <a:endParaRPr lang="en-US" dirty="0"/>
          </a:p>
        </p:txBody>
      </p:sp>
      <p:sp>
        <p:nvSpPr>
          <p:cNvPr id="8" name="Rechteck 7"/>
          <p:cNvSpPr/>
          <p:nvPr/>
        </p:nvSpPr>
        <p:spPr>
          <a:xfrm>
            <a:off x="162000" y="1989000"/>
            <a:ext cx="8730000" cy="675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/>
          <p:cNvSpPr/>
          <p:nvPr/>
        </p:nvSpPr>
        <p:spPr>
          <a:xfrm>
            <a:off x="882000" y="4914000"/>
            <a:ext cx="7245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/>
          <p:cNvSpPr txBox="1"/>
          <p:nvPr/>
        </p:nvSpPr>
        <p:spPr>
          <a:xfrm rot="666841">
            <a:off x="5253647" y="4540002"/>
            <a:ext cx="2792752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BIII in BII-tunnel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Length of beamlines?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Shielding (1.7-&gt;2.5GeV)?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Vibrations?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5510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7 L 0.00017 0.0886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2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602 L -4.72222E-6 0.0460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8866 L 0.00017 0.1805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8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4607 L 0.00261 0.0854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18056 L 0.00017 0.2789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0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1 0.08542 L 0.00261 0.1840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Conclusion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41</a:t>
            </a:fld>
            <a:endParaRPr lang="de-DE" altLang="en-US"/>
          </a:p>
        </p:txBody>
      </p:sp>
      <p:sp>
        <p:nvSpPr>
          <p:cNvPr id="3" name="Textfeld 2"/>
          <p:cNvSpPr txBox="1"/>
          <p:nvPr/>
        </p:nvSpPr>
        <p:spPr>
          <a:xfrm>
            <a:off x="297000" y="1044000"/>
            <a:ext cx="9020418" cy="57246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Conclusion: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bottleneck for the lattice development is the momentum compaction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need to agree on what </a:t>
            </a:r>
            <a:r>
              <a:rPr lang="en-US" b="1" dirty="0" smtClean="0"/>
              <a:t>we</a:t>
            </a:r>
            <a:r>
              <a:rPr lang="en-US" dirty="0" smtClean="0"/>
              <a:t> think is the appropriate limit on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Going to </a:t>
            </a:r>
            <a:r>
              <a:rPr lang="en-US" dirty="0" smtClean="0">
                <a:latin typeface="Symbol" panose="05050102010706020507" pitchFamily="18" charset="2"/>
              </a:rPr>
              <a:t>a</a:t>
            </a:r>
            <a:r>
              <a:rPr lang="en-US" dirty="0" smtClean="0"/>
              <a:t> ~ 6e-5 would open lots of possibilities for the lattice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For  </a:t>
            </a:r>
            <a:r>
              <a:rPr lang="en-US" dirty="0">
                <a:latin typeface="Symbol" panose="05050102010706020507" pitchFamily="18" charset="2"/>
              </a:rPr>
              <a:t>a</a:t>
            </a:r>
            <a:r>
              <a:rPr lang="en-US" dirty="0"/>
              <a:t> </a:t>
            </a:r>
            <a:r>
              <a:rPr lang="en-US" dirty="0" smtClean="0"/>
              <a:t>&gt; 1e-4  we need to utilize combined function magnets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methodology presented led to two lattice options with 20 straight sections</a:t>
            </a:r>
          </a:p>
          <a:p>
            <a:pPr lvl="1"/>
            <a:r>
              <a:rPr lang="en-US" dirty="0" smtClean="0"/>
              <a:t>on ~ 300m circumference, that fulfill the considered requirements </a:t>
            </a:r>
          </a:p>
          <a:p>
            <a:pPr lvl="1"/>
            <a:r>
              <a:rPr lang="en-US" dirty="0" smtClean="0"/>
              <a:t>and should be further investigated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should specialize within the group to be more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Next steps: 	confirm </a:t>
            </a:r>
            <a:r>
              <a:rPr lang="en-US" dirty="0" err="1" smtClean="0"/>
              <a:t>opa</a:t>
            </a:r>
            <a:r>
              <a:rPr lang="en-US" dirty="0" smtClean="0"/>
              <a:t> results with elegant/MAD</a:t>
            </a:r>
          </a:p>
          <a:p>
            <a:pPr lvl="1"/>
            <a:r>
              <a:rPr lang="en-US" dirty="0"/>
              <a:t>	</a:t>
            </a:r>
            <a:r>
              <a:rPr lang="en-US" dirty="0" smtClean="0"/>
              <a:t>	off momentum properties</a:t>
            </a:r>
          </a:p>
          <a:p>
            <a:pPr lvl="1"/>
            <a:r>
              <a:rPr lang="en-US" dirty="0"/>
              <a:t>	</a:t>
            </a:r>
            <a:r>
              <a:rPr lang="en-US" dirty="0" smtClean="0"/>
              <a:t>	rudimental hardware check (vacuum, magnets, </a:t>
            </a:r>
            <a:r>
              <a:rPr lang="en-US" dirty="0" smtClean="0"/>
              <a:t>magnet-apertures</a:t>
            </a:r>
            <a:r>
              <a:rPr lang="en-US" dirty="0" smtClean="0"/>
              <a:t>…)</a:t>
            </a:r>
          </a:p>
          <a:p>
            <a:pPr lvl="1"/>
            <a:r>
              <a:rPr lang="en-US" dirty="0"/>
              <a:t>	</a:t>
            </a:r>
            <a:r>
              <a:rPr lang="en-US" dirty="0" smtClean="0"/>
              <a:t>	injection</a:t>
            </a:r>
          </a:p>
          <a:p>
            <a:pPr lvl="1"/>
            <a:r>
              <a:rPr lang="en-US" dirty="0"/>
              <a:t>	</a:t>
            </a:r>
            <a:r>
              <a:rPr lang="en-US" dirty="0" smtClean="0"/>
              <a:t>	….</a:t>
            </a:r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                  </a:t>
            </a:r>
            <a:r>
              <a:rPr lang="en-US" sz="2400" dirty="0" smtClean="0"/>
              <a:t>Thank you for your attention!</a:t>
            </a:r>
            <a:r>
              <a:rPr lang="en-US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2363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7-bend achromat, 16 </a:t>
            </a:r>
            <a:r>
              <a:rPr lang="en-US" sz="1800" dirty="0" smtClean="0"/>
              <a:t>periods, 300  </a:t>
            </a:r>
            <a:r>
              <a:rPr lang="en-US" sz="1800" cap="none" dirty="0" smtClean="0"/>
              <a:t>m</a:t>
            </a:r>
            <a:endParaRPr lang="en-US" sz="1800" cap="non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42</a:t>
            </a:fld>
            <a:endParaRPr lang="de-DE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909639"/>
            <a:ext cx="8753475" cy="31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2939"/>
            <a:ext cx="9144001" cy="454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66" y="3563999"/>
            <a:ext cx="3982634" cy="3217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969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smtClean="0"/>
              <a:t>7-bend achromat, 16 periods</a:t>
            </a:r>
            <a:endParaRPr lang="en-US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43</a:t>
            </a:fld>
            <a:endParaRPr lang="de-DE" altLang="en-US"/>
          </a:p>
        </p:txBody>
      </p:sp>
      <p:grpSp>
        <p:nvGrpSpPr>
          <p:cNvPr id="6" name="Gruppieren 5"/>
          <p:cNvGrpSpPr/>
          <p:nvPr/>
        </p:nvGrpSpPr>
        <p:grpSpPr>
          <a:xfrm>
            <a:off x="435600" y="963125"/>
            <a:ext cx="8229600" cy="3114675"/>
            <a:chOff x="457200" y="1764000"/>
            <a:chExt cx="8229600" cy="311467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1764000"/>
              <a:ext cx="8229600" cy="3114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Ellipse 6"/>
            <p:cNvSpPr/>
            <p:nvPr/>
          </p:nvSpPr>
          <p:spPr>
            <a:xfrm>
              <a:off x="5223600" y="2924875"/>
              <a:ext cx="159736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Ellipse 7"/>
            <p:cNvSpPr/>
            <p:nvPr/>
          </p:nvSpPr>
          <p:spPr>
            <a:xfrm>
              <a:off x="2523600" y="2384875"/>
              <a:ext cx="159736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Ellipse 8"/>
            <p:cNvSpPr/>
            <p:nvPr/>
          </p:nvSpPr>
          <p:spPr>
            <a:xfrm>
              <a:off x="7923600" y="2384875"/>
              <a:ext cx="159736" cy="1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79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7-bend achromat, 16 periods, </a:t>
            </a:r>
            <a:r>
              <a:rPr lang="en-US" sz="1800" dirty="0" smtClean="0"/>
              <a:t>240  </a:t>
            </a:r>
            <a:r>
              <a:rPr lang="en-US" sz="1800" cap="none" dirty="0"/>
              <a:t>m</a:t>
            </a:r>
            <a:endParaRPr lang="en-US" sz="1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44</a:t>
            </a:fld>
            <a:endParaRPr lang="de-DE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85789"/>
            <a:ext cx="9144000" cy="459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0" y="3854719"/>
            <a:ext cx="3691832" cy="310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323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Grundstücksgröße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FD5781-ABFD-4250-8CCF-E55B27600506}" type="slidenum">
              <a:rPr lang="de-DE" altLang="en-US" smtClean="0"/>
              <a:pPr/>
              <a:t>45</a:t>
            </a:fld>
            <a:endParaRPr lang="de-DE" altLang="en-US"/>
          </a:p>
        </p:txBody>
      </p:sp>
      <p:sp>
        <p:nvSpPr>
          <p:cNvPr id="6" name="Ellipse 5"/>
          <p:cNvSpPr/>
          <p:nvPr/>
        </p:nvSpPr>
        <p:spPr>
          <a:xfrm>
            <a:off x="3807000" y="2079000"/>
            <a:ext cx="1350000" cy="135000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lipse 6"/>
          <p:cNvSpPr/>
          <p:nvPr/>
        </p:nvSpPr>
        <p:spPr>
          <a:xfrm>
            <a:off x="3312000" y="2079000"/>
            <a:ext cx="2340000" cy="2385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4482000" y="2034000"/>
            <a:ext cx="15300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/>
          <p:nvPr/>
        </p:nvCxnSpPr>
        <p:spPr>
          <a:xfrm>
            <a:off x="5652000" y="3291041"/>
            <a:ext cx="0" cy="14864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 flipH="1">
            <a:off x="2952000" y="4509000"/>
            <a:ext cx="1502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/>
          <p:nvPr/>
        </p:nvCxnSpPr>
        <p:spPr>
          <a:xfrm flipV="1">
            <a:off x="3312000" y="1989000"/>
            <a:ext cx="0" cy="1440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>
            <a:off x="5157000" y="2699400"/>
            <a:ext cx="0" cy="144480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/>
          <p:nvPr/>
        </p:nvCxnSpPr>
        <p:spPr>
          <a:xfrm flipV="1">
            <a:off x="3778281" y="1224000"/>
            <a:ext cx="0" cy="152520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/>
          <p:cNvSpPr txBox="1"/>
          <p:nvPr/>
        </p:nvSpPr>
        <p:spPr>
          <a:xfrm>
            <a:off x="972000" y="5319000"/>
            <a:ext cx="657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=&gt; Die </a:t>
            </a:r>
            <a:r>
              <a:rPr lang="en-US" dirty="0" err="1" smtClean="0"/>
              <a:t>benötigte</a:t>
            </a:r>
            <a:r>
              <a:rPr lang="en-US" dirty="0" smtClean="0"/>
              <a:t> </a:t>
            </a:r>
            <a:r>
              <a:rPr lang="en-US" dirty="0" err="1" smtClean="0"/>
              <a:t>Grundstückgröße</a:t>
            </a:r>
            <a:r>
              <a:rPr lang="en-US" dirty="0" smtClean="0"/>
              <a:t> </a:t>
            </a:r>
            <a:r>
              <a:rPr lang="en-US" dirty="0" err="1" smtClean="0"/>
              <a:t>ist</a:t>
            </a:r>
            <a:r>
              <a:rPr lang="en-US" dirty="0" smtClean="0"/>
              <a:t> 2x </a:t>
            </a:r>
            <a:r>
              <a:rPr lang="en-US" dirty="0" err="1" smtClean="0"/>
              <a:t>Länge</a:t>
            </a:r>
            <a:r>
              <a:rPr lang="en-US" dirty="0" smtClean="0"/>
              <a:t> der Beamlines</a:t>
            </a:r>
            <a:endParaRPr lang="en-US" dirty="0"/>
          </a:p>
        </p:txBody>
      </p:sp>
      <p:cxnSp>
        <p:nvCxnSpPr>
          <p:cNvPr id="41" name="Gerade Verbindung 40"/>
          <p:cNvCxnSpPr/>
          <p:nvPr/>
        </p:nvCxnSpPr>
        <p:spPr>
          <a:xfrm>
            <a:off x="4482000" y="1584000"/>
            <a:ext cx="0" cy="324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/>
          <p:nvPr/>
        </p:nvCxnSpPr>
        <p:spPr>
          <a:xfrm flipH="1">
            <a:off x="2952000" y="3474000"/>
            <a:ext cx="1502400" cy="0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27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3986</Words>
  <Application>Microsoft Office PowerPoint</Application>
  <PresentationFormat>Bildschirmpräsentation (4:3)</PresentationFormat>
  <Paragraphs>1275</Paragraphs>
  <Slides>45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45</vt:i4>
      </vt:variant>
    </vt:vector>
  </HeadingPairs>
  <TitlesOfParts>
    <vt:vector size="46" baseType="lpstr">
      <vt:lpstr>Larissa-Design</vt:lpstr>
      <vt:lpstr>BIII – Lattice design</vt:lpstr>
      <vt:lpstr> Content</vt:lpstr>
      <vt:lpstr>Summary last talk I</vt:lpstr>
      <vt:lpstr> Summary last talk II</vt:lpstr>
      <vt:lpstr>Requirements for matching cell</vt:lpstr>
      <vt:lpstr>matching cell with reverse bend, 5-bend, 20 periods (last talk)</vt:lpstr>
      <vt:lpstr>“Extended” matching cell</vt:lpstr>
      <vt:lpstr>Flexibility of the Matching section</vt:lpstr>
      <vt:lpstr>Reverse bend in matching cell</vt:lpstr>
      <vt:lpstr>Prototype lattice 5 bend 20 periods</vt:lpstr>
      <vt:lpstr>Prototype lattice 5 bend 20 periods</vt:lpstr>
      <vt:lpstr>Further boundary conditions</vt:lpstr>
      <vt:lpstr>Relaxation of boundary conditions</vt:lpstr>
      <vt:lpstr>1 - Relax TME-condition on h </vt:lpstr>
      <vt:lpstr>1 - Full lattice with relaxed dispersion</vt:lpstr>
      <vt:lpstr>2 - Relax TME-condition on bx</vt:lpstr>
      <vt:lpstr>2 - Relax TME-condition on bx</vt:lpstr>
      <vt:lpstr>3 - Increase dipole length - keep TME-condition</vt:lpstr>
      <vt:lpstr>3 - Increase dipole length – restore minimal Emittance</vt:lpstr>
      <vt:lpstr>3 - Increase dipole length – Full lattice</vt:lpstr>
      <vt:lpstr>4a - Increase dipole length + include transverse gradient</vt:lpstr>
      <vt:lpstr>4a - Increase dipole length + include transverse gradient</vt:lpstr>
      <vt:lpstr>4b – LONG Main bend with longitudinal gradient</vt:lpstr>
      <vt:lpstr>4b – LONG Main bend with longitudinal gradient</vt:lpstr>
      <vt:lpstr>4b – LONG Main bend with longitudinal gradient</vt:lpstr>
      <vt:lpstr>5 - include transverse gradient in reverse bend</vt:lpstr>
      <vt:lpstr>5 - include transverse gradient in reverse bend</vt:lpstr>
      <vt:lpstr>Comparison of 5 options to relax the MBA-cell</vt:lpstr>
      <vt:lpstr> comparison of dipole options </vt:lpstr>
      <vt:lpstr>lattice combining options 4a and 5 </vt:lpstr>
      <vt:lpstr>lattice combining options 4a and 5 </vt:lpstr>
      <vt:lpstr>lattice combining options 4a and 5 </vt:lpstr>
      <vt:lpstr>lattice combining options 3 and 5 </vt:lpstr>
      <vt:lpstr>lattice combining options 3 and 5 </vt:lpstr>
      <vt:lpstr>lattice combining options 3 and 5 </vt:lpstr>
      <vt:lpstr>lattice combining options 4b and 5 </vt:lpstr>
      <vt:lpstr>lattice combining options 4A and 4b </vt:lpstr>
      <vt:lpstr>PowerPoint-Präsentation</vt:lpstr>
      <vt:lpstr>List of magnets</vt:lpstr>
      <vt:lpstr>List of lattice  options</vt:lpstr>
      <vt:lpstr>Conclusion</vt:lpstr>
      <vt:lpstr>7-bend achromat, 16 periods, 300  m</vt:lpstr>
      <vt:lpstr>7-bend achromat, 16 periods</vt:lpstr>
      <vt:lpstr>7-bend achromat, 16 periods, 240  m</vt:lpstr>
      <vt:lpstr>Grundstücksgröße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Monica Mantel</dc:creator>
  <cp:lastModifiedBy>Kuske, Bettina</cp:lastModifiedBy>
  <cp:revision>1080</cp:revision>
  <dcterms:created xsi:type="dcterms:W3CDTF">2009-04-16T12:28:49Z</dcterms:created>
  <dcterms:modified xsi:type="dcterms:W3CDTF">2020-11-25T12:34:18Z</dcterms:modified>
</cp:coreProperties>
</file>