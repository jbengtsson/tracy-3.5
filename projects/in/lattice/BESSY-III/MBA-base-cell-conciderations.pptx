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66" r:id="rId3"/>
    <p:sldId id="281" r:id="rId4"/>
    <p:sldId id="262" r:id="rId5"/>
    <p:sldId id="261" r:id="rId6"/>
    <p:sldId id="257" r:id="rId7"/>
    <p:sldId id="258" r:id="rId8"/>
    <p:sldId id="265" r:id="rId9"/>
    <p:sldId id="259" r:id="rId10"/>
    <p:sldId id="264" r:id="rId11"/>
    <p:sldId id="263" r:id="rId12"/>
    <p:sldId id="267" r:id="rId13"/>
    <p:sldId id="276" r:id="rId14"/>
    <p:sldId id="277" r:id="rId15"/>
    <p:sldId id="278" r:id="rId16"/>
    <p:sldId id="279" r:id="rId17"/>
    <p:sldId id="280" r:id="rId18"/>
    <p:sldId id="282" r:id="rId19"/>
    <p:sldId id="275" r:id="rId20"/>
    <p:sldId id="286" r:id="rId21"/>
    <p:sldId id="287" r:id="rId22"/>
    <p:sldId id="289" r:id="rId23"/>
    <p:sldId id="291" r:id="rId24"/>
    <p:sldId id="292" r:id="rId25"/>
    <p:sldId id="290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288" r:id="rId35"/>
    <p:sldId id="260" r:id="rId36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34">
          <p15:clr>
            <a:srgbClr val="A4A3A4"/>
          </p15:clr>
        </p15:guide>
        <p15:guide id="2" orient="horz" pos="2024">
          <p15:clr>
            <a:srgbClr val="A4A3A4"/>
          </p15:clr>
        </p15:guide>
        <p15:guide id="3" pos="5559">
          <p15:clr>
            <a:srgbClr val="A4A3A4"/>
          </p15:clr>
        </p15:guide>
        <p15:guide id="4" pos="183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9C"/>
    <a:srgbClr val="00FF00"/>
    <a:srgbClr val="FF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>
      <p:cViewPr varScale="1">
        <p:scale>
          <a:sx n="97" d="100"/>
          <a:sy n="97" d="100"/>
        </p:scale>
        <p:origin x="444" y="78"/>
      </p:cViewPr>
      <p:guideLst>
        <p:guide orient="horz" pos="1534"/>
        <p:guide orient="horz" pos="2024"/>
        <p:guide pos="5559"/>
        <p:guide pos="1837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2796" y="-120"/>
      </p:cViewPr>
      <p:guideLst>
        <p:guide orient="horz" pos="2880"/>
        <p:guide pos="2160"/>
      </p:guideLst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E9034CD-87BA-4FFD-BF8D-CE8D8F7D4242}" type="datetimeFigureOut">
              <a:rPr lang="de-DE"/>
              <a:pPr>
                <a:defRPr/>
              </a:pPr>
              <a:t>20.08.2020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 smtClean="0"/>
              <a:t>Textmasterformate durch Klicken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14CBDC0C-9817-4470-81EA-B3A12ACEE5CB}" type="slidenum">
              <a:rPr lang="de-DE" altLang="en-US"/>
              <a:pPr/>
              <a:t>‹#›</a:t>
            </a:fld>
            <a:endParaRPr lang="de-D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5E7059B-A898-4FF0-BF29-CBA3FB18CEBE}" type="slidenum">
              <a:rPr lang="de-DE" altLang="en-US">
                <a:latin typeface="Calibri" panose="020F0502020204030204" pitchFamily="34" charset="0"/>
              </a:rPr>
              <a:pPr eaLnBrk="1" hangingPunct="1"/>
              <a:t>10</a:t>
            </a:fld>
            <a:endParaRPr lang="de-DE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421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5E7059B-A898-4FF0-BF29-CBA3FB18CEBE}" type="slidenum">
              <a:rPr lang="de-DE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de-DE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124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6" descr="Wissenschaftl_Info_ab_Willkommen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535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2 Fotos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49200" y="1018800"/>
            <a:ext cx="8671689" cy="825104"/>
          </a:xfrm>
        </p:spPr>
        <p:txBody>
          <a:bodyPr/>
          <a:lstStyle>
            <a:lvl1pPr marL="0" indent="0">
              <a:lnSpc>
                <a:spcPts val="2800"/>
              </a:lnSpc>
              <a:defRPr/>
            </a:lvl1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143240" y="2435224"/>
            <a:ext cx="5000660" cy="230832"/>
          </a:xfrm>
        </p:spPr>
        <p:txBody>
          <a:bodyPr wrap="square">
            <a:spAutoFit/>
          </a:bodyPr>
          <a:lstStyle>
            <a:lvl1pPr marL="0" indent="0">
              <a:lnSpc>
                <a:spcPts val="1800"/>
              </a:lnSpc>
              <a:defRPr sz="1400" b="0" cap="none" baseline="0">
                <a:solidFill>
                  <a:schemeClr val="tx1"/>
                </a:solidFill>
              </a:defRPr>
            </a:lvl1pPr>
            <a:lvl2pPr>
              <a:lnSpc>
                <a:spcPts val="2400"/>
              </a:lnSpc>
              <a:buFont typeface="Arial" pitchFamily="34" charset="0"/>
              <a:buChar char="•"/>
              <a:defRPr b="1"/>
            </a:lvl2pPr>
          </a:lstStyle>
          <a:p>
            <a:pPr lvl="0"/>
            <a:r>
              <a:rPr lang="de-DE" dirty="0" smtClean="0"/>
              <a:t>Textmasterformate durch Klicken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4"/>
          </p:nvPr>
        </p:nvSpPr>
        <p:spPr>
          <a:xfrm>
            <a:off x="3836386" y="3429000"/>
            <a:ext cx="5236208" cy="785818"/>
          </a:xfrm>
        </p:spPr>
        <p:txBody>
          <a:bodyPr>
            <a:noAutofit/>
          </a:bodyPr>
          <a:lstStyle>
            <a:lvl1pPr marL="265113" indent="-265113" defTabSz="358775">
              <a:lnSpc>
                <a:spcPts val="2400"/>
              </a:lnSpc>
              <a:buFont typeface="Arial" pitchFamily="34" charset="0"/>
              <a:buChar char="•"/>
              <a:defRPr sz="1800" b="1" cap="none">
                <a:solidFill>
                  <a:schemeClr val="tx1"/>
                </a:solidFill>
              </a:defRPr>
            </a:lvl1pPr>
            <a:lvl2pPr marL="265113" indent="-265113" defTabSz="358775">
              <a:lnSpc>
                <a:spcPts val="2400"/>
              </a:lnSpc>
              <a:buFont typeface="Arial" pitchFamily="34" charset="0"/>
              <a:buChar char="•"/>
              <a:defRPr sz="1800" b="1" cap="none">
                <a:solidFill>
                  <a:schemeClr val="tx1"/>
                </a:solidFill>
              </a:defRPr>
            </a:lvl2pPr>
            <a:lvl3pPr marL="265113" indent="-265113" defTabSz="358775">
              <a:lnSpc>
                <a:spcPts val="2400"/>
              </a:lnSpc>
              <a:buFont typeface="Arial" pitchFamily="34" charset="0"/>
              <a:buChar char="•"/>
              <a:defRPr sz="1800" b="1" cap="none">
                <a:solidFill>
                  <a:schemeClr val="tx1"/>
                </a:solidFill>
              </a:defRPr>
            </a:lvl3pPr>
            <a:lvl4pPr marL="265113" indent="-265113" defTabSz="358775">
              <a:lnSpc>
                <a:spcPts val="2400"/>
              </a:lnSpc>
              <a:buFont typeface="Arial" pitchFamily="34" charset="0"/>
              <a:buChar char="•"/>
              <a:defRPr sz="1800" b="1" cap="none">
                <a:solidFill>
                  <a:schemeClr val="tx1"/>
                </a:solidFill>
              </a:defRPr>
            </a:lvl4pPr>
            <a:lvl5pPr marL="265113" indent="-265113" defTabSz="358775">
              <a:lnSpc>
                <a:spcPts val="2400"/>
              </a:lnSpc>
              <a:buFont typeface="Arial" pitchFamily="34" charset="0"/>
              <a:buChar char="•"/>
              <a:defRPr sz="1800" b="1" cap="none"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FA576645-5E5F-4892-A2AA-3F784726F915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587772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49200" y="1018800"/>
            <a:ext cx="8671689" cy="825104"/>
          </a:xfrm>
        </p:spPr>
        <p:txBody>
          <a:bodyPr/>
          <a:lstStyle>
            <a:lvl1pPr marL="0" indent="0">
              <a:lnSpc>
                <a:spcPts val="2800"/>
              </a:lnSpc>
              <a:spcBef>
                <a:spcPts val="0"/>
              </a:spcBef>
              <a:defRPr>
                <a:solidFill>
                  <a:srgbClr val="00589C"/>
                </a:solidFill>
              </a:defRPr>
            </a:lvl1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1285852" y="1981967"/>
            <a:ext cx="7110433" cy="307777"/>
          </a:xfrm>
        </p:spPr>
        <p:txBody>
          <a:bodyPr>
            <a:spAutoFit/>
          </a:bodyPr>
          <a:lstStyle>
            <a:lvl1pPr marL="265113" indent="-265113">
              <a:lnSpc>
                <a:spcPts val="2400"/>
              </a:lnSpc>
              <a:buFont typeface="Arial" pitchFamily="34" charset="0"/>
              <a:buChar char="•"/>
              <a:defRPr sz="1800" b="1" cap="none" baseline="0">
                <a:solidFill>
                  <a:schemeClr val="tx1"/>
                </a:solidFill>
              </a:defRPr>
            </a:lvl1pPr>
            <a:lvl2pPr>
              <a:lnSpc>
                <a:spcPts val="2400"/>
              </a:lnSpc>
              <a:buFont typeface="Arial" pitchFamily="34" charset="0"/>
              <a:buChar char="•"/>
              <a:defRPr b="1"/>
            </a:lvl2pPr>
          </a:lstStyle>
          <a:p>
            <a:pPr lvl="0"/>
            <a:r>
              <a:rPr lang="de-DE" dirty="0" smtClean="0"/>
              <a:t>Textmasterformate durch Klicken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fld id="{C3FD5781-ABFD-4250-8CCF-E55B27600506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39058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800100" y="142875"/>
            <a:ext cx="82296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 smtClean="0"/>
              <a:t>HIER STEHT EIN KOLUMNENTITEL IN VERSALIEN 14 PT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57188" y="1019175"/>
            <a:ext cx="8766175" cy="4778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796088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00589C"/>
                </a:solidFill>
              </a:defRPr>
            </a:lvl1pPr>
          </a:lstStyle>
          <a:p>
            <a:fld id="{10CFB329-BD44-4E9A-9B40-BDAE5C2D4876}" type="slidenum">
              <a:rPr lang="de-DE" altLang="en-US"/>
              <a:pPr/>
              <a:t>‹#›</a:t>
            </a:fld>
            <a:endParaRPr lang="de-DE" altLang="en-US"/>
          </a:p>
        </p:txBody>
      </p:sp>
      <p:pic>
        <p:nvPicPr>
          <p:cNvPr id="1029" name="Grafik 8" descr="Wissenschaftl_Info_a_Kopf.bmp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6" r:id="rId2"/>
    <p:sldLayoutId id="2147483667" r:id="rId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400" b="1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5156200" indent="-5156200" algn="l" rtl="0" eaLnBrk="0" fontAlgn="base" hangingPunct="0">
        <a:lnSpc>
          <a:spcPts val="2800"/>
        </a:lnSpc>
        <a:spcBef>
          <a:spcPct val="20000"/>
        </a:spcBef>
        <a:spcAft>
          <a:spcPct val="0"/>
        </a:spcAft>
        <a:buFont typeface="Arial" panose="020B0604020202020204" pitchFamily="34" charset="0"/>
        <a:defRPr sz="2100" b="1" kern="1200" cap="all">
          <a:solidFill>
            <a:srgbClr val="00589C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922963" indent="-1809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>
          <a:tab pos="1169988" algn="l"/>
        </a:tabLst>
        <a:defRPr b="1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32480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Untertitel 2"/>
          <p:cNvSpPr>
            <a:spLocks noGrp="1"/>
          </p:cNvSpPr>
          <p:nvPr>
            <p:ph type="subTitle" idx="4294967295"/>
          </p:nvPr>
        </p:nvSpPr>
        <p:spPr bwMode="auto">
          <a:xfrm>
            <a:off x="1928813" y="3143250"/>
            <a:ext cx="6858000" cy="14311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 eaLnBrk="1" hangingPunct="1">
              <a:lnSpc>
                <a:spcPts val="2400"/>
              </a:lnSpc>
            </a:pPr>
            <a:r>
              <a:rPr lang="de-DE" altLang="en-US" sz="2000" cap="none" dirty="0" smtClean="0">
                <a:solidFill>
                  <a:schemeClr val="bg1"/>
                </a:solidFill>
              </a:rPr>
              <a:t>LIMITS OF</a:t>
            </a:r>
          </a:p>
          <a:p>
            <a:pPr marL="0" indent="0" eaLnBrk="1" hangingPunct="1">
              <a:lnSpc>
                <a:spcPts val="2400"/>
              </a:lnSpc>
            </a:pPr>
            <a:r>
              <a:rPr lang="de-DE" altLang="en-US" sz="2000" cap="none" dirty="0" smtClean="0">
                <a:solidFill>
                  <a:schemeClr val="bg1"/>
                </a:solidFill>
              </a:rPr>
              <a:t>MBA–LATTICES WITH </a:t>
            </a:r>
            <a:r>
              <a:rPr lang="de-DE" altLang="en-US" sz="2000" cap="none" dirty="0">
                <a:solidFill>
                  <a:schemeClr val="bg1"/>
                </a:solidFill>
              </a:rPr>
              <a:t>REVERSE </a:t>
            </a:r>
            <a:r>
              <a:rPr lang="de-DE" altLang="en-US" sz="2000" cap="none" dirty="0" smtClean="0">
                <a:solidFill>
                  <a:schemeClr val="bg1"/>
                </a:solidFill>
              </a:rPr>
              <a:t>BENDS </a:t>
            </a:r>
          </a:p>
          <a:p>
            <a:pPr marL="0" indent="0" eaLnBrk="1" hangingPunct="1">
              <a:lnSpc>
                <a:spcPts val="2400"/>
              </a:lnSpc>
            </a:pPr>
            <a:r>
              <a:rPr lang="de-DE" altLang="en-US" sz="2000" cap="none" dirty="0" smtClean="0">
                <a:solidFill>
                  <a:schemeClr val="bg1"/>
                </a:solidFill>
              </a:rPr>
              <a:t>USING SEPERATED FUNCTION MAGNETS</a:t>
            </a:r>
          </a:p>
          <a:p>
            <a:pPr marL="0" indent="0" eaLnBrk="1" hangingPunct="1">
              <a:lnSpc>
                <a:spcPts val="2400"/>
              </a:lnSpc>
              <a:spcBef>
                <a:spcPts val="600"/>
              </a:spcBef>
            </a:pPr>
            <a:r>
              <a:rPr lang="de-DE" altLang="en-US" sz="2000" cap="none" dirty="0" smtClean="0">
                <a:solidFill>
                  <a:schemeClr val="bg1"/>
                </a:solidFill>
              </a:rPr>
              <a:t>Bettina Kuske, 7/8-2020</a:t>
            </a:r>
          </a:p>
        </p:txBody>
      </p:sp>
      <p:sp>
        <p:nvSpPr>
          <p:cNvPr id="3075" name="Titel 1"/>
          <p:cNvSpPr>
            <a:spLocks noGrp="1"/>
          </p:cNvSpPr>
          <p:nvPr>
            <p:ph type="ctrTitle" idx="4294967295"/>
          </p:nvPr>
        </p:nvSpPr>
        <p:spPr>
          <a:xfrm>
            <a:off x="1000125" y="1928813"/>
            <a:ext cx="5072063" cy="785812"/>
          </a:xfrm>
        </p:spPr>
        <p:txBody>
          <a:bodyPr/>
          <a:lstStyle/>
          <a:p>
            <a:pPr eaLnBrk="1" hangingPunct="1"/>
            <a:r>
              <a:rPr lang="de-DE" altLang="en-US" sz="2400" dirty="0" smtClean="0">
                <a:solidFill>
                  <a:srgbClr val="00589C"/>
                </a:solidFill>
              </a:rPr>
              <a:t>BIII – </a:t>
            </a:r>
            <a:r>
              <a:rPr lang="de-DE" altLang="en-US" sz="2400" dirty="0" err="1" smtClean="0">
                <a:solidFill>
                  <a:srgbClr val="00589C"/>
                </a:solidFill>
              </a:rPr>
              <a:t>Lattice</a:t>
            </a:r>
            <a:r>
              <a:rPr lang="de-DE" altLang="en-US" sz="2400" dirty="0" smtClean="0">
                <a:solidFill>
                  <a:srgbClr val="00589C"/>
                </a:solidFill>
              </a:rPr>
              <a:t> design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1800" dirty="0" smtClean="0"/>
              <a:t>Goal and references</a:t>
            </a:r>
            <a:endParaRPr lang="en-US" sz="1800" dirty="0"/>
          </a:p>
        </p:txBody>
      </p:sp>
      <p:sp>
        <p:nvSpPr>
          <p:cNvPr id="5123" name="Foliennummernplatzhalter 5"/>
          <p:cNvSpPr>
            <a:spLocks noGrp="1"/>
          </p:cNvSpPr>
          <p:nvPr>
            <p:ph type="sldNum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E81FAFB-47D4-49EE-AB5E-989078B373F4}" type="slidenum">
              <a:rPr lang="de-DE" altLang="en-US" sz="1200"/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de-DE" altLang="en-US" sz="1200"/>
          </a:p>
        </p:txBody>
      </p:sp>
      <p:sp>
        <p:nvSpPr>
          <p:cNvPr id="7" name="Textfeld 6"/>
          <p:cNvSpPr txBox="1"/>
          <p:nvPr/>
        </p:nvSpPr>
        <p:spPr>
          <a:xfrm>
            <a:off x="556740" y="1745932"/>
            <a:ext cx="8206093" cy="4355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latin typeface="Arial" charset="0"/>
                <a:cs typeface="Arial" charset="0"/>
              </a:rPr>
              <a:t>Explore boundaries of  MBA-lattices using separated function magnets</a:t>
            </a:r>
          </a:p>
          <a:p>
            <a:pPr eaLnBrk="1" hangingPunct="1">
              <a:defRPr/>
            </a:pPr>
            <a:r>
              <a:rPr lang="en-US" dirty="0" smtClean="0">
                <a:latin typeface="Arial" charset="0"/>
                <a:cs typeface="Arial" charset="0"/>
              </a:rPr>
              <a:t>     in terms of 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/>
            </a:pPr>
            <a:r>
              <a:rPr lang="en-US" dirty="0" smtClean="0">
                <a:latin typeface="Arial" charset="0"/>
                <a:cs typeface="Arial" charset="0"/>
              </a:rPr>
              <a:t>minimal emittance 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/>
            </a:pPr>
            <a:r>
              <a:rPr lang="en-US" dirty="0" smtClean="0">
                <a:latin typeface="Arial" charset="0"/>
                <a:cs typeface="Arial" charset="0"/>
              </a:rPr>
              <a:t>minimal circumference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/>
            </a:pPr>
            <a:r>
              <a:rPr lang="en-US" dirty="0" smtClean="0">
                <a:latin typeface="Arial" charset="0"/>
                <a:cs typeface="Arial" charset="0"/>
              </a:rPr>
              <a:t>number of straight sections</a:t>
            </a:r>
          </a:p>
          <a:p>
            <a:pPr marL="285750" indent="-285750" eaLnBrk="1" hangingPunct="1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latin typeface="Arial" charset="0"/>
                <a:cs typeface="Arial" charset="0"/>
              </a:rPr>
              <a:t>Work is inspired by paper:  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smtClean="0">
                <a:latin typeface="Arial" charset="0"/>
                <a:cs typeface="Arial" charset="0"/>
              </a:rPr>
              <a:t>     </a:t>
            </a:r>
            <a:r>
              <a:rPr lang="en-US" i="1" dirty="0" smtClean="0">
                <a:latin typeface="Arial" charset="0"/>
                <a:cs typeface="Arial" charset="0"/>
              </a:rPr>
              <a:t>B. </a:t>
            </a:r>
            <a:r>
              <a:rPr lang="en-US" i="1" dirty="0">
                <a:latin typeface="Arial" charset="0"/>
                <a:cs typeface="Arial" charset="0"/>
              </a:rPr>
              <a:t>Riemann and A. </a:t>
            </a:r>
            <a:r>
              <a:rPr lang="en-US" i="1" dirty="0" err="1">
                <a:latin typeface="Arial" charset="0"/>
                <a:cs typeface="Arial" charset="0"/>
              </a:rPr>
              <a:t>Streun</a:t>
            </a:r>
            <a:r>
              <a:rPr lang="en-US" i="1" dirty="0">
                <a:latin typeface="Arial" charset="0"/>
                <a:cs typeface="Arial" charset="0"/>
              </a:rPr>
              <a:t>: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n-US" i="1" dirty="0">
                <a:latin typeface="Arial" charset="0"/>
                <a:cs typeface="Arial" charset="0"/>
              </a:rPr>
              <a:t>     “Low emittance lattice design from first principles: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n-US" i="1" dirty="0">
                <a:latin typeface="Arial" charset="0"/>
                <a:cs typeface="Arial" charset="0"/>
              </a:rPr>
              <a:t>     </a:t>
            </a:r>
            <a:r>
              <a:rPr lang="en-US" i="1" dirty="0" smtClean="0">
                <a:latin typeface="Arial" charset="0"/>
                <a:cs typeface="Arial" charset="0"/>
              </a:rPr>
              <a:t> Reverse </a:t>
            </a:r>
            <a:r>
              <a:rPr lang="en-US" i="1" dirty="0">
                <a:latin typeface="Arial" charset="0"/>
                <a:cs typeface="Arial" charset="0"/>
              </a:rPr>
              <a:t>bend and longitudinal gradient bends”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n-US" i="1" dirty="0">
                <a:latin typeface="Arial" charset="0"/>
                <a:cs typeface="Arial" charset="0"/>
              </a:rPr>
              <a:t>     </a:t>
            </a:r>
            <a:r>
              <a:rPr lang="en-US" i="1" dirty="0" smtClean="0">
                <a:latin typeface="Arial" charset="0"/>
                <a:cs typeface="Arial" charset="0"/>
              </a:rPr>
              <a:t> Phys</a:t>
            </a:r>
            <a:r>
              <a:rPr lang="en-US" i="1" dirty="0">
                <a:latin typeface="Arial" charset="0"/>
                <a:cs typeface="Arial" charset="0"/>
              </a:rPr>
              <a:t>. Rev. AB 22, 021601 (2019</a:t>
            </a:r>
            <a:r>
              <a:rPr lang="en-US" i="1" dirty="0" smtClean="0">
                <a:latin typeface="Arial" charset="0"/>
                <a:cs typeface="Arial" charset="0"/>
              </a:rPr>
              <a:t>)</a:t>
            </a:r>
          </a:p>
          <a:p>
            <a:pPr marL="285750" indent="-285750" eaLnBrk="1" hangingPunct="1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de-DE" dirty="0" err="1" smtClean="0">
                <a:latin typeface="Arial" charset="0"/>
                <a:cs typeface="Arial" charset="0"/>
              </a:rPr>
              <a:t>Some</a:t>
            </a:r>
            <a:r>
              <a:rPr lang="de-DE" dirty="0" smtClean="0">
                <a:latin typeface="Arial" charset="0"/>
                <a:cs typeface="Arial" charset="0"/>
              </a:rPr>
              <a:t> </a:t>
            </a:r>
            <a:r>
              <a:rPr lang="de-DE" dirty="0" err="1" smtClean="0">
                <a:latin typeface="Arial" charset="0"/>
                <a:cs typeface="Arial" charset="0"/>
              </a:rPr>
              <a:t>results</a:t>
            </a:r>
            <a:r>
              <a:rPr lang="de-DE" dirty="0" smtClean="0">
                <a:latin typeface="Arial" charset="0"/>
                <a:cs typeface="Arial" charset="0"/>
              </a:rPr>
              <a:t> </a:t>
            </a:r>
            <a:r>
              <a:rPr lang="de-DE" dirty="0" err="1" smtClean="0">
                <a:latin typeface="Arial" charset="0"/>
                <a:cs typeface="Arial" charset="0"/>
              </a:rPr>
              <a:t>reproduce</a:t>
            </a:r>
            <a:r>
              <a:rPr lang="de-DE" dirty="0" smtClean="0">
                <a:latin typeface="Arial" charset="0"/>
                <a:cs typeface="Arial" charset="0"/>
              </a:rPr>
              <a:t> </a:t>
            </a:r>
            <a:r>
              <a:rPr lang="de-DE" dirty="0" err="1" smtClean="0">
                <a:latin typeface="Arial" charset="0"/>
                <a:cs typeface="Arial" charset="0"/>
              </a:rPr>
              <a:t>findings</a:t>
            </a:r>
            <a:r>
              <a:rPr lang="de-DE" dirty="0" smtClean="0">
                <a:latin typeface="Arial" charset="0"/>
                <a:cs typeface="Arial" charset="0"/>
              </a:rPr>
              <a:t> </a:t>
            </a:r>
            <a:r>
              <a:rPr lang="de-DE" dirty="0" err="1" smtClean="0">
                <a:latin typeface="Arial" charset="0"/>
                <a:cs typeface="Arial" charset="0"/>
              </a:rPr>
              <a:t>by</a:t>
            </a:r>
            <a:r>
              <a:rPr lang="de-DE" dirty="0" smtClean="0">
                <a:latin typeface="Arial" charset="0"/>
                <a:cs typeface="Arial" charset="0"/>
              </a:rPr>
              <a:t> Alexander  (</a:t>
            </a:r>
            <a:r>
              <a:rPr lang="de-DE" dirty="0" err="1" smtClean="0">
                <a:latin typeface="Arial" charset="0"/>
                <a:cs typeface="Arial" charset="0"/>
              </a:rPr>
              <a:t>talk</a:t>
            </a:r>
            <a:r>
              <a:rPr lang="de-DE" dirty="0" smtClean="0">
                <a:latin typeface="Arial" charset="0"/>
                <a:cs typeface="Arial" charset="0"/>
              </a:rPr>
              <a:t> in </a:t>
            </a:r>
            <a:r>
              <a:rPr lang="de-DE" dirty="0" err="1" smtClean="0">
                <a:latin typeface="Arial" charset="0"/>
                <a:cs typeface="Arial" charset="0"/>
              </a:rPr>
              <a:t>this</a:t>
            </a:r>
            <a:r>
              <a:rPr lang="de-DE" dirty="0" smtClean="0">
                <a:latin typeface="Arial" charset="0"/>
                <a:cs typeface="Arial" charset="0"/>
              </a:rPr>
              <a:t> </a:t>
            </a:r>
            <a:r>
              <a:rPr lang="de-DE" dirty="0" err="1" smtClean="0">
                <a:latin typeface="Arial" charset="0"/>
                <a:cs typeface="Arial" charset="0"/>
              </a:rPr>
              <a:t>meeting</a:t>
            </a:r>
            <a:r>
              <a:rPr lang="de-DE" dirty="0" smtClean="0">
                <a:latin typeface="Arial" charset="0"/>
                <a:cs typeface="Arial" charset="0"/>
              </a:rPr>
              <a:t>)</a:t>
            </a:r>
            <a:endParaRPr lang="en-US" dirty="0">
              <a:latin typeface="Arial" charset="0"/>
              <a:cs typeface="Arial" charset="0"/>
            </a:endParaRPr>
          </a:p>
          <a:p>
            <a:pPr marL="285750" indent="-285750" eaLnBrk="1" hangingPunct="1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latin typeface="Arial" charset="0"/>
                <a:cs typeface="Arial" charset="0"/>
              </a:rPr>
              <a:t>Development </a:t>
            </a:r>
            <a:r>
              <a:rPr lang="en-US" dirty="0">
                <a:latin typeface="Arial" charset="0"/>
                <a:cs typeface="Arial" charset="0"/>
              </a:rPr>
              <a:t>of </a:t>
            </a:r>
            <a:r>
              <a:rPr lang="en-US" dirty="0" smtClean="0">
                <a:latin typeface="Arial" charset="0"/>
                <a:cs typeface="Arial" charset="0"/>
              </a:rPr>
              <a:t>MBA-base cell can follow </a:t>
            </a:r>
            <a:r>
              <a:rPr lang="en-US" dirty="0">
                <a:latin typeface="Arial" charset="0"/>
                <a:cs typeface="Arial" charset="0"/>
              </a:rPr>
              <a:t>a </a:t>
            </a:r>
            <a:r>
              <a:rPr lang="en-US" dirty="0" smtClean="0">
                <a:latin typeface="Arial" charset="0"/>
                <a:cs typeface="Arial" charset="0"/>
              </a:rPr>
              <a:t>rather </a:t>
            </a:r>
            <a:r>
              <a:rPr lang="en-US" dirty="0">
                <a:latin typeface="Arial" charset="0"/>
                <a:cs typeface="Arial" charset="0"/>
              </a:rPr>
              <a:t>“deterministic procedure</a:t>
            </a:r>
            <a:r>
              <a:rPr lang="en-US" dirty="0" smtClean="0">
                <a:latin typeface="Arial" charset="0"/>
                <a:cs typeface="Arial" charset="0"/>
              </a:rPr>
              <a:t>”</a:t>
            </a:r>
            <a:endParaRPr lang="en-US" dirty="0">
              <a:latin typeface="Arial" charset="0"/>
              <a:cs typeface="Arial" charset="0"/>
            </a:endParaRPr>
          </a:p>
          <a:p>
            <a:pPr marL="285750" indent="-285750" eaLnBrk="1" hangingPunct="1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latin typeface="Arial" charset="0"/>
                <a:cs typeface="Arial" charset="0"/>
              </a:rPr>
              <a:t>Emphasis on </a:t>
            </a:r>
            <a:r>
              <a:rPr lang="en-US" dirty="0">
                <a:latin typeface="Arial" charset="0"/>
                <a:cs typeface="Arial" charset="0"/>
              </a:rPr>
              <a:t>the </a:t>
            </a:r>
            <a:r>
              <a:rPr lang="en-US" dirty="0" smtClean="0">
                <a:latin typeface="Arial" charset="0"/>
                <a:cs typeface="Arial" charset="0"/>
              </a:rPr>
              <a:t>MBA-base cell</a:t>
            </a:r>
            <a:r>
              <a:rPr lang="en-US" dirty="0">
                <a:latin typeface="Arial" charset="0"/>
                <a:cs typeface="Arial" charset="0"/>
              </a:rPr>
              <a:t>, matching cell and straight section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dirty="0">
                <a:latin typeface="Arial" charset="0"/>
                <a:cs typeface="Arial" charset="0"/>
              </a:rPr>
              <a:t>     will be treated with more care later.</a:t>
            </a:r>
          </a:p>
        </p:txBody>
      </p:sp>
    </p:spTree>
    <p:extLst>
      <p:ext uri="{BB962C8B-B14F-4D97-AF65-F5344CB8AC3E}">
        <p14:creationId xmlns:p14="http://schemas.microsoft.com/office/powerpoint/2010/main" val="8719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 smtClean="0"/>
              <a:t> Content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3</a:t>
            </a:fld>
            <a:endParaRPr lang="de-DE" altLang="en-US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1287719" y="1404000"/>
            <a:ext cx="674928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smtClean="0"/>
              <a:t>Structure of  the talk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How to set up shortest MBA base-cell with minimal emittance – and the lack of alternatives (under the chosen boundary conditions)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Solution for ‘a’ matching cell (not optimized)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‘</a:t>
            </a:r>
            <a:r>
              <a:rPr lang="en-US" dirty="0"/>
              <a:t>P</a:t>
            </a:r>
            <a:r>
              <a:rPr lang="en-US" dirty="0" smtClean="0"/>
              <a:t>rototype’ lattice </a:t>
            </a:r>
          </a:p>
          <a:p>
            <a:pPr>
              <a:spcBef>
                <a:spcPts val="600"/>
              </a:spcBef>
            </a:pPr>
            <a:endParaRPr lang="en-US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Variations of basic lattice (emittance, straights and circumference)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If we combined function magnets after all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85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hteck 57"/>
          <p:cNvSpPr/>
          <p:nvPr/>
        </p:nvSpPr>
        <p:spPr bwMode="auto">
          <a:xfrm flipH="1">
            <a:off x="837000" y="2693799"/>
            <a:ext cx="128584" cy="33020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4108" name="Gruppieren 4107"/>
          <p:cNvGrpSpPr>
            <a:grpSpLocks/>
          </p:cNvGrpSpPr>
          <p:nvPr/>
        </p:nvGrpSpPr>
        <p:grpSpPr bwMode="auto">
          <a:xfrm>
            <a:off x="77788" y="4529560"/>
            <a:ext cx="8742362" cy="2004440"/>
            <a:chOff x="77892" y="4136788"/>
            <a:chExt cx="8742580" cy="2004579"/>
          </a:xfrm>
        </p:grpSpPr>
        <p:grpSp>
          <p:nvGrpSpPr>
            <p:cNvPr id="7219" name="Gruppieren 70"/>
            <p:cNvGrpSpPr>
              <a:grpSpLocks/>
            </p:cNvGrpSpPr>
            <p:nvPr/>
          </p:nvGrpSpPr>
          <p:grpSpPr bwMode="auto">
            <a:xfrm>
              <a:off x="77892" y="4136788"/>
              <a:ext cx="8742580" cy="2004579"/>
              <a:chOff x="149900" y="2204864"/>
              <a:chExt cx="8742580" cy="2004579"/>
            </a:xfrm>
          </p:grpSpPr>
          <p:sp>
            <p:nvSpPr>
              <p:cNvPr id="72" name="Rechteck 71"/>
              <p:cNvSpPr/>
              <p:nvPr/>
            </p:nvSpPr>
            <p:spPr>
              <a:xfrm>
                <a:off x="538847" y="2984381"/>
                <a:ext cx="577864" cy="836670"/>
              </a:xfrm>
              <a:prstGeom prst="rect">
                <a:avLst/>
              </a:prstGeom>
              <a:solidFill>
                <a:srgbClr val="FFFF00">
                  <a:alpha val="52941"/>
                </a:srgb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73" name="Gerade Verbindung 72"/>
              <p:cNvCxnSpPr/>
              <p:nvPr/>
            </p:nvCxnSpPr>
            <p:spPr>
              <a:xfrm flipV="1">
                <a:off x="1111949" y="2708137"/>
                <a:ext cx="4762" cy="116689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Gerade Verbindung 73"/>
              <p:cNvCxnSpPr/>
              <p:nvPr/>
            </p:nvCxnSpPr>
            <p:spPr>
              <a:xfrm flipV="1">
                <a:off x="3772665" y="2708137"/>
                <a:ext cx="11112" cy="111291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40" name="Gruppieren 14"/>
              <p:cNvGrpSpPr>
                <a:grpSpLocks/>
              </p:cNvGrpSpPr>
              <p:nvPr/>
            </p:nvGrpSpPr>
            <p:grpSpPr bwMode="auto">
              <a:xfrm>
                <a:off x="324529" y="2984382"/>
                <a:ext cx="7343958" cy="1219283"/>
                <a:chOff x="-467327" y="2420540"/>
                <a:chExt cx="13339350" cy="1470040"/>
              </a:xfrm>
            </p:grpSpPr>
            <p:cxnSp>
              <p:nvCxnSpPr>
                <p:cNvPr id="98" name="Gerade Verbindung 97"/>
                <p:cNvCxnSpPr/>
                <p:nvPr/>
              </p:nvCxnSpPr>
              <p:spPr>
                <a:xfrm>
                  <a:off x="-467327" y="3429279"/>
                  <a:ext cx="1333935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Rechteck 98"/>
                <p:cNvSpPr/>
                <p:nvPr/>
              </p:nvSpPr>
              <p:spPr>
                <a:xfrm>
                  <a:off x="971569" y="2420540"/>
                  <a:ext cx="1081336" cy="1008739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0" name="Rechteck 99"/>
                <p:cNvSpPr/>
                <p:nvPr/>
              </p:nvSpPr>
              <p:spPr>
                <a:xfrm>
                  <a:off x="2413349" y="2673625"/>
                  <a:ext cx="504624" cy="721623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1" name="Rechteck 100"/>
                <p:cNvSpPr/>
                <p:nvPr/>
              </p:nvSpPr>
              <p:spPr>
                <a:xfrm>
                  <a:off x="4068512" y="2707658"/>
                  <a:ext cx="504624" cy="72162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2" name="Rechteck 101"/>
                <p:cNvSpPr/>
                <p:nvPr/>
              </p:nvSpPr>
              <p:spPr>
                <a:xfrm>
                  <a:off x="4933581" y="3429279"/>
                  <a:ext cx="271055" cy="461301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3" name="Rechteck 102"/>
                <p:cNvSpPr/>
                <p:nvPr/>
              </p:nvSpPr>
              <p:spPr>
                <a:xfrm>
                  <a:off x="3347622" y="2727884"/>
                  <a:ext cx="350236" cy="692118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4" name="Rechteck 103"/>
                <p:cNvSpPr/>
                <p:nvPr/>
              </p:nvSpPr>
              <p:spPr>
                <a:xfrm>
                  <a:off x="5616985" y="2707658"/>
                  <a:ext cx="178781" cy="721622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7229" name="Gruppieren 14"/>
              <p:cNvGrpSpPr>
                <a:grpSpLocks/>
              </p:cNvGrpSpPr>
              <p:nvPr/>
            </p:nvGrpSpPr>
            <p:grpSpPr bwMode="auto">
              <a:xfrm flipH="1">
                <a:off x="149900" y="2984381"/>
                <a:ext cx="8742580" cy="1225062"/>
                <a:chOff x="-4153754" y="2421225"/>
                <a:chExt cx="17025518" cy="1491107"/>
              </a:xfrm>
            </p:grpSpPr>
            <p:cxnSp>
              <p:nvCxnSpPr>
                <p:cNvPr id="86" name="Gerade Verbindung 85"/>
                <p:cNvCxnSpPr/>
                <p:nvPr/>
              </p:nvCxnSpPr>
              <p:spPr>
                <a:xfrm flipV="1">
                  <a:off x="-4153754" y="3427999"/>
                  <a:ext cx="17025518" cy="773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7" name="Rechteck 86"/>
                <p:cNvSpPr/>
                <p:nvPr/>
              </p:nvSpPr>
              <p:spPr>
                <a:xfrm>
                  <a:off x="972142" y="2421225"/>
                  <a:ext cx="1078972" cy="1006774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8" name="Rechteck 87"/>
                <p:cNvSpPr/>
                <p:nvPr/>
              </p:nvSpPr>
              <p:spPr>
                <a:xfrm>
                  <a:off x="2409742" y="2731503"/>
                  <a:ext cx="507025" cy="72078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9" name="Rechteck 88"/>
                <p:cNvSpPr/>
                <p:nvPr/>
              </p:nvSpPr>
              <p:spPr>
                <a:xfrm>
                  <a:off x="4066847" y="2709151"/>
                  <a:ext cx="503934" cy="718849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0" name="Rechteck 89"/>
                <p:cNvSpPr/>
                <p:nvPr/>
              </p:nvSpPr>
              <p:spPr>
                <a:xfrm>
                  <a:off x="4879944" y="3427998"/>
                  <a:ext cx="268971" cy="484334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1" name="Rechteck 90"/>
                <p:cNvSpPr/>
                <p:nvPr/>
              </p:nvSpPr>
              <p:spPr>
                <a:xfrm>
                  <a:off x="3346502" y="2722814"/>
                  <a:ext cx="361718" cy="720782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2" name="Rechteck 91"/>
                <p:cNvSpPr/>
                <p:nvPr/>
              </p:nvSpPr>
              <p:spPr>
                <a:xfrm>
                  <a:off x="5609563" y="2709151"/>
                  <a:ext cx="185497" cy="718849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7228" name="Textfeld 80"/>
              <p:cNvSpPr txBox="1">
                <a:spLocks noChangeArrowheads="1"/>
              </p:cNvSpPr>
              <p:nvPr/>
            </p:nvSpPr>
            <p:spPr bwMode="auto">
              <a:xfrm>
                <a:off x="2314142" y="2204864"/>
                <a:ext cx="3365108" cy="36935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lnSpc>
                    <a:spcPts val="2800"/>
                  </a:lnSpc>
                  <a:spcBef>
                    <a:spcPct val="20000"/>
                  </a:spcBef>
                  <a:buFont typeface="Arial" panose="020B0604020202020204" pitchFamily="34" charset="0"/>
                  <a:defRPr sz="2100" b="1">
                    <a:solidFill>
                      <a:srgbClr val="00589C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tabLst>
                    <a:tab pos="1169988" algn="l"/>
                  </a:tabLs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 b="0" dirty="0">
                    <a:solidFill>
                      <a:schemeClr val="tx1"/>
                    </a:solidFill>
                  </a:rPr>
                  <a:t>Simplest </a:t>
                </a:r>
                <a:r>
                  <a:rPr lang="en-US" altLang="en-US" sz="1800" b="0" dirty="0" smtClean="0">
                    <a:solidFill>
                      <a:schemeClr val="tx1"/>
                    </a:solidFill>
                  </a:rPr>
                  <a:t>matching </a:t>
                </a:r>
                <a:r>
                  <a:rPr lang="en-US" altLang="en-US" sz="1800" b="0" dirty="0">
                    <a:solidFill>
                      <a:schemeClr val="tx1"/>
                    </a:solidFill>
                  </a:rPr>
                  <a:t>cell: ½ MBA</a:t>
                </a:r>
              </a:p>
            </p:txBody>
          </p:sp>
        </p:grpSp>
        <p:sp>
          <p:nvSpPr>
            <p:cNvPr id="118" name="Rechteck 117"/>
            <p:cNvSpPr/>
            <p:nvPr/>
          </p:nvSpPr>
          <p:spPr bwMode="auto">
            <a:xfrm flipH="1">
              <a:off x="6496554" y="5165785"/>
              <a:ext cx="258769" cy="59376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9" name="Rechteck 118"/>
            <p:cNvSpPr/>
            <p:nvPr/>
          </p:nvSpPr>
          <p:spPr bwMode="auto">
            <a:xfrm flipH="1">
              <a:off x="7007502" y="5163972"/>
              <a:ext cx="258769" cy="592178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0" name="Rechteck 119"/>
            <p:cNvSpPr/>
            <p:nvPr/>
          </p:nvSpPr>
          <p:spPr bwMode="auto">
            <a:xfrm flipH="1">
              <a:off x="7539328" y="5151298"/>
              <a:ext cx="258768" cy="59217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0100" y="144000"/>
            <a:ext cx="8229600" cy="4397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1800" dirty="0" smtClean="0"/>
              <a:t> Structure  of  MBA-Lattices</a:t>
            </a:r>
            <a:endParaRPr lang="en-US" sz="1800" dirty="0"/>
          </a:p>
        </p:txBody>
      </p:sp>
      <p:sp>
        <p:nvSpPr>
          <p:cNvPr id="7172" name="Foliennummernplatzhalter 3"/>
          <p:cNvSpPr>
            <a:spLocks noGrp="1"/>
          </p:cNvSpPr>
          <p:nvPr>
            <p:ph type="sldNum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3FE2506E-4A34-4C38-82D2-254208E9D658}" type="slidenum">
              <a:rPr lang="de-DE" altLang="en-US" sz="1200"/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de-DE" altLang="en-US" sz="1200"/>
          </a:p>
        </p:txBody>
      </p:sp>
      <p:sp>
        <p:nvSpPr>
          <p:cNvPr id="3" name="Textfeld 2"/>
          <p:cNvSpPr txBox="1">
            <a:spLocks noChangeArrowheads="1"/>
          </p:cNvSpPr>
          <p:nvPr/>
        </p:nvSpPr>
        <p:spPr bwMode="auto">
          <a:xfrm>
            <a:off x="3027363" y="5241350"/>
            <a:ext cx="18415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</p:txBody>
      </p:sp>
      <p:sp>
        <p:nvSpPr>
          <p:cNvPr id="35" name="Rechteck 34"/>
          <p:cNvSpPr/>
          <p:nvPr/>
        </p:nvSpPr>
        <p:spPr bwMode="auto">
          <a:xfrm>
            <a:off x="2572539" y="1854000"/>
            <a:ext cx="577850" cy="83661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7" name="Gerade Verbindung 46"/>
          <p:cNvCxnSpPr/>
          <p:nvPr/>
        </p:nvCxnSpPr>
        <p:spPr bwMode="auto">
          <a:xfrm flipV="1">
            <a:off x="5806275" y="1031793"/>
            <a:ext cx="7936" cy="1655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4"/>
          <p:cNvCxnSpPr/>
          <p:nvPr/>
        </p:nvCxnSpPr>
        <p:spPr bwMode="auto">
          <a:xfrm flipV="1">
            <a:off x="2358226" y="2668150"/>
            <a:ext cx="6500109" cy="224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/>
          <p:cNvSpPr/>
          <p:nvPr/>
        </p:nvSpPr>
        <p:spPr bwMode="auto">
          <a:xfrm>
            <a:off x="3150389" y="1854000"/>
            <a:ext cx="595312" cy="83661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hteck 11"/>
          <p:cNvSpPr/>
          <p:nvPr/>
        </p:nvSpPr>
        <p:spPr bwMode="auto">
          <a:xfrm>
            <a:off x="5331614" y="2690613"/>
            <a:ext cx="130176" cy="32067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90" name="Textfeld 47"/>
          <p:cNvSpPr txBox="1">
            <a:spLocks noChangeArrowheads="1"/>
          </p:cNvSpPr>
          <p:nvPr/>
        </p:nvSpPr>
        <p:spPr bwMode="auto">
          <a:xfrm>
            <a:off x="3717000" y="823670"/>
            <a:ext cx="19246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Symmetry points</a:t>
            </a:r>
          </a:p>
        </p:txBody>
      </p:sp>
      <p:cxnSp>
        <p:nvCxnSpPr>
          <p:cNvPr id="54" name="Gerade Verbindung 53"/>
          <p:cNvCxnSpPr/>
          <p:nvPr/>
        </p:nvCxnSpPr>
        <p:spPr bwMode="auto">
          <a:xfrm flipH="1">
            <a:off x="252413" y="2677348"/>
            <a:ext cx="8781250" cy="268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hteck 54"/>
          <p:cNvSpPr/>
          <p:nvPr/>
        </p:nvSpPr>
        <p:spPr bwMode="auto">
          <a:xfrm flipH="1">
            <a:off x="7739850" y="1850261"/>
            <a:ext cx="908426" cy="82708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" name="Rechteck 55"/>
          <p:cNvSpPr/>
          <p:nvPr/>
        </p:nvSpPr>
        <p:spPr bwMode="auto">
          <a:xfrm flipH="1">
            <a:off x="7295350" y="2079000"/>
            <a:ext cx="260350" cy="592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7" name="Rechteck 56"/>
          <p:cNvSpPr/>
          <p:nvPr/>
        </p:nvSpPr>
        <p:spPr bwMode="auto">
          <a:xfrm flipH="1">
            <a:off x="6446039" y="2086799"/>
            <a:ext cx="258762" cy="59054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8" name="Rechteck 57"/>
          <p:cNvSpPr/>
          <p:nvPr/>
        </p:nvSpPr>
        <p:spPr bwMode="auto">
          <a:xfrm flipH="1">
            <a:off x="6149175" y="2677347"/>
            <a:ext cx="128584" cy="33020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9" name="Rechteck 58"/>
          <p:cNvSpPr/>
          <p:nvPr/>
        </p:nvSpPr>
        <p:spPr bwMode="auto">
          <a:xfrm flipH="1">
            <a:off x="6888950" y="2079000"/>
            <a:ext cx="185738" cy="59213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" name="Rechteck 59"/>
          <p:cNvSpPr/>
          <p:nvPr/>
        </p:nvSpPr>
        <p:spPr bwMode="auto">
          <a:xfrm flipH="1">
            <a:off x="5820564" y="2093149"/>
            <a:ext cx="92075" cy="590549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19" name="Gerade Verbindung mit Pfeil 18"/>
          <p:cNvCxnSpPr>
            <a:stCxn id="7190" idx="1"/>
          </p:cNvCxnSpPr>
          <p:nvPr/>
        </p:nvCxnSpPr>
        <p:spPr bwMode="auto">
          <a:xfrm flipH="1">
            <a:off x="3119439" y="1008336"/>
            <a:ext cx="597561" cy="5273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/>
          <p:cNvCxnSpPr>
            <a:stCxn id="7190" idx="2"/>
          </p:cNvCxnSpPr>
          <p:nvPr/>
        </p:nvCxnSpPr>
        <p:spPr bwMode="auto">
          <a:xfrm>
            <a:off x="4679331" y="1193002"/>
            <a:ext cx="1095888" cy="4490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5" name="Textfeld 33"/>
          <p:cNvSpPr txBox="1">
            <a:spLocks noChangeArrowheads="1"/>
          </p:cNvSpPr>
          <p:nvPr/>
        </p:nvSpPr>
        <p:spPr bwMode="auto">
          <a:xfrm>
            <a:off x="2457000" y="3338996"/>
            <a:ext cx="1390124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chemeClr val="tx1"/>
                </a:solidFill>
              </a:rPr>
              <a:t>Full MBA-cell</a:t>
            </a:r>
          </a:p>
        </p:txBody>
      </p:sp>
      <p:sp>
        <p:nvSpPr>
          <p:cNvPr id="108" name="Freihandform 107"/>
          <p:cNvSpPr/>
          <p:nvPr/>
        </p:nvSpPr>
        <p:spPr>
          <a:xfrm flipH="1">
            <a:off x="5814214" y="2151887"/>
            <a:ext cx="2481262" cy="414338"/>
          </a:xfrm>
          <a:custGeom>
            <a:avLst/>
            <a:gdLst>
              <a:gd name="connsiteX0" fmla="*/ 0 w 2651760"/>
              <a:gd name="connsiteY0" fmla="*/ 400050 h 414418"/>
              <a:gd name="connsiteX1" fmla="*/ 822960 w 2651760"/>
              <a:gd name="connsiteY1" fmla="*/ 400050 h 414418"/>
              <a:gd name="connsiteX2" fmla="*/ 857250 w 2651760"/>
              <a:gd name="connsiteY2" fmla="*/ 388620 h 414418"/>
              <a:gd name="connsiteX3" fmla="*/ 925830 w 2651760"/>
              <a:gd name="connsiteY3" fmla="*/ 377190 h 414418"/>
              <a:gd name="connsiteX4" fmla="*/ 971550 w 2651760"/>
              <a:gd name="connsiteY4" fmla="*/ 365760 h 414418"/>
              <a:gd name="connsiteX5" fmla="*/ 1028700 w 2651760"/>
              <a:gd name="connsiteY5" fmla="*/ 354330 h 414418"/>
              <a:gd name="connsiteX6" fmla="*/ 1062990 w 2651760"/>
              <a:gd name="connsiteY6" fmla="*/ 342900 h 414418"/>
              <a:gd name="connsiteX7" fmla="*/ 1154430 w 2651760"/>
              <a:gd name="connsiteY7" fmla="*/ 320040 h 414418"/>
              <a:gd name="connsiteX8" fmla="*/ 1234440 w 2651760"/>
              <a:gd name="connsiteY8" fmla="*/ 297180 h 414418"/>
              <a:gd name="connsiteX9" fmla="*/ 1268730 w 2651760"/>
              <a:gd name="connsiteY9" fmla="*/ 274320 h 414418"/>
              <a:gd name="connsiteX10" fmla="*/ 1337310 w 2651760"/>
              <a:gd name="connsiteY10" fmla="*/ 251460 h 414418"/>
              <a:gd name="connsiteX11" fmla="*/ 1405890 w 2651760"/>
              <a:gd name="connsiteY11" fmla="*/ 205740 h 414418"/>
              <a:gd name="connsiteX12" fmla="*/ 1474470 w 2651760"/>
              <a:gd name="connsiteY12" fmla="*/ 182880 h 414418"/>
              <a:gd name="connsiteX13" fmla="*/ 1543050 w 2651760"/>
              <a:gd name="connsiteY13" fmla="*/ 148590 h 414418"/>
              <a:gd name="connsiteX14" fmla="*/ 1577340 w 2651760"/>
              <a:gd name="connsiteY14" fmla="*/ 125730 h 414418"/>
              <a:gd name="connsiteX15" fmla="*/ 1611630 w 2651760"/>
              <a:gd name="connsiteY15" fmla="*/ 114300 h 414418"/>
              <a:gd name="connsiteX16" fmla="*/ 1680210 w 2651760"/>
              <a:gd name="connsiteY16" fmla="*/ 68580 h 414418"/>
              <a:gd name="connsiteX17" fmla="*/ 1714500 w 2651760"/>
              <a:gd name="connsiteY17" fmla="*/ 45720 h 414418"/>
              <a:gd name="connsiteX18" fmla="*/ 1783080 w 2651760"/>
              <a:gd name="connsiteY18" fmla="*/ 22860 h 414418"/>
              <a:gd name="connsiteX19" fmla="*/ 1817370 w 2651760"/>
              <a:gd name="connsiteY19" fmla="*/ 11430 h 414418"/>
              <a:gd name="connsiteX20" fmla="*/ 1851660 w 2651760"/>
              <a:gd name="connsiteY20" fmla="*/ 0 h 414418"/>
              <a:gd name="connsiteX21" fmla="*/ 2651760 w 2651760"/>
              <a:gd name="connsiteY21" fmla="*/ 0 h 41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51760" h="414418">
                <a:moveTo>
                  <a:pt x="0" y="400050"/>
                </a:moveTo>
                <a:cubicBezTo>
                  <a:pt x="375285" y="418814"/>
                  <a:pt x="285361" y="419599"/>
                  <a:pt x="822960" y="400050"/>
                </a:cubicBezTo>
                <a:cubicBezTo>
                  <a:pt x="835000" y="399612"/>
                  <a:pt x="845489" y="391234"/>
                  <a:pt x="857250" y="388620"/>
                </a:cubicBezTo>
                <a:cubicBezTo>
                  <a:pt x="879873" y="383593"/>
                  <a:pt x="903105" y="381735"/>
                  <a:pt x="925830" y="377190"/>
                </a:cubicBezTo>
                <a:cubicBezTo>
                  <a:pt x="941234" y="374109"/>
                  <a:pt x="956215" y="369168"/>
                  <a:pt x="971550" y="365760"/>
                </a:cubicBezTo>
                <a:cubicBezTo>
                  <a:pt x="990515" y="361546"/>
                  <a:pt x="1009853" y="359042"/>
                  <a:pt x="1028700" y="354330"/>
                </a:cubicBezTo>
                <a:cubicBezTo>
                  <a:pt x="1040389" y="351408"/>
                  <a:pt x="1051366" y="346070"/>
                  <a:pt x="1062990" y="342900"/>
                </a:cubicBezTo>
                <a:cubicBezTo>
                  <a:pt x="1093301" y="334633"/>
                  <a:pt x="1124624" y="329975"/>
                  <a:pt x="1154430" y="320040"/>
                </a:cubicBezTo>
                <a:cubicBezTo>
                  <a:pt x="1203623" y="303642"/>
                  <a:pt x="1177031" y="311532"/>
                  <a:pt x="1234440" y="297180"/>
                </a:cubicBezTo>
                <a:cubicBezTo>
                  <a:pt x="1245870" y="289560"/>
                  <a:pt x="1256177" y="279899"/>
                  <a:pt x="1268730" y="274320"/>
                </a:cubicBezTo>
                <a:cubicBezTo>
                  <a:pt x="1290750" y="264533"/>
                  <a:pt x="1317260" y="264826"/>
                  <a:pt x="1337310" y="251460"/>
                </a:cubicBezTo>
                <a:cubicBezTo>
                  <a:pt x="1360170" y="236220"/>
                  <a:pt x="1379826" y="214428"/>
                  <a:pt x="1405890" y="205740"/>
                </a:cubicBezTo>
                <a:cubicBezTo>
                  <a:pt x="1428750" y="198120"/>
                  <a:pt x="1454420" y="196246"/>
                  <a:pt x="1474470" y="182880"/>
                </a:cubicBezTo>
                <a:cubicBezTo>
                  <a:pt x="1572740" y="117366"/>
                  <a:pt x="1448406" y="195912"/>
                  <a:pt x="1543050" y="148590"/>
                </a:cubicBezTo>
                <a:cubicBezTo>
                  <a:pt x="1555337" y="142447"/>
                  <a:pt x="1565053" y="131873"/>
                  <a:pt x="1577340" y="125730"/>
                </a:cubicBezTo>
                <a:cubicBezTo>
                  <a:pt x="1588116" y="120342"/>
                  <a:pt x="1601098" y="120151"/>
                  <a:pt x="1611630" y="114300"/>
                </a:cubicBezTo>
                <a:cubicBezTo>
                  <a:pt x="1635647" y="100957"/>
                  <a:pt x="1657350" y="83820"/>
                  <a:pt x="1680210" y="68580"/>
                </a:cubicBezTo>
                <a:cubicBezTo>
                  <a:pt x="1691640" y="60960"/>
                  <a:pt x="1701468" y="50064"/>
                  <a:pt x="1714500" y="45720"/>
                </a:cubicBezTo>
                <a:lnTo>
                  <a:pt x="1783080" y="22860"/>
                </a:lnTo>
                <a:lnTo>
                  <a:pt x="1817370" y="11430"/>
                </a:lnTo>
                <a:cubicBezTo>
                  <a:pt x="1828800" y="7620"/>
                  <a:pt x="1839612" y="0"/>
                  <a:pt x="1851660" y="0"/>
                </a:cubicBezTo>
                <a:lnTo>
                  <a:pt x="2651760" y="0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9" name="Freihandform 108"/>
          <p:cNvSpPr/>
          <p:nvPr/>
        </p:nvSpPr>
        <p:spPr>
          <a:xfrm>
            <a:off x="1039813" y="5624663"/>
            <a:ext cx="2652712" cy="414337"/>
          </a:xfrm>
          <a:custGeom>
            <a:avLst/>
            <a:gdLst>
              <a:gd name="connsiteX0" fmla="*/ 0 w 2651760"/>
              <a:gd name="connsiteY0" fmla="*/ 400050 h 414418"/>
              <a:gd name="connsiteX1" fmla="*/ 822960 w 2651760"/>
              <a:gd name="connsiteY1" fmla="*/ 400050 h 414418"/>
              <a:gd name="connsiteX2" fmla="*/ 857250 w 2651760"/>
              <a:gd name="connsiteY2" fmla="*/ 388620 h 414418"/>
              <a:gd name="connsiteX3" fmla="*/ 925830 w 2651760"/>
              <a:gd name="connsiteY3" fmla="*/ 377190 h 414418"/>
              <a:gd name="connsiteX4" fmla="*/ 971550 w 2651760"/>
              <a:gd name="connsiteY4" fmla="*/ 365760 h 414418"/>
              <a:gd name="connsiteX5" fmla="*/ 1028700 w 2651760"/>
              <a:gd name="connsiteY5" fmla="*/ 354330 h 414418"/>
              <a:gd name="connsiteX6" fmla="*/ 1062990 w 2651760"/>
              <a:gd name="connsiteY6" fmla="*/ 342900 h 414418"/>
              <a:gd name="connsiteX7" fmla="*/ 1154430 w 2651760"/>
              <a:gd name="connsiteY7" fmla="*/ 320040 h 414418"/>
              <a:gd name="connsiteX8" fmla="*/ 1234440 w 2651760"/>
              <a:gd name="connsiteY8" fmla="*/ 297180 h 414418"/>
              <a:gd name="connsiteX9" fmla="*/ 1268730 w 2651760"/>
              <a:gd name="connsiteY9" fmla="*/ 274320 h 414418"/>
              <a:gd name="connsiteX10" fmla="*/ 1337310 w 2651760"/>
              <a:gd name="connsiteY10" fmla="*/ 251460 h 414418"/>
              <a:gd name="connsiteX11" fmla="*/ 1405890 w 2651760"/>
              <a:gd name="connsiteY11" fmla="*/ 205740 h 414418"/>
              <a:gd name="connsiteX12" fmla="*/ 1474470 w 2651760"/>
              <a:gd name="connsiteY12" fmla="*/ 182880 h 414418"/>
              <a:gd name="connsiteX13" fmla="*/ 1543050 w 2651760"/>
              <a:gd name="connsiteY13" fmla="*/ 148590 h 414418"/>
              <a:gd name="connsiteX14" fmla="*/ 1577340 w 2651760"/>
              <a:gd name="connsiteY14" fmla="*/ 125730 h 414418"/>
              <a:gd name="connsiteX15" fmla="*/ 1611630 w 2651760"/>
              <a:gd name="connsiteY15" fmla="*/ 114300 h 414418"/>
              <a:gd name="connsiteX16" fmla="*/ 1680210 w 2651760"/>
              <a:gd name="connsiteY16" fmla="*/ 68580 h 414418"/>
              <a:gd name="connsiteX17" fmla="*/ 1714500 w 2651760"/>
              <a:gd name="connsiteY17" fmla="*/ 45720 h 414418"/>
              <a:gd name="connsiteX18" fmla="*/ 1783080 w 2651760"/>
              <a:gd name="connsiteY18" fmla="*/ 22860 h 414418"/>
              <a:gd name="connsiteX19" fmla="*/ 1817370 w 2651760"/>
              <a:gd name="connsiteY19" fmla="*/ 11430 h 414418"/>
              <a:gd name="connsiteX20" fmla="*/ 1851660 w 2651760"/>
              <a:gd name="connsiteY20" fmla="*/ 0 h 414418"/>
              <a:gd name="connsiteX21" fmla="*/ 2651760 w 2651760"/>
              <a:gd name="connsiteY21" fmla="*/ 0 h 41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51760" h="414418">
                <a:moveTo>
                  <a:pt x="0" y="400050"/>
                </a:moveTo>
                <a:cubicBezTo>
                  <a:pt x="375285" y="418814"/>
                  <a:pt x="285361" y="419599"/>
                  <a:pt x="822960" y="400050"/>
                </a:cubicBezTo>
                <a:cubicBezTo>
                  <a:pt x="835000" y="399612"/>
                  <a:pt x="845489" y="391234"/>
                  <a:pt x="857250" y="388620"/>
                </a:cubicBezTo>
                <a:cubicBezTo>
                  <a:pt x="879873" y="383593"/>
                  <a:pt x="903105" y="381735"/>
                  <a:pt x="925830" y="377190"/>
                </a:cubicBezTo>
                <a:cubicBezTo>
                  <a:pt x="941234" y="374109"/>
                  <a:pt x="956215" y="369168"/>
                  <a:pt x="971550" y="365760"/>
                </a:cubicBezTo>
                <a:cubicBezTo>
                  <a:pt x="990515" y="361546"/>
                  <a:pt x="1009853" y="359042"/>
                  <a:pt x="1028700" y="354330"/>
                </a:cubicBezTo>
                <a:cubicBezTo>
                  <a:pt x="1040389" y="351408"/>
                  <a:pt x="1051366" y="346070"/>
                  <a:pt x="1062990" y="342900"/>
                </a:cubicBezTo>
                <a:cubicBezTo>
                  <a:pt x="1093301" y="334633"/>
                  <a:pt x="1124624" y="329975"/>
                  <a:pt x="1154430" y="320040"/>
                </a:cubicBezTo>
                <a:cubicBezTo>
                  <a:pt x="1203623" y="303642"/>
                  <a:pt x="1177031" y="311532"/>
                  <a:pt x="1234440" y="297180"/>
                </a:cubicBezTo>
                <a:cubicBezTo>
                  <a:pt x="1245870" y="289560"/>
                  <a:pt x="1256177" y="279899"/>
                  <a:pt x="1268730" y="274320"/>
                </a:cubicBezTo>
                <a:cubicBezTo>
                  <a:pt x="1290750" y="264533"/>
                  <a:pt x="1317260" y="264826"/>
                  <a:pt x="1337310" y="251460"/>
                </a:cubicBezTo>
                <a:cubicBezTo>
                  <a:pt x="1360170" y="236220"/>
                  <a:pt x="1379826" y="214428"/>
                  <a:pt x="1405890" y="205740"/>
                </a:cubicBezTo>
                <a:cubicBezTo>
                  <a:pt x="1428750" y="198120"/>
                  <a:pt x="1454420" y="196246"/>
                  <a:pt x="1474470" y="182880"/>
                </a:cubicBezTo>
                <a:cubicBezTo>
                  <a:pt x="1572740" y="117366"/>
                  <a:pt x="1448406" y="195912"/>
                  <a:pt x="1543050" y="148590"/>
                </a:cubicBezTo>
                <a:cubicBezTo>
                  <a:pt x="1555337" y="142447"/>
                  <a:pt x="1565053" y="131873"/>
                  <a:pt x="1577340" y="125730"/>
                </a:cubicBezTo>
                <a:cubicBezTo>
                  <a:pt x="1588116" y="120342"/>
                  <a:pt x="1601098" y="120151"/>
                  <a:pt x="1611630" y="114300"/>
                </a:cubicBezTo>
                <a:cubicBezTo>
                  <a:pt x="1635647" y="100957"/>
                  <a:pt x="1657350" y="83820"/>
                  <a:pt x="1680210" y="68580"/>
                </a:cubicBezTo>
                <a:cubicBezTo>
                  <a:pt x="1691640" y="60960"/>
                  <a:pt x="1701468" y="50064"/>
                  <a:pt x="1714500" y="45720"/>
                </a:cubicBezTo>
                <a:lnTo>
                  <a:pt x="1783080" y="22860"/>
                </a:lnTo>
                <a:lnTo>
                  <a:pt x="1817370" y="11430"/>
                </a:lnTo>
                <a:cubicBezTo>
                  <a:pt x="1828800" y="7620"/>
                  <a:pt x="1839612" y="0"/>
                  <a:pt x="1851660" y="0"/>
                </a:cubicBezTo>
                <a:lnTo>
                  <a:pt x="2651760" y="0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9" name="Rechteck 4098"/>
          <p:cNvSpPr>
            <a:spLocks noChangeArrowheads="1"/>
          </p:cNvSpPr>
          <p:nvPr/>
        </p:nvSpPr>
        <p:spPr bwMode="auto">
          <a:xfrm>
            <a:off x="6389688" y="4804164"/>
            <a:ext cx="11398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Symbol" panose="05050102010706020507" pitchFamily="18" charset="2"/>
              </a:rPr>
              <a:t>h = h</a:t>
            </a:r>
            <a:r>
              <a:rPr lang="en-US" altLang="en-US" sz="1800" b="0" dirty="0">
                <a:solidFill>
                  <a:schemeClr val="tx1"/>
                </a:solidFill>
              </a:rPr>
              <a:t>’ </a:t>
            </a:r>
            <a:r>
              <a:rPr lang="en-US" altLang="en-US" sz="1600" b="0" dirty="0">
                <a:solidFill>
                  <a:schemeClr val="tx1"/>
                </a:solidFill>
              </a:rPr>
              <a:t>= 0</a:t>
            </a:r>
          </a:p>
        </p:txBody>
      </p:sp>
      <p:cxnSp>
        <p:nvCxnSpPr>
          <p:cNvPr id="4103" name="Gerade Verbindung mit Pfeil 4102"/>
          <p:cNvCxnSpPr>
            <a:stCxn id="4099" idx="2"/>
          </p:cNvCxnSpPr>
          <p:nvPr/>
        </p:nvCxnSpPr>
        <p:spPr>
          <a:xfrm flipH="1">
            <a:off x="6280150" y="5174051"/>
            <a:ext cx="679451" cy="8540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" name="Freihandform 4095"/>
          <p:cNvSpPr/>
          <p:nvPr/>
        </p:nvSpPr>
        <p:spPr>
          <a:xfrm>
            <a:off x="3692525" y="5625763"/>
            <a:ext cx="2376488" cy="503237"/>
          </a:xfrm>
          <a:custGeom>
            <a:avLst/>
            <a:gdLst>
              <a:gd name="connsiteX0" fmla="*/ 0 w 2377440"/>
              <a:gd name="connsiteY0" fmla="*/ 0 h 503924"/>
              <a:gd name="connsiteX1" fmla="*/ 754380 w 2377440"/>
              <a:gd name="connsiteY1" fmla="*/ 11430 h 503924"/>
              <a:gd name="connsiteX2" fmla="*/ 891540 w 2377440"/>
              <a:gd name="connsiteY2" fmla="*/ 80010 h 503924"/>
              <a:gd name="connsiteX3" fmla="*/ 960120 w 2377440"/>
              <a:gd name="connsiteY3" fmla="*/ 114300 h 503924"/>
              <a:gd name="connsiteX4" fmla="*/ 994410 w 2377440"/>
              <a:gd name="connsiteY4" fmla="*/ 125730 h 503924"/>
              <a:gd name="connsiteX5" fmla="*/ 1028700 w 2377440"/>
              <a:gd name="connsiteY5" fmla="*/ 148590 h 503924"/>
              <a:gd name="connsiteX6" fmla="*/ 1097280 w 2377440"/>
              <a:gd name="connsiteY6" fmla="*/ 171450 h 503924"/>
              <a:gd name="connsiteX7" fmla="*/ 1131570 w 2377440"/>
              <a:gd name="connsiteY7" fmla="*/ 194310 h 503924"/>
              <a:gd name="connsiteX8" fmla="*/ 1200150 w 2377440"/>
              <a:gd name="connsiteY8" fmla="*/ 217170 h 503924"/>
              <a:gd name="connsiteX9" fmla="*/ 1303020 w 2377440"/>
              <a:gd name="connsiteY9" fmla="*/ 262890 h 503924"/>
              <a:gd name="connsiteX10" fmla="*/ 1337310 w 2377440"/>
              <a:gd name="connsiteY10" fmla="*/ 274320 h 503924"/>
              <a:gd name="connsiteX11" fmla="*/ 1371600 w 2377440"/>
              <a:gd name="connsiteY11" fmla="*/ 285750 h 503924"/>
              <a:gd name="connsiteX12" fmla="*/ 1405890 w 2377440"/>
              <a:gd name="connsiteY12" fmla="*/ 308610 h 503924"/>
              <a:gd name="connsiteX13" fmla="*/ 1440180 w 2377440"/>
              <a:gd name="connsiteY13" fmla="*/ 320040 h 503924"/>
              <a:gd name="connsiteX14" fmla="*/ 1588770 w 2377440"/>
              <a:gd name="connsiteY14" fmla="*/ 342900 h 503924"/>
              <a:gd name="connsiteX15" fmla="*/ 1725930 w 2377440"/>
              <a:gd name="connsiteY15" fmla="*/ 388620 h 503924"/>
              <a:gd name="connsiteX16" fmla="*/ 1760220 w 2377440"/>
              <a:gd name="connsiteY16" fmla="*/ 400050 h 503924"/>
              <a:gd name="connsiteX17" fmla="*/ 1794510 w 2377440"/>
              <a:gd name="connsiteY17" fmla="*/ 411480 h 503924"/>
              <a:gd name="connsiteX18" fmla="*/ 1851660 w 2377440"/>
              <a:gd name="connsiteY18" fmla="*/ 422910 h 503924"/>
              <a:gd name="connsiteX19" fmla="*/ 1965960 w 2377440"/>
              <a:gd name="connsiteY19" fmla="*/ 457200 h 503924"/>
              <a:gd name="connsiteX20" fmla="*/ 2057400 w 2377440"/>
              <a:gd name="connsiteY20" fmla="*/ 468630 h 503924"/>
              <a:gd name="connsiteX21" fmla="*/ 2286000 w 2377440"/>
              <a:gd name="connsiteY21" fmla="*/ 491490 h 503924"/>
              <a:gd name="connsiteX22" fmla="*/ 2377440 w 2377440"/>
              <a:gd name="connsiteY22" fmla="*/ 502920 h 50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377440" h="503924">
                <a:moveTo>
                  <a:pt x="0" y="0"/>
                </a:moveTo>
                <a:cubicBezTo>
                  <a:pt x="251460" y="3810"/>
                  <a:pt x="503109" y="960"/>
                  <a:pt x="754380" y="11430"/>
                </a:cubicBezTo>
                <a:cubicBezTo>
                  <a:pt x="843218" y="15132"/>
                  <a:pt x="809531" y="52674"/>
                  <a:pt x="891540" y="80010"/>
                </a:cubicBezTo>
                <a:cubicBezTo>
                  <a:pt x="977729" y="108740"/>
                  <a:pt x="871490" y="69985"/>
                  <a:pt x="960120" y="114300"/>
                </a:cubicBezTo>
                <a:cubicBezTo>
                  <a:pt x="970896" y="119688"/>
                  <a:pt x="983634" y="120342"/>
                  <a:pt x="994410" y="125730"/>
                </a:cubicBezTo>
                <a:cubicBezTo>
                  <a:pt x="1006697" y="131873"/>
                  <a:pt x="1016147" y="143011"/>
                  <a:pt x="1028700" y="148590"/>
                </a:cubicBezTo>
                <a:cubicBezTo>
                  <a:pt x="1050720" y="158377"/>
                  <a:pt x="1077230" y="158084"/>
                  <a:pt x="1097280" y="171450"/>
                </a:cubicBezTo>
                <a:cubicBezTo>
                  <a:pt x="1108710" y="179070"/>
                  <a:pt x="1119017" y="188731"/>
                  <a:pt x="1131570" y="194310"/>
                </a:cubicBezTo>
                <a:cubicBezTo>
                  <a:pt x="1153590" y="204097"/>
                  <a:pt x="1180100" y="203804"/>
                  <a:pt x="1200150" y="217170"/>
                </a:cubicBezTo>
                <a:cubicBezTo>
                  <a:pt x="1254490" y="253396"/>
                  <a:pt x="1221408" y="235686"/>
                  <a:pt x="1303020" y="262890"/>
                </a:cubicBezTo>
                <a:lnTo>
                  <a:pt x="1337310" y="274320"/>
                </a:lnTo>
                <a:cubicBezTo>
                  <a:pt x="1348740" y="278130"/>
                  <a:pt x="1361575" y="279067"/>
                  <a:pt x="1371600" y="285750"/>
                </a:cubicBezTo>
                <a:cubicBezTo>
                  <a:pt x="1383030" y="293370"/>
                  <a:pt x="1393603" y="302467"/>
                  <a:pt x="1405890" y="308610"/>
                </a:cubicBezTo>
                <a:cubicBezTo>
                  <a:pt x="1416666" y="313998"/>
                  <a:pt x="1428595" y="316730"/>
                  <a:pt x="1440180" y="320040"/>
                </a:cubicBezTo>
                <a:cubicBezTo>
                  <a:pt x="1503173" y="338038"/>
                  <a:pt x="1505862" y="333688"/>
                  <a:pt x="1588770" y="342900"/>
                </a:cubicBezTo>
                <a:lnTo>
                  <a:pt x="1725930" y="388620"/>
                </a:lnTo>
                <a:lnTo>
                  <a:pt x="1760220" y="400050"/>
                </a:lnTo>
                <a:cubicBezTo>
                  <a:pt x="1771650" y="403860"/>
                  <a:pt x="1782696" y="409117"/>
                  <a:pt x="1794510" y="411480"/>
                </a:cubicBezTo>
                <a:cubicBezTo>
                  <a:pt x="1813560" y="415290"/>
                  <a:pt x="1832917" y="417798"/>
                  <a:pt x="1851660" y="422910"/>
                </a:cubicBezTo>
                <a:cubicBezTo>
                  <a:pt x="1899569" y="435976"/>
                  <a:pt x="1920054" y="449549"/>
                  <a:pt x="1965960" y="457200"/>
                </a:cubicBezTo>
                <a:cubicBezTo>
                  <a:pt x="1996259" y="462250"/>
                  <a:pt x="2026893" y="465041"/>
                  <a:pt x="2057400" y="468630"/>
                </a:cubicBezTo>
                <a:cubicBezTo>
                  <a:pt x="2166725" y="481492"/>
                  <a:pt x="2169053" y="480858"/>
                  <a:pt x="2286000" y="491490"/>
                </a:cubicBezTo>
                <a:cubicBezTo>
                  <a:pt x="2338362" y="508944"/>
                  <a:pt x="2308242" y="502920"/>
                  <a:pt x="2377440" y="502920"/>
                </a:cubicBezTo>
              </a:path>
            </a:pathLst>
          </a:cu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1" name="Right Brace 130"/>
          <p:cNvSpPr/>
          <p:nvPr/>
        </p:nvSpPr>
        <p:spPr>
          <a:xfrm rot="5400000">
            <a:off x="2957359" y="488366"/>
            <a:ext cx="348381" cy="5329650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86999" y="909000"/>
            <a:ext cx="1710001" cy="369332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rgbClr val="00589C"/>
                </a:solidFill>
              </a:rPr>
              <a:t>MBA </a:t>
            </a:r>
            <a:r>
              <a:rPr lang="de-DE" dirty="0" err="1" smtClean="0">
                <a:solidFill>
                  <a:srgbClr val="00589C"/>
                </a:solidFill>
              </a:rPr>
              <a:t>base</a:t>
            </a:r>
            <a:r>
              <a:rPr lang="de-DE" dirty="0" smtClean="0">
                <a:solidFill>
                  <a:srgbClr val="00589C"/>
                </a:solidFill>
              </a:rPr>
              <a:t> </a:t>
            </a:r>
            <a:r>
              <a:rPr lang="de-DE" dirty="0" err="1" smtClean="0">
                <a:solidFill>
                  <a:srgbClr val="00589C"/>
                </a:solidFill>
              </a:rPr>
              <a:t>cell</a:t>
            </a:r>
            <a:endParaRPr lang="en-US" dirty="0">
              <a:solidFill>
                <a:srgbClr val="00589C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26019" y="4409668"/>
            <a:ext cx="1680981" cy="369332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 smtClean="0">
                <a:solidFill>
                  <a:srgbClr val="00589C"/>
                </a:solidFill>
              </a:rPr>
              <a:t>Matching-cell</a:t>
            </a:r>
            <a:endParaRPr lang="en-US" dirty="0">
              <a:solidFill>
                <a:srgbClr val="00589C"/>
              </a:solidFill>
            </a:endParaRPr>
          </a:p>
        </p:txBody>
      </p:sp>
      <p:sp>
        <p:nvSpPr>
          <p:cNvPr id="76" name="Textfeld 113"/>
          <p:cNvSpPr txBox="1">
            <a:spLocks noChangeArrowheads="1"/>
          </p:cNvSpPr>
          <p:nvPr/>
        </p:nvSpPr>
        <p:spPr bwMode="auto">
          <a:xfrm>
            <a:off x="3990977" y="5489112"/>
            <a:ext cx="400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altLang="en-US" sz="1800" b="0" baseline="-25000" dirty="0" err="1">
                <a:solidFill>
                  <a:schemeClr val="tx1"/>
                </a:solidFill>
              </a:rPr>
              <a:t>x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77" name="Textfeld 33"/>
          <p:cNvSpPr txBox="1">
            <a:spLocks noChangeArrowheads="1"/>
          </p:cNvSpPr>
          <p:nvPr/>
        </p:nvSpPr>
        <p:spPr bwMode="auto">
          <a:xfrm>
            <a:off x="6553756" y="3325207"/>
            <a:ext cx="1617662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 dirty="0" smtClean="0">
                <a:solidFill>
                  <a:schemeClr val="tx1"/>
                </a:solidFill>
              </a:rPr>
              <a:t>Next MBA-cell</a:t>
            </a:r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78" name="Right Brace 77"/>
          <p:cNvSpPr/>
          <p:nvPr/>
        </p:nvSpPr>
        <p:spPr>
          <a:xfrm rot="5400000">
            <a:off x="7223459" y="1597910"/>
            <a:ext cx="303334" cy="3109124"/>
          </a:xfrm>
          <a:prstGeom prst="rightBrace">
            <a:avLst>
              <a:gd name="adj1" fmla="val 0"/>
              <a:gd name="adj2" fmla="val 4952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Gerade Verbindung 32"/>
          <p:cNvCxnSpPr/>
          <p:nvPr/>
        </p:nvCxnSpPr>
        <p:spPr bwMode="auto">
          <a:xfrm flipV="1">
            <a:off x="3127237" y="1539000"/>
            <a:ext cx="4763" cy="11652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8" name="Textfeld 113"/>
          <p:cNvSpPr txBox="1">
            <a:spLocks noChangeArrowheads="1"/>
          </p:cNvSpPr>
          <p:nvPr/>
        </p:nvSpPr>
        <p:spPr bwMode="auto">
          <a:xfrm>
            <a:off x="5121376" y="1744579"/>
            <a:ext cx="4005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altLang="en-US" sz="1800" b="0" baseline="-25000" dirty="0" err="1">
                <a:solidFill>
                  <a:schemeClr val="tx1"/>
                </a:solidFill>
              </a:rPr>
              <a:t>x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252822" y="2034000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/>
              <a:t>B</a:t>
            </a:r>
            <a:endParaRPr lang="en-US" sz="1600" dirty="0"/>
          </a:p>
        </p:txBody>
      </p:sp>
      <p:sp>
        <p:nvSpPr>
          <p:cNvPr id="82" name="TextBox 81"/>
          <p:cNvSpPr txBox="1"/>
          <p:nvPr/>
        </p:nvSpPr>
        <p:spPr>
          <a:xfrm>
            <a:off x="4806376" y="2069668"/>
            <a:ext cx="344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/>
              <a:t>Q</a:t>
            </a:r>
            <a:endParaRPr lang="en-US" sz="1600" dirty="0"/>
          </a:p>
        </p:txBody>
      </p:sp>
      <p:sp>
        <p:nvSpPr>
          <p:cNvPr id="96" name="Textfeld 33"/>
          <p:cNvSpPr txBox="1">
            <a:spLocks noChangeArrowheads="1"/>
          </p:cNvSpPr>
          <p:nvPr/>
        </p:nvSpPr>
        <p:spPr bwMode="auto">
          <a:xfrm>
            <a:off x="4167000" y="6444000"/>
            <a:ext cx="1617662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 dirty="0" smtClean="0">
                <a:solidFill>
                  <a:schemeClr val="tx1"/>
                </a:solidFill>
              </a:rPr>
              <a:t>Matching cell</a:t>
            </a:r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97" name="Right Brace 96"/>
          <p:cNvSpPr/>
          <p:nvPr/>
        </p:nvSpPr>
        <p:spPr>
          <a:xfrm rot="5400000">
            <a:off x="4786833" y="5031093"/>
            <a:ext cx="331410" cy="2471074"/>
          </a:xfrm>
          <a:prstGeom prst="rightBrace">
            <a:avLst>
              <a:gd name="adj1" fmla="val 0"/>
              <a:gd name="adj2" fmla="val 4952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/>
          <p:cNvSpPr/>
          <p:nvPr/>
        </p:nvSpPr>
        <p:spPr bwMode="auto">
          <a:xfrm>
            <a:off x="3944139" y="2082739"/>
            <a:ext cx="277812" cy="59848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hteck 10"/>
          <p:cNvSpPr/>
          <p:nvPr/>
        </p:nvSpPr>
        <p:spPr bwMode="auto">
          <a:xfrm>
            <a:off x="4855364" y="2092125"/>
            <a:ext cx="277812" cy="59848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hteck 7"/>
          <p:cNvSpPr/>
          <p:nvPr/>
        </p:nvSpPr>
        <p:spPr bwMode="auto">
          <a:xfrm>
            <a:off x="4458489" y="2082739"/>
            <a:ext cx="198437" cy="59848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hteck 13"/>
          <p:cNvSpPr/>
          <p:nvPr/>
        </p:nvSpPr>
        <p:spPr bwMode="auto">
          <a:xfrm>
            <a:off x="5698325" y="2092125"/>
            <a:ext cx="98425" cy="59848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7" name="Freihandform 41"/>
          <p:cNvSpPr/>
          <p:nvPr/>
        </p:nvSpPr>
        <p:spPr>
          <a:xfrm>
            <a:off x="3150901" y="2169000"/>
            <a:ext cx="2651125" cy="414338"/>
          </a:xfrm>
          <a:custGeom>
            <a:avLst/>
            <a:gdLst>
              <a:gd name="connsiteX0" fmla="*/ 0 w 2651760"/>
              <a:gd name="connsiteY0" fmla="*/ 400050 h 414418"/>
              <a:gd name="connsiteX1" fmla="*/ 822960 w 2651760"/>
              <a:gd name="connsiteY1" fmla="*/ 400050 h 414418"/>
              <a:gd name="connsiteX2" fmla="*/ 857250 w 2651760"/>
              <a:gd name="connsiteY2" fmla="*/ 388620 h 414418"/>
              <a:gd name="connsiteX3" fmla="*/ 925830 w 2651760"/>
              <a:gd name="connsiteY3" fmla="*/ 377190 h 414418"/>
              <a:gd name="connsiteX4" fmla="*/ 971550 w 2651760"/>
              <a:gd name="connsiteY4" fmla="*/ 365760 h 414418"/>
              <a:gd name="connsiteX5" fmla="*/ 1028700 w 2651760"/>
              <a:gd name="connsiteY5" fmla="*/ 354330 h 414418"/>
              <a:gd name="connsiteX6" fmla="*/ 1062990 w 2651760"/>
              <a:gd name="connsiteY6" fmla="*/ 342900 h 414418"/>
              <a:gd name="connsiteX7" fmla="*/ 1154430 w 2651760"/>
              <a:gd name="connsiteY7" fmla="*/ 320040 h 414418"/>
              <a:gd name="connsiteX8" fmla="*/ 1234440 w 2651760"/>
              <a:gd name="connsiteY8" fmla="*/ 297180 h 414418"/>
              <a:gd name="connsiteX9" fmla="*/ 1268730 w 2651760"/>
              <a:gd name="connsiteY9" fmla="*/ 274320 h 414418"/>
              <a:gd name="connsiteX10" fmla="*/ 1337310 w 2651760"/>
              <a:gd name="connsiteY10" fmla="*/ 251460 h 414418"/>
              <a:gd name="connsiteX11" fmla="*/ 1405890 w 2651760"/>
              <a:gd name="connsiteY11" fmla="*/ 205740 h 414418"/>
              <a:gd name="connsiteX12" fmla="*/ 1474470 w 2651760"/>
              <a:gd name="connsiteY12" fmla="*/ 182880 h 414418"/>
              <a:gd name="connsiteX13" fmla="*/ 1543050 w 2651760"/>
              <a:gd name="connsiteY13" fmla="*/ 148590 h 414418"/>
              <a:gd name="connsiteX14" fmla="*/ 1577340 w 2651760"/>
              <a:gd name="connsiteY14" fmla="*/ 125730 h 414418"/>
              <a:gd name="connsiteX15" fmla="*/ 1611630 w 2651760"/>
              <a:gd name="connsiteY15" fmla="*/ 114300 h 414418"/>
              <a:gd name="connsiteX16" fmla="*/ 1680210 w 2651760"/>
              <a:gd name="connsiteY16" fmla="*/ 68580 h 414418"/>
              <a:gd name="connsiteX17" fmla="*/ 1714500 w 2651760"/>
              <a:gd name="connsiteY17" fmla="*/ 45720 h 414418"/>
              <a:gd name="connsiteX18" fmla="*/ 1783080 w 2651760"/>
              <a:gd name="connsiteY18" fmla="*/ 22860 h 414418"/>
              <a:gd name="connsiteX19" fmla="*/ 1817370 w 2651760"/>
              <a:gd name="connsiteY19" fmla="*/ 11430 h 414418"/>
              <a:gd name="connsiteX20" fmla="*/ 1851660 w 2651760"/>
              <a:gd name="connsiteY20" fmla="*/ 0 h 414418"/>
              <a:gd name="connsiteX21" fmla="*/ 2651760 w 2651760"/>
              <a:gd name="connsiteY21" fmla="*/ 0 h 41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51760" h="414418">
                <a:moveTo>
                  <a:pt x="0" y="400050"/>
                </a:moveTo>
                <a:cubicBezTo>
                  <a:pt x="375285" y="418814"/>
                  <a:pt x="285361" y="419599"/>
                  <a:pt x="822960" y="400050"/>
                </a:cubicBezTo>
                <a:cubicBezTo>
                  <a:pt x="835000" y="399612"/>
                  <a:pt x="845489" y="391234"/>
                  <a:pt x="857250" y="388620"/>
                </a:cubicBezTo>
                <a:cubicBezTo>
                  <a:pt x="879873" y="383593"/>
                  <a:pt x="903105" y="381735"/>
                  <a:pt x="925830" y="377190"/>
                </a:cubicBezTo>
                <a:cubicBezTo>
                  <a:pt x="941234" y="374109"/>
                  <a:pt x="956215" y="369168"/>
                  <a:pt x="971550" y="365760"/>
                </a:cubicBezTo>
                <a:cubicBezTo>
                  <a:pt x="990515" y="361546"/>
                  <a:pt x="1009853" y="359042"/>
                  <a:pt x="1028700" y="354330"/>
                </a:cubicBezTo>
                <a:cubicBezTo>
                  <a:pt x="1040389" y="351408"/>
                  <a:pt x="1051366" y="346070"/>
                  <a:pt x="1062990" y="342900"/>
                </a:cubicBezTo>
                <a:cubicBezTo>
                  <a:pt x="1093301" y="334633"/>
                  <a:pt x="1124624" y="329975"/>
                  <a:pt x="1154430" y="320040"/>
                </a:cubicBezTo>
                <a:cubicBezTo>
                  <a:pt x="1203623" y="303642"/>
                  <a:pt x="1177031" y="311532"/>
                  <a:pt x="1234440" y="297180"/>
                </a:cubicBezTo>
                <a:cubicBezTo>
                  <a:pt x="1245870" y="289560"/>
                  <a:pt x="1256177" y="279899"/>
                  <a:pt x="1268730" y="274320"/>
                </a:cubicBezTo>
                <a:cubicBezTo>
                  <a:pt x="1290750" y="264533"/>
                  <a:pt x="1317260" y="264826"/>
                  <a:pt x="1337310" y="251460"/>
                </a:cubicBezTo>
                <a:cubicBezTo>
                  <a:pt x="1360170" y="236220"/>
                  <a:pt x="1379826" y="214428"/>
                  <a:pt x="1405890" y="205740"/>
                </a:cubicBezTo>
                <a:cubicBezTo>
                  <a:pt x="1428750" y="198120"/>
                  <a:pt x="1454420" y="196246"/>
                  <a:pt x="1474470" y="182880"/>
                </a:cubicBezTo>
                <a:cubicBezTo>
                  <a:pt x="1572740" y="117366"/>
                  <a:pt x="1448406" y="195912"/>
                  <a:pt x="1543050" y="148590"/>
                </a:cubicBezTo>
                <a:cubicBezTo>
                  <a:pt x="1555337" y="142447"/>
                  <a:pt x="1565053" y="131873"/>
                  <a:pt x="1577340" y="125730"/>
                </a:cubicBezTo>
                <a:cubicBezTo>
                  <a:pt x="1588116" y="120342"/>
                  <a:pt x="1601098" y="120151"/>
                  <a:pt x="1611630" y="114300"/>
                </a:cubicBezTo>
                <a:cubicBezTo>
                  <a:pt x="1635647" y="100957"/>
                  <a:pt x="1657350" y="83820"/>
                  <a:pt x="1680210" y="68580"/>
                </a:cubicBezTo>
                <a:cubicBezTo>
                  <a:pt x="1691640" y="60960"/>
                  <a:pt x="1701468" y="50064"/>
                  <a:pt x="1714500" y="45720"/>
                </a:cubicBezTo>
                <a:lnTo>
                  <a:pt x="1783080" y="22860"/>
                </a:lnTo>
                <a:lnTo>
                  <a:pt x="1817370" y="11430"/>
                </a:lnTo>
                <a:cubicBezTo>
                  <a:pt x="1828800" y="7620"/>
                  <a:pt x="1839612" y="0"/>
                  <a:pt x="1851660" y="0"/>
                </a:cubicBezTo>
                <a:lnTo>
                  <a:pt x="2651760" y="0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1492791" y="1792619"/>
            <a:ext cx="64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smtClean="0"/>
              <a:t>SX</a:t>
            </a:r>
            <a:endParaRPr lang="en-US" sz="1600" dirty="0"/>
          </a:p>
        </p:txBody>
      </p:sp>
      <p:sp>
        <p:nvSpPr>
          <p:cNvPr id="112" name="TextBox 111"/>
          <p:cNvSpPr txBox="1"/>
          <p:nvPr/>
        </p:nvSpPr>
        <p:spPr>
          <a:xfrm>
            <a:off x="3248572" y="2042376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/>
              <a:t>B</a:t>
            </a:r>
            <a:endParaRPr lang="en-US" sz="1600" dirty="0"/>
          </a:p>
        </p:txBody>
      </p:sp>
      <p:sp>
        <p:nvSpPr>
          <p:cNvPr id="114" name="TextBox 113"/>
          <p:cNvSpPr txBox="1"/>
          <p:nvPr/>
        </p:nvSpPr>
        <p:spPr>
          <a:xfrm>
            <a:off x="927000" y="2730446"/>
            <a:ext cx="468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/>
              <a:t>RB</a:t>
            </a:r>
            <a:endParaRPr lang="en-US" sz="1600" dirty="0"/>
          </a:p>
        </p:txBody>
      </p:sp>
      <p:grpSp>
        <p:nvGrpSpPr>
          <p:cNvPr id="133" name="Group 132"/>
          <p:cNvGrpSpPr/>
          <p:nvPr/>
        </p:nvGrpSpPr>
        <p:grpSpPr>
          <a:xfrm flipH="1">
            <a:off x="525096" y="2042376"/>
            <a:ext cx="2510662" cy="648237"/>
            <a:chOff x="1214196" y="2042376"/>
            <a:chExt cx="2548178" cy="648237"/>
          </a:xfrm>
        </p:grpSpPr>
        <p:sp>
          <p:nvSpPr>
            <p:cNvPr id="134" name="Rechteck 6"/>
            <p:cNvSpPr/>
            <p:nvPr/>
          </p:nvSpPr>
          <p:spPr bwMode="auto">
            <a:xfrm>
              <a:off x="1909763" y="2082739"/>
              <a:ext cx="277812" cy="59848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5" name="Rechteck 10"/>
            <p:cNvSpPr/>
            <p:nvPr/>
          </p:nvSpPr>
          <p:spPr bwMode="auto">
            <a:xfrm>
              <a:off x="2820988" y="2092125"/>
              <a:ext cx="277812" cy="598488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6" name="Rechteck 7"/>
            <p:cNvSpPr/>
            <p:nvPr/>
          </p:nvSpPr>
          <p:spPr bwMode="auto">
            <a:xfrm>
              <a:off x="2424113" y="2082739"/>
              <a:ext cx="198437" cy="598486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7" name="Rechteck 13"/>
            <p:cNvSpPr/>
            <p:nvPr/>
          </p:nvSpPr>
          <p:spPr bwMode="auto">
            <a:xfrm>
              <a:off x="3663949" y="2092125"/>
              <a:ext cx="98425" cy="598488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1848559" y="2056264"/>
              <a:ext cx="3449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dirty="0" smtClean="0"/>
                <a:t>Q</a:t>
              </a:r>
              <a:endParaRPr lang="en-US" sz="1600" dirty="0"/>
            </a:p>
          </p:txBody>
        </p:sp>
        <p:grpSp>
          <p:nvGrpSpPr>
            <p:cNvPr id="139" name="Group 138"/>
            <p:cNvGrpSpPr/>
            <p:nvPr/>
          </p:nvGrpSpPr>
          <p:grpSpPr>
            <a:xfrm>
              <a:off x="1214196" y="2042376"/>
              <a:ext cx="1898520" cy="374222"/>
              <a:chOff x="1218446" y="2034000"/>
              <a:chExt cx="1898520" cy="374222"/>
            </a:xfrm>
          </p:grpSpPr>
          <p:sp>
            <p:nvSpPr>
              <p:cNvPr id="144" name="TextBox 143"/>
              <p:cNvSpPr txBox="1"/>
              <p:nvPr/>
            </p:nvSpPr>
            <p:spPr>
              <a:xfrm>
                <a:off x="1218446" y="2034000"/>
                <a:ext cx="3209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600" dirty="0" smtClean="0"/>
                  <a:t>B</a:t>
                </a:r>
                <a:endParaRPr lang="en-US" sz="1600" dirty="0"/>
              </a:p>
            </p:txBody>
          </p:sp>
          <p:sp>
            <p:nvSpPr>
              <p:cNvPr id="145" name="TextBox 144"/>
              <p:cNvSpPr txBox="1"/>
              <p:nvPr/>
            </p:nvSpPr>
            <p:spPr>
              <a:xfrm>
                <a:off x="2772000" y="2069668"/>
                <a:ext cx="34496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600" dirty="0" smtClean="0"/>
                  <a:t>Q</a:t>
                </a:r>
                <a:endParaRPr lang="en-US" sz="1600" dirty="0"/>
              </a:p>
            </p:txBody>
          </p:sp>
        </p:grpSp>
      </p:grpSp>
      <p:sp>
        <p:nvSpPr>
          <p:cNvPr id="25" name="Rectangle 24"/>
          <p:cNvSpPr/>
          <p:nvPr/>
        </p:nvSpPr>
        <p:spPr>
          <a:xfrm>
            <a:off x="5832000" y="1768473"/>
            <a:ext cx="3215489" cy="2024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/>
          <p:cNvSpPr/>
          <p:nvPr/>
        </p:nvSpPr>
        <p:spPr>
          <a:xfrm>
            <a:off x="3027363" y="1271994"/>
            <a:ext cx="2883693" cy="17070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68" name="TextBox 7167"/>
          <p:cNvSpPr txBox="1"/>
          <p:nvPr/>
        </p:nvSpPr>
        <p:spPr>
          <a:xfrm>
            <a:off x="3733078" y="1306904"/>
            <a:ext cx="1531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MBA half-</a:t>
            </a:r>
            <a:r>
              <a:rPr lang="de-DE" dirty="0" err="1" smtClean="0"/>
              <a:t>cell</a:t>
            </a:r>
            <a:endParaRPr lang="en-US" dirty="0"/>
          </a:p>
        </p:txBody>
      </p:sp>
      <p:sp>
        <p:nvSpPr>
          <p:cNvPr id="162" name="Right Brace 161"/>
          <p:cNvSpPr/>
          <p:nvPr/>
        </p:nvSpPr>
        <p:spPr>
          <a:xfrm rot="5400000">
            <a:off x="1670295" y="4442295"/>
            <a:ext cx="331410" cy="3672000"/>
          </a:xfrm>
          <a:prstGeom prst="rightBrace">
            <a:avLst>
              <a:gd name="adj1" fmla="val 0"/>
              <a:gd name="adj2" fmla="val 4952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feld 33"/>
          <p:cNvSpPr txBox="1">
            <a:spLocks noChangeArrowheads="1"/>
          </p:cNvSpPr>
          <p:nvPr/>
        </p:nvSpPr>
        <p:spPr bwMode="auto">
          <a:xfrm>
            <a:off x="1062000" y="6465446"/>
            <a:ext cx="1567561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 dirty="0" smtClean="0">
                <a:solidFill>
                  <a:schemeClr val="tx1"/>
                </a:solidFill>
              </a:rPr>
              <a:t>Last </a:t>
            </a:r>
            <a:r>
              <a:rPr lang="en-US" altLang="en-US" sz="1600" b="0" dirty="0">
                <a:solidFill>
                  <a:schemeClr val="tx1"/>
                </a:solidFill>
              </a:rPr>
              <a:t>MBA-cell</a:t>
            </a:r>
          </a:p>
        </p:txBody>
      </p:sp>
    </p:spTree>
    <p:extLst>
      <p:ext uri="{BB962C8B-B14F-4D97-AF65-F5344CB8AC3E}">
        <p14:creationId xmlns:p14="http://schemas.microsoft.com/office/powerpoint/2010/main" val="181360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5" grpId="0" animBg="1"/>
      <p:bldP spid="7190" grpId="0"/>
      <p:bldP spid="7190" grpId="1"/>
      <p:bldP spid="7195" grpId="0" animBg="1"/>
      <p:bldP spid="108" grpId="0" animBg="1"/>
      <p:bldP spid="4099" grpId="0" animBg="1"/>
      <p:bldP spid="131" grpId="0" animBg="1"/>
      <p:bldP spid="16" grpId="0" animBg="1"/>
      <p:bldP spid="132" grpId="0" animBg="1"/>
      <p:bldP spid="76" grpId="0"/>
      <p:bldP spid="77" grpId="0" animBg="1"/>
      <p:bldP spid="78" grpId="0" animBg="1"/>
      <p:bldP spid="7178" grpId="0"/>
      <p:bldP spid="96" grpId="0" animBg="1"/>
      <p:bldP spid="97" grpId="0" animBg="1"/>
      <p:bldP spid="107" grpId="0" animBg="1"/>
      <p:bldP spid="25" grpId="0" animBg="1"/>
      <p:bldP spid="31" grpId="0" animBg="1"/>
      <p:bldP spid="7168" grpId="0"/>
      <p:bldP spid="162" grpId="0" animBg="1"/>
      <p:bldP spid="1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0100" y="144000"/>
            <a:ext cx="8229600" cy="4397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de-DE" sz="1800" dirty="0" smtClean="0"/>
              <a:t>Basic MBA </a:t>
            </a:r>
            <a:r>
              <a:rPr lang="en-US" sz="1800" dirty="0" smtClean="0"/>
              <a:t>half-cell as transfer line</a:t>
            </a:r>
            <a:endParaRPr lang="en-US" sz="1800" dirty="0"/>
          </a:p>
        </p:txBody>
      </p:sp>
      <p:sp>
        <p:nvSpPr>
          <p:cNvPr id="6147" name="Foliennummernplatzhalter 3"/>
          <p:cNvSpPr>
            <a:spLocks noGrp="1"/>
          </p:cNvSpPr>
          <p:nvPr>
            <p:ph type="sldNum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81A257EC-F61F-41BA-8CED-3CB0BEBE2992}" type="slidenum">
              <a:rPr lang="de-DE" altLang="en-US" sz="1200"/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de-DE" altLang="en-US" sz="1200"/>
          </a:p>
        </p:txBody>
      </p:sp>
      <p:sp>
        <p:nvSpPr>
          <p:cNvPr id="35" name="Rechteck 34"/>
          <p:cNvSpPr/>
          <p:nvPr/>
        </p:nvSpPr>
        <p:spPr>
          <a:xfrm>
            <a:off x="684213" y="2627313"/>
            <a:ext cx="1079500" cy="1008062"/>
          </a:xfrm>
          <a:prstGeom prst="rect">
            <a:avLst/>
          </a:prstGeom>
          <a:solidFill>
            <a:srgbClr val="FFFF00">
              <a:alpha val="52941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3" name="Gerade Verbindung 32"/>
          <p:cNvCxnSpPr/>
          <p:nvPr/>
        </p:nvCxnSpPr>
        <p:spPr>
          <a:xfrm flipH="1" flipV="1">
            <a:off x="1733550" y="908050"/>
            <a:ext cx="30163" cy="2727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/>
          <p:cNvCxnSpPr/>
          <p:nvPr/>
        </p:nvCxnSpPr>
        <p:spPr>
          <a:xfrm flipV="1">
            <a:off x="6416675" y="1349375"/>
            <a:ext cx="0" cy="2295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1" name="Textfeld 2"/>
          <p:cNvSpPr txBox="1">
            <a:spLocks noChangeArrowheads="1"/>
          </p:cNvSpPr>
          <p:nvPr/>
        </p:nvSpPr>
        <p:spPr bwMode="auto">
          <a:xfrm>
            <a:off x="3027363" y="5138738"/>
            <a:ext cx="18415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</p:txBody>
      </p:sp>
      <p:sp>
        <p:nvSpPr>
          <p:cNvPr id="44" name="Textfeld 43"/>
          <p:cNvSpPr txBox="1">
            <a:spLocks noChangeArrowheads="1"/>
          </p:cNvSpPr>
          <p:nvPr/>
        </p:nvSpPr>
        <p:spPr bwMode="auto">
          <a:xfrm>
            <a:off x="3132000" y="4941888"/>
            <a:ext cx="2086853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rgbClr val="0070C0"/>
                </a:solidFill>
              </a:rPr>
              <a:t>Transfer line input</a:t>
            </a:r>
            <a:r>
              <a:rPr lang="en-US" altLang="en-US" sz="1800" b="0" dirty="0">
                <a:solidFill>
                  <a:srgbClr val="0070C0"/>
                </a:solidFill>
              </a:rPr>
              <a:t>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600" b="0" baseline="-25000" dirty="0" smtClean="0">
                <a:solidFill>
                  <a:schemeClr val="tx1"/>
                </a:solidFill>
              </a:rPr>
              <a:t>x</a:t>
            </a:r>
            <a:r>
              <a:rPr lang="en-US" altLang="en-US" sz="1600" b="0" baseline="30000" dirty="0" smtClean="0">
                <a:solidFill>
                  <a:schemeClr val="tx1"/>
                </a:solidFill>
              </a:rPr>
              <a:t>0</a:t>
            </a:r>
            <a:r>
              <a:rPr lang="en-US" altLang="en-US" sz="1600" b="0" dirty="0">
                <a:solidFill>
                  <a:schemeClr val="tx1"/>
                </a:solidFill>
              </a:rPr>
              <a:t>, </a:t>
            </a:r>
            <a:r>
              <a:rPr lang="en-US" altLang="en-US" sz="1600" b="0" dirty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altLang="en-US" sz="1600" b="0" baseline="-25000" dirty="0">
                <a:solidFill>
                  <a:schemeClr val="tx1"/>
                </a:solidFill>
              </a:rPr>
              <a:t>x</a:t>
            </a:r>
            <a:r>
              <a:rPr lang="en-US" altLang="en-US" sz="1600" b="0" baseline="30000" dirty="0">
                <a:solidFill>
                  <a:schemeClr val="tx1"/>
                </a:solidFill>
              </a:rPr>
              <a:t>0</a:t>
            </a:r>
            <a:r>
              <a:rPr lang="en-US" altLang="en-US" sz="1600" b="0" dirty="0">
                <a:solidFill>
                  <a:schemeClr val="tx1"/>
                </a:solidFill>
              </a:rPr>
              <a:t>, </a:t>
            </a:r>
            <a:r>
              <a:rPr lang="en-US" altLang="en-US" sz="1600" b="0" dirty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600" b="0" baseline="-25000" dirty="0">
                <a:solidFill>
                  <a:schemeClr val="tx1"/>
                </a:solidFill>
              </a:rPr>
              <a:t>y</a:t>
            </a:r>
            <a:r>
              <a:rPr lang="en-US" altLang="en-US" sz="1600" b="0" baseline="30000" dirty="0">
                <a:solidFill>
                  <a:schemeClr val="tx1"/>
                </a:solidFill>
              </a:rPr>
              <a:t>0</a:t>
            </a:r>
          </a:p>
        </p:txBody>
      </p:sp>
      <p:grpSp>
        <p:nvGrpSpPr>
          <p:cNvPr id="6153" name="Gruppieren 14"/>
          <p:cNvGrpSpPr>
            <a:grpSpLocks/>
          </p:cNvGrpSpPr>
          <p:nvPr/>
        </p:nvGrpSpPr>
        <p:grpSpPr bwMode="auto">
          <a:xfrm>
            <a:off x="323850" y="2624139"/>
            <a:ext cx="7893050" cy="1741487"/>
            <a:chOff x="-468560" y="2416763"/>
            <a:chExt cx="7892822" cy="1742637"/>
          </a:xfrm>
        </p:grpSpPr>
        <p:cxnSp>
          <p:nvCxnSpPr>
            <p:cNvPr id="5" name="Gerade Verbindung 4"/>
            <p:cNvCxnSpPr/>
            <p:nvPr/>
          </p:nvCxnSpPr>
          <p:spPr>
            <a:xfrm>
              <a:off x="-468560" y="3428668"/>
              <a:ext cx="789282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hteck 5"/>
            <p:cNvSpPr/>
            <p:nvPr/>
          </p:nvSpPr>
          <p:spPr>
            <a:xfrm>
              <a:off x="971261" y="2416763"/>
              <a:ext cx="1081056" cy="1011905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hteck 6"/>
            <p:cNvSpPr/>
            <p:nvPr/>
          </p:nvSpPr>
          <p:spPr>
            <a:xfrm>
              <a:off x="2438069" y="3438199"/>
              <a:ext cx="504810" cy="72120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hteck 10"/>
            <p:cNvSpPr/>
            <p:nvPr/>
          </p:nvSpPr>
          <p:spPr>
            <a:xfrm>
              <a:off x="4068384" y="2707467"/>
              <a:ext cx="503223" cy="72120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hteck 11"/>
            <p:cNvSpPr/>
            <p:nvPr/>
          </p:nvSpPr>
          <p:spPr>
            <a:xfrm>
              <a:off x="4931959" y="3428669"/>
              <a:ext cx="214169" cy="50198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hteck 7"/>
            <p:cNvSpPr/>
            <p:nvPr/>
          </p:nvSpPr>
          <p:spPr>
            <a:xfrm>
              <a:off x="3347680" y="3438199"/>
              <a:ext cx="360353" cy="721201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Rechteck 13"/>
            <p:cNvSpPr/>
            <p:nvPr/>
          </p:nvSpPr>
          <p:spPr>
            <a:xfrm>
              <a:off x="5436769" y="2707467"/>
              <a:ext cx="187320" cy="721201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183" name="Textfeld 8"/>
            <p:cNvSpPr txBox="1">
              <a:spLocks noChangeArrowheads="1"/>
            </p:cNvSpPr>
            <p:nvPr/>
          </p:nvSpPr>
          <p:spPr bwMode="auto">
            <a:xfrm>
              <a:off x="827584" y="3429000"/>
              <a:ext cx="65966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lnSpc>
                  <a:spcPts val="2800"/>
                </a:lnSpc>
                <a:spcBef>
                  <a:spcPct val="20000"/>
                </a:spcBef>
                <a:buFont typeface="Arial" panose="020B0604020202020204" pitchFamily="34" charset="0"/>
                <a:defRPr sz="2100" b="1">
                  <a:solidFill>
                    <a:srgbClr val="00589C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169988" algn="l"/>
                </a:tabLs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 dirty="0">
                  <a:solidFill>
                    <a:schemeClr val="tx1"/>
                  </a:solidFill>
                </a:rPr>
                <a:t>0        0.2      0.4      0.6        0.8     1.0       1.2      1.4      1.6   m</a:t>
              </a:r>
            </a:p>
          </p:txBody>
        </p:sp>
      </p:grpSp>
      <p:sp>
        <p:nvSpPr>
          <p:cNvPr id="16" name="Bogen 15"/>
          <p:cNvSpPr/>
          <p:nvPr/>
        </p:nvSpPr>
        <p:spPr>
          <a:xfrm rot="5400000">
            <a:off x="107157" y="161131"/>
            <a:ext cx="3313112" cy="3457575"/>
          </a:xfrm>
          <a:prstGeom prst="arc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42" name="Textfeld 23"/>
          <p:cNvSpPr txBox="1">
            <a:spLocks noChangeArrowheads="1"/>
          </p:cNvSpPr>
          <p:nvPr/>
        </p:nvSpPr>
        <p:spPr bwMode="auto">
          <a:xfrm>
            <a:off x="923509" y="3261228"/>
            <a:ext cx="4732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 smtClean="0">
                <a:solidFill>
                  <a:schemeClr val="tx1"/>
                </a:solidFill>
              </a:rPr>
              <a:t>x0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6156" name="Textfeld 18"/>
          <p:cNvSpPr txBox="1">
            <a:spLocks noChangeArrowheads="1"/>
          </p:cNvSpPr>
          <p:nvPr/>
        </p:nvSpPr>
        <p:spPr bwMode="auto">
          <a:xfrm>
            <a:off x="3203575" y="4356100"/>
            <a:ext cx="5318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</a:rPr>
              <a:t>QD</a:t>
            </a:r>
          </a:p>
        </p:txBody>
      </p:sp>
      <p:sp>
        <p:nvSpPr>
          <p:cNvPr id="6157" name="Textfeld 26"/>
          <p:cNvSpPr txBox="1">
            <a:spLocks noChangeArrowheads="1"/>
          </p:cNvSpPr>
          <p:nvPr/>
        </p:nvSpPr>
        <p:spPr bwMode="auto">
          <a:xfrm>
            <a:off x="4041775" y="4356100"/>
            <a:ext cx="504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SD</a:t>
            </a:r>
          </a:p>
        </p:txBody>
      </p:sp>
      <p:sp>
        <p:nvSpPr>
          <p:cNvPr id="6158" name="Textfeld 25"/>
          <p:cNvSpPr txBox="1">
            <a:spLocks noChangeArrowheads="1"/>
          </p:cNvSpPr>
          <p:nvPr/>
        </p:nvSpPr>
        <p:spPr bwMode="auto">
          <a:xfrm>
            <a:off x="4833938" y="2555875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</a:rPr>
              <a:t>QF</a:t>
            </a:r>
          </a:p>
        </p:txBody>
      </p:sp>
      <p:sp>
        <p:nvSpPr>
          <p:cNvPr id="6159" name="Textfeld 27"/>
          <p:cNvSpPr txBox="1">
            <a:spLocks noChangeArrowheads="1"/>
          </p:cNvSpPr>
          <p:nvPr/>
        </p:nvSpPr>
        <p:spPr bwMode="auto">
          <a:xfrm>
            <a:off x="6154738" y="2555875"/>
            <a:ext cx="4810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</a:rPr>
              <a:t>SF</a:t>
            </a:r>
          </a:p>
        </p:txBody>
      </p:sp>
      <p:sp>
        <p:nvSpPr>
          <p:cNvPr id="36" name="Bogen 35"/>
          <p:cNvSpPr/>
          <p:nvPr/>
        </p:nvSpPr>
        <p:spPr>
          <a:xfrm rot="5400000">
            <a:off x="1043781" y="1124744"/>
            <a:ext cx="1512888" cy="3384550"/>
          </a:xfrm>
          <a:prstGeom prst="arc">
            <a:avLst>
              <a:gd name="adj1" fmla="val 16200000"/>
              <a:gd name="adj2" fmla="val 20762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7" name="Textfeld 51"/>
          <p:cNvSpPr txBox="1">
            <a:spLocks noChangeArrowheads="1"/>
          </p:cNvSpPr>
          <p:nvPr/>
        </p:nvSpPr>
        <p:spPr bwMode="auto">
          <a:xfrm>
            <a:off x="1231900" y="3267521"/>
            <a:ext cx="6048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,h</a:t>
            </a:r>
            <a:r>
              <a:rPr lang="en-US" altLang="en-US" sz="1800" b="0" baseline="-25000" dirty="0" smtClean="0">
                <a:solidFill>
                  <a:schemeClr val="tx1"/>
                </a:solidFill>
              </a:rPr>
              <a:t>0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39" name="Rechteck 38"/>
          <p:cNvSpPr/>
          <p:nvPr/>
        </p:nvSpPr>
        <p:spPr bwMode="auto">
          <a:xfrm>
            <a:off x="6416675" y="2916683"/>
            <a:ext cx="179388" cy="720725"/>
          </a:xfrm>
          <a:prstGeom prst="rect">
            <a:avLst/>
          </a:prstGeom>
          <a:solidFill>
            <a:srgbClr val="00B050">
              <a:alpha val="5098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Rechteck 16"/>
          <p:cNvSpPr/>
          <p:nvPr/>
        </p:nvSpPr>
        <p:spPr>
          <a:xfrm>
            <a:off x="3311525" y="1627188"/>
            <a:ext cx="396875" cy="1441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Freihandform 45"/>
          <p:cNvSpPr/>
          <p:nvPr/>
        </p:nvSpPr>
        <p:spPr>
          <a:xfrm>
            <a:off x="3292475" y="1779588"/>
            <a:ext cx="4548188" cy="901700"/>
          </a:xfrm>
          <a:custGeom>
            <a:avLst/>
            <a:gdLst>
              <a:gd name="connsiteX0" fmla="*/ 0 w 4549140"/>
              <a:gd name="connsiteY0" fmla="*/ 902970 h 902970"/>
              <a:gd name="connsiteX1" fmla="*/ 57150 w 4549140"/>
              <a:gd name="connsiteY1" fmla="*/ 868680 h 902970"/>
              <a:gd name="connsiteX2" fmla="*/ 125730 w 4549140"/>
              <a:gd name="connsiteY2" fmla="*/ 822960 h 902970"/>
              <a:gd name="connsiteX3" fmla="*/ 160020 w 4549140"/>
              <a:gd name="connsiteY3" fmla="*/ 811530 h 902970"/>
              <a:gd name="connsiteX4" fmla="*/ 171450 w 4549140"/>
              <a:gd name="connsiteY4" fmla="*/ 777240 h 902970"/>
              <a:gd name="connsiteX5" fmla="*/ 217170 w 4549140"/>
              <a:gd name="connsiteY5" fmla="*/ 708660 h 902970"/>
              <a:gd name="connsiteX6" fmla="*/ 228600 w 4549140"/>
              <a:gd name="connsiteY6" fmla="*/ 674370 h 902970"/>
              <a:gd name="connsiteX7" fmla="*/ 262890 w 4549140"/>
              <a:gd name="connsiteY7" fmla="*/ 662940 h 902970"/>
              <a:gd name="connsiteX8" fmla="*/ 365760 w 4549140"/>
              <a:gd name="connsiteY8" fmla="*/ 605790 h 902970"/>
              <a:gd name="connsiteX9" fmla="*/ 434340 w 4549140"/>
              <a:gd name="connsiteY9" fmla="*/ 537210 h 902970"/>
              <a:gd name="connsiteX10" fmla="*/ 537210 w 4549140"/>
              <a:gd name="connsiteY10" fmla="*/ 468630 h 902970"/>
              <a:gd name="connsiteX11" fmla="*/ 571500 w 4549140"/>
              <a:gd name="connsiteY11" fmla="*/ 445770 h 902970"/>
              <a:gd name="connsiteX12" fmla="*/ 605790 w 4549140"/>
              <a:gd name="connsiteY12" fmla="*/ 422910 h 902970"/>
              <a:gd name="connsiteX13" fmla="*/ 674370 w 4549140"/>
              <a:gd name="connsiteY13" fmla="*/ 388620 h 902970"/>
              <a:gd name="connsiteX14" fmla="*/ 731520 w 4549140"/>
              <a:gd name="connsiteY14" fmla="*/ 342900 h 902970"/>
              <a:gd name="connsiteX15" fmla="*/ 777240 w 4549140"/>
              <a:gd name="connsiteY15" fmla="*/ 308610 h 902970"/>
              <a:gd name="connsiteX16" fmla="*/ 857250 w 4549140"/>
              <a:gd name="connsiteY16" fmla="*/ 285750 h 902970"/>
              <a:gd name="connsiteX17" fmla="*/ 960120 w 4549140"/>
              <a:gd name="connsiteY17" fmla="*/ 217170 h 902970"/>
              <a:gd name="connsiteX18" fmla="*/ 994410 w 4549140"/>
              <a:gd name="connsiteY18" fmla="*/ 194310 h 902970"/>
              <a:gd name="connsiteX19" fmla="*/ 1062990 w 4549140"/>
              <a:gd name="connsiteY19" fmla="*/ 171450 h 902970"/>
              <a:gd name="connsiteX20" fmla="*/ 1131570 w 4549140"/>
              <a:gd name="connsiteY20" fmla="*/ 137160 h 902970"/>
              <a:gd name="connsiteX21" fmla="*/ 1177290 w 4549140"/>
              <a:gd name="connsiteY21" fmla="*/ 114300 h 902970"/>
              <a:gd name="connsiteX22" fmla="*/ 1303020 w 4549140"/>
              <a:gd name="connsiteY22" fmla="*/ 80010 h 902970"/>
              <a:gd name="connsiteX23" fmla="*/ 1383030 w 4549140"/>
              <a:gd name="connsiteY23" fmla="*/ 45720 h 902970"/>
              <a:gd name="connsiteX24" fmla="*/ 1531620 w 4549140"/>
              <a:gd name="connsiteY24" fmla="*/ 22860 h 902970"/>
              <a:gd name="connsiteX25" fmla="*/ 1908810 w 4549140"/>
              <a:gd name="connsiteY25" fmla="*/ 11430 h 902970"/>
              <a:gd name="connsiteX26" fmla="*/ 2537460 w 4549140"/>
              <a:gd name="connsiteY26" fmla="*/ 0 h 902970"/>
              <a:gd name="connsiteX27" fmla="*/ 2880360 w 4549140"/>
              <a:gd name="connsiteY27" fmla="*/ 11430 h 902970"/>
              <a:gd name="connsiteX28" fmla="*/ 3097530 w 4549140"/>
              <a:gd name="connsiteY28" fmla="*/ 22860 h 902970"/>
              <a:gd name="connsiteX29" fmla="*/ 3646170 w 4549140"/>
              <a:gd name="connsiteY29" fmla="*/ 34290 h 902970"/>
              <a:gd name="connsiteX30" fmla="*/ 4331970 w 4549140"/>
              <a:gd name="connsiteY30" fmla="*/ 57150 h 902970"/>
              <a:gd name="connsiteX31" fmla="*/ 4514850 w 4549140"/>
              <a:gd name="connsiteY31" fmla="*/ 68580 h 902970"/>
              <a:gd name="connsiteX32" fmla="*/ 4549140 w 4549140"/>
              <a:gd name="connsiteY32" fmla="*/ 80010 h 902970"/>
              <a:gd name="connsiteX33" fmla="*/ 4514850 w 4549140"/>
              <a:gd name="connsiteY33" fmla="*/ 102870 h 902970"/>
              <a:gd name="connsiteX34" fmla="*/ 4377690 w 4549140"/>
              <a:gd name="connsiteY34" fmla="*/ 91440 h 902970"/>
              <a:gd name="connsiteX35" fmla="*/ 4274820 w 4549140"/>
              <a:gd name="connsiteY35" fmla="*/ 68580 h 902970"/>
              <a:gd name="connsiteX36" fmla="*/ 4160520 w 4549140"/>
              <a:gd name="connsiteY36" fmla="*/ 80010 h 902970"/>
              <a:gd name="connsiteX37" fmla="*/ 4149090 w 4549140"/>
              <a:gd name="connsiteY37" fmla="*/ 80010 h 90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549140" h="902970">
                <a:moveTo>
                  <a:pt x="0" y="902970"/>
                </a:moveTo>
                <a:cubicBezTo>
                  <a:pt x="19050" y="891540"/>
                  <a:pt x="38407" y="880607"/>
                  <a:pt x="57150" y="868680"/>
                </a:cubicBezTo>
                <a:cubicBezTo>
                  <a:pt x="80329" y="853930"/>
                  <a:pt x="99666" y="831648"/>
                  <a:pt x="125730" y="822960"/>
                </a:cubicBezTo>
                <a:lnTo>
                  <a:pt x="160020" y="811530"/>
                </a:lnTo>
                <a:cubicBezTo>
                  <a:pt x="163830" y="800100"/>
                  <a:pt x="165599" y="787772"/>
                  <a:pt x="171450" y="777240"/>
                </a:cubicBezTo>
                <a:cubicBezTo>
                  <a:pt x="184793" y="753223"/>
                  <a:pt x="208482" y="734724"/>
                  <a:pt x="217170" y="708660"/>
                </a:cubicBezTo>
                <a:cubicBezTo>
                  <a:pt x="220980" y="697230"/>
                  <a:pt x="220081" y="682889"/>
                  <a:pt x="228600" y="674370"/>
                </a:cubicBezTo>
                <a:cubicBezTo>
                  <a:pt x="237119" y="665851"/>
                  <a:pt x="252358" y="668791"/>
                  <a:pt x="262890" y="662940"/>
                </a:cubicBezTo>
                <a:cubicBezTo>
                  <a:pt x="380797" y="597436"/>
                  <a:pt x="288170" y="631653"/>
                  <a:pt x="365760" y="605790"/>
                </a:cubicBezTo>
                <a:cubicBezTo>
                  <a:pt x="388620" y="582930"/>
                  <a:pt x="407441" y="555143"/>
                  <a:pt x="434340" y="537210"/>
                </a:cubicBezTo>
                <a:lnTo>
                  <a:pt x="537210" y="468630"/>
                </a:lnTo>
                <a:lnTo>
                  <a:pt x="571500" y="445770"/>
                </a:lnTo>
                <a:cubicBezTo>
                  <a:pt x="582930" y="438150"/>
                  <a:pt x="592758" y="427254"/>
                  <a:pt x="605790" y="422910"/>
                </a:cubicBezTo>
                <a:cubicBezTo>
                  <a:pt x="653112" y="407136"/>
                  <a:pt x="630055" y="418163"/>
                  <a:pt x="674370" y="388620"/>
                </a:cubicBezTo>
                <a:cubicBezTo>
                  <a:pt x="717748" y="323553"/>
                  <a:pt x="672064" y="376875"/>
                  <a:pt x="731520" y="342900"/>
                </a:cubicBezTo>
                <a:cubicBezTo>
                  <a:pt x="748060" y="333449"/>
                  <a:pt x="760201" y="317129"/>
                  <a:pt x="777240" y="308610"/>
                </a:cubicBezTo>
                <a:cubicBezTo>
                  <a:pt x="836428" y="279016"/>
                  <a:pt x="806692" y="313838"/>
                  <a:pt x="857250" y="285750"/>
                </a:cubicBezTo>
                <a:lnTo>
                  <a:pt x="960120" y="217170"/>
                </a:lnTo>
                <a:cubicBezTo>
                  <a:pt x="971550" y="209550"/>
                  <a:pt x="981378" y="198654"/>
                  <a:pt x="994410" y="194310"/>
                </a:cubicBezTo>
                <a:cubicBezTo>
                  <a:pt x="1017270" y="186690"/>
                  <a:pt x="1042940" y="184816"/>
                  <a:pt x="1062990" y="171450"/>
                </a:cubicBezTo>
                <a:cubicBezTo>
                  <a:pt x="1128887" y="127519"/>
                  <a:pt x="1065319" y="165553"/>
                  <a:pt x="1131570" y="137160"/>
                </a:cubicBezTo>
                <a:cubicBezTo>
                  <a:pt x="1147231" y="130448"/>
                  <a:pt x="1161470" y="120628"/>
                  <a:pt x="1177290" y="114300"/>
                </a:cubicBezTo>
                <a:cubicBezTo>
                  <a:pt x="1259027" y="81605"/>
                  <a:pt x="1226493" y="99142"/>
                  <a:pt x="1303020" y="80010"/>
                </a:cubicBezTo>
                <a:cubicBezTo>
                  <a:pt x="1429179" y="48470"/>
                  <a:pt x="1219471" y="94788"/>
                  <a:pt x="1383030" y="45720"/>
                </a:cubicBezTo>
                <a:cubicBezTo>
                  <a:pt x="1394540" y="42267"/>
                  <a:pt x="1525901" y="23146"/>
                  <a:pt x="1531620" y="22860"/>
                </a:cubicBezTo>
                <a:cubicBezTo>
                  <a:pt x="1657251" y="16578"/>
                  <a:pt x="1783055" y="14288"/>
                  <a:pt x="1908810" y="11430"/>
                </a:cubicBezTo>
                <a:lnTo>
                  <a:pt x="2537460" y="0"/>
                </a:lnTo>
                <a:lnTo>
                  <a:pt x="2880360" y="11430"/>
                </a:lnTo>
                <a:cubicBezTo>
                  <a:pt x="2952790" y="14386"/>
                  <a:pt x="3025072" y="20697"/>
                  <a:pt x="3097530" y="22860"/>
                </a:cubicBezTo>
                <a:lnTo>
                  <a:pt x="3646170" y="34290"/>
                </a:lnTo>
                <a:cubicBezTo>
                  <a:pt x="3933615" y="75354"/>
                  <a:pt x="3643026" y="37181"/>
                  <a:pt x="4331970" y="57150"/>
                </a:cubicBezTo>
                <a:cubicBezTo>
                  <a:pt x="4393023" y="58920"/>
                  <a:pt x="4453890" y="64770"/>
                  <a:pt x="4514850" y="68580"/>
                </a:cubicBezTo>
                <a:cubicBezTo>
                  <a:pt x="4526280" y="72390"/>
                  <a:pt x="4549140" y="67962"/>
                  <a:pt x="4549140" y="80010"/>
                </a:cubicBezTo>
                <a:cubicBezTo>
                  <a:pt x="4549140" y="93747"/>
                  <a:pt x="4528557" y="101956"/>
                  <a:pt x="4514850" y="102870"/>
                </a:cubicBezTo>
                <a:cubicBezTo>
                  <a:pt x="4469073" y="105922"/>
                  <a:pt x="4423410" y="95250"/>
                  <a:pt x="4377690" y="91440"/>
                </a:cubicBezTo>
                <a:cubicBezTo>
                  <a:pt x="4342330" y="79653"/>
                  <a:pt x="4315052" y="68580"/>
                  <a:pt x="4274820" y="68580"/>
                </a:cubicBezTo>
                <a:cubicBezTo>
                  <a:pt x="4236530" y="68580"/>
                  <a:pt x="4198653" y="76543"/>
                  <a:pt x="4160520" y="80010"/>
                </a:cubicBezTo>
                <a:cubicBezTo>
                  <a:pt x="4156726" y="80355"/>
                  <a:pt x="4152900" y="80010"/>
                  <a:pt x="4149090" y="8001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" name="Freihandform 42"/>
          <p:cNvSpPr/>
          <p:nvPr/>
        </p:nvSpPr>
        <p:spPr>
          <a:xfrm>
            <a:off x="3314700" y="2206625"/>
            <a:ext cx="3235325" cy="914400"/>
          </a:xfrm>
          <a:custGeom>
            <a:avLst/>
            <a:gdLst>
              <a:gd name="connsiteX0" fmla="*/ 0 w 3234690"/>
              <a:gd name="connsiteY0" fmla="*/ 914400 h 914400"/>
              <a:gd name="connsiteX1" fmla="*/ 57150 w 3234690"/>
              <a:gd name="connsiteY1" fmla="*/ 891540 h 914400"/>
              <a:gd name="connsiteX2" fmla="*/ 91440 w 3234690"/>
              <a:gd name="connsiteY2" fmla="*/ 880110 h 914400"/>
              <a:gd name="connsiteX3" fmla="*/ 114300 w 3234690"/>
              <a:gd name="connsiteY3" fmla="*/ 845820 h 914400"/>
              <a:gd name="connsiteX4" fmla="*/ 148590 w 3234690"/>
              <a:gd name="connsiteY4" fmla="*/ 834390 h 914400"/>
              <a:gd name="connsiteX5" fmla="*/ 182880 w 3234690"/>
              <a:gd name="connsiteY5" fmla="*/ 811530 h 914400"/>
              <a:gd name="connsiteX6" fmla="*/ 217170 w 3234690"/>
              <a:gd name="connsiteY6" fmla="*/ 777240 h 914400"/>
              <a:gd name="connsiteX7" fmla="*/ 320040 w 3234690"/>
              <a:gd name="connsiteY7" fmla="*/ 708660 h 914400"/>
              <a:gd name="connsiteX8" fmla="*/ 354330 w 3234690"/>
              <a:gd name="connsiteY8" fmla="*/ 685800 h 914400"/>
              <a:gd name="connsiteX9" fmla="*/ 388620 w 3234690"/>
              <a:gd name="connsiteY9" fmla="*/ 662940 h 914400"/>
              <a:gd name="connsiteX10" fmla="*/ 457200 w 3234690"/>
              <a:gd name="connsiteY10" fmla="*/ 628650 h 914400"/>
              <a:gd name="connsiteX11" fmla="*/ 491490 w 3234690"/>
              <a:gd name="connsiteY11" fmla="*/ 594360 h 914400"/>
              <a:gd name="connsiteX12" fmla="*/ 560070 w 3234690"/>
              <a:gd name="connsiteY12" fmla="*/ 548640 h 914400"/>
              <a:gd name="connsiteX13" fmla="*/ 628650 w 3234690"/>
              <a:gd name="connsiteY13" fmla="*/ 480060 h 914400"/>
              <a:gd name="connsiteX14" fmla="*/ 662940 w 3234690"/>
              <a:gd name="connsiteY14" fmla="*/ 445770 h 914400"/>
              <a:gd name="connsiteX15" fmla="*/ 697230 w 3234690"/>
              <a:gd name="connsiteY15" fmla="*/ 422910 h 914400"/>
              <a:gd name="connsiteX16" fmla="*/ 754380 w 3234690"/>
              <a:gd name="connsiteY16" fmla="*/ 365760 h 914400"/>
              <a:gd name="connsiteX17" fmla="*/ 822960 w 3234690"/>
              <a:gd name="connsiteY17" fmla="*/ 320040 h 914400"/>
              <a:gd name="connsiteX18" fmla="*/ 925830 w 3234690"/>
              <a:gd name="connsiteY18" fmla="*/ 240030 h 914400"/>
              <a:gd name="connsiteX19" fmla="*/ 971550 w 3234690"/>
              <a:gd name="connsiteY19" fmla="*/ 217170 h 914400"/>
              <a:gd name="connsiteX20" fmla="*/ 1040130 w 3234690"/>
              <a:gd name="connsiteY20" fmla="*/ 171450 h 914400"/>
              <a:gd name="connsiteX21" fmla="*/ 1074420 w 3234690"/>
              <a:gd name="connsiteY21" fmla="*/ 148590 h 914400"/>
              <a:gd name="connsiteX22" fmla="*/ 1143000 w 3234690"/>
              <a:gd name="connsiteY22" fmla="*/ 91440 h 914400"/>
              <a:gd name="connsiteX23" fmla="*/ 1211580 w 3234690"/>
              <a:gd name="connsiteY23" fmla="*/ 45720 h 914400"/>
              <a:gd name="connsiteX24" fmla="*/ 1245870 w 3234690"/>
              <a:gd name="connsiteY24" fmla="*/ 22860 h 914400"/>
              <a:gd name="connsiteX25" fmla="*/ 1325880 w 3234690"/>
              <a:gd name="connsiteY25" fmla="*/ 0 h 914400"/>
              <a:gd name="connsiteX26" fmla="*/ 2663190 w 3234690"/>
              <a:gd name="connsiteY26" fmla="*/ 11430 h 914400"/>
              <a:gd name="connsiteX27" fmla="*/ 2720340 w 3234690"/>
              <a:gd name="connsiteY27" fmla="*/ 22860 h 914400"/>
              <a:gd name="connsiteX28" fmla="*/ 3234690 w 3234690"/>
              <a:gd name="connsiteY28" fmla="*/ 2286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234690" h="914400">
                <a:moveTo>
                  <a:pt x="0" y="914400"/>
                </a:moveTo>
                <a:cubicBezTo>
                  <a:pt x="19050" y="906780"/>
                  <a:pt x="37939" y="898744"/>
                  <a:pt x="57150" y="891540"/>
                </a:cubicBezTo>
                <a:cubicBezTo>
                  <a:pt x="68431" y="887310"/>
                  <a:pt x="82032" y="887636"/>
                  <a:pt x="91440" y="880110"/>
                </a:cubicBezTo>
                <a:cubicBezTo>
                  <a:pt x="102167" y="871528"/>
                  <a:pt x="103573" y="854402"/>
                  <a:pt x="114300" y="845820"/>
                </a:cubicBezTo>
                <a:cubicBezTo>
                  <a:pt x="123708" y="838294"/>
                  <a:pt x="137814" y="839778"/>
                  <a:pt x="148590" y="834390"/>
                </a:cubicBezTo>
                <a:cubicBezTo>
                  <a:pt x="160877" y="828247"/>
                  <a:pt x="172327" y="820324"/>
                  <a:pt x="182880" y="811530"/>
                </a:cubicBezTo>
                <a:cubicBezTo>
                  <a:pt x="195298" y="801182"/>
                  <a:pt x="204411" y="787164"/>
                  <a:pt x="217170" y="777240"/>
                </a:cubicBezTo>
                <a:lnTo>
                  <a:pt x="320040" y="708660"/>
                </a:lnTo>
                <a:lnTo>
                  <a:pt x="354330" y="685800"/>
                </a:lnTo>
                <a:cubicBezTo>
                  <a:pt x="365760" y="678180"/>
                  <a:pt x="375588" y="667284"/>
                  <a:pt x="388620" y="662940"/>
                </a:cubicBezTo>
                <a:cubicBezTo>
                  <a:pt x="422987" y="651484"/>
                  <a:pt x="427657" y="653269"/>
                  <a:pt x="457200" y="628650"/>
                </a:cubicBezTo>
                <a:cubicBezTo>
                  <a:pt x="469618" y="618302"/>
                  <a:pt x="478731" y="604284"/>
                  <a:pt x="491490" y="594360"/>
                </a:cubicBezTo>
                <a:cubicBezTo>
                  <a:pt x="513177" y="577492"/>
                  <a:pt x="540643" y="568067"/>
                  <a:pt x="560070" y="548640"/>
                </a:cubicBezTo>
                <a:lnTo>
                  <a:pt x="628650" y="480060"/>
                </a:lnTo>
                <a:cubicBezTo>
                  <a:pt x="640080" y="468630"/>
                  <a:pt x="649490" y="454736"/>
                  <a:pt x="662940" y="445770"/>
                </a:cubicBezTo>
                <a:lnTo>
                  <a:pt x="697230" y="422910"/>
                </a:lnTo>
                <a:cubicBezTo>
                  <a:pt x="739140" y="360045"/>
                  <a:pt x="697230" y="413385"/>
                  <a:pt x="754380" y="365760"/>
                </a:cubicBezTo>
                <a:cubicBezTo>
                  <a:pt x="811459" y="318194"/>
                  <a:pt x="762699" y="340127"/>
                  <a:pt x="822960" y="320040"/>
                </a:cubicBezTo>
                <a:cubicBezTo>
                  <a:pt x="860590" y="282410"/>
                  <a:pt x="871144" y="267373"/>
                  <a:pt x="925830" y="240030"/>
                </a:cubicBezTo>
                <a:cubicBezTo>
                  <a:pt x="941070" y="232410"/>
                  <a:pt x="956939" y="225936"/>
                  <a:pt x="971550" y="217170"/>
                </a:cubicBezTo>
                <a:cubicBezTo>
                  <a:pt x="995109" y="203035"/>
                  <a:pt x="1017270" y="186690"/>
                  <a:pt x="1040130" y="171450"/>
                </a:cubicBezTo>
                <a:lnTo>
                  <a:pt x="1074420" y="148590"/>
                </a:lnTo>
                <a:cubicBezTo>
                  <a:pt x="1196951" y="66902"/>
                  <a:pt x="1010989" y="194115"/>
                  <a:pt x="1143000" y="91440"/>
                </a:cubicBezTo>
                <a:cubicBezTo>
                  <a:pt x="1164687" y="74572"/>
                  <a:pt x="1188720" y="60960"/>
                  <a:pt x="1211580" y="45720"/>
                </a:cubicBezTo>
                <a:cubicBezTo>
                  <a:pt x="1223010" y="38100"/>
                  <a:pt x="1232838" y="27204"/>
                  <a:pt x="1245870" y="22860"/>
                </a:cubicBezTo>
                <a:cubicBezTo>
                  <a:pt x="1295063" y="6462"/>
                  <a:pt x="1268471" y="14352"/>
                  <a:pt x="1325880" y="0"/>
                </a:cubicBezTo>
                <a:lnTo>
                  <a:pt x="2663190" y="11430"/>
                </a:lnTo>
                <a:cubicBezTo>
                  <a:pt x="2682615" y="11748"/>
                  <a:pt x="2700917" y="22472"/>
                  <a:pt x="2720340" y="22860"/>
                </a:cubicBezTo>
                <a:cubicBezTo>
                  <a:pt x="2891756" y="26288"/>
                  <a:pt x="3063240" y="22860"/>
                  <a:pt x="3234690" y="22860"/>
                </a:cubicBezTo>
              </a:path>
            </a:pathLst>
          </a:cu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Freihandform 47"/>
          <p:cNvSpPr/>
          <p:nvPr/>
        </p:nvSpPr>
        <p:spPr>
          <a:xfrm>
            <a:off x="1703388" y="1042988"/>
            <a:ext cx="5875337" cy="1533525"/>
          </a:xfrm>
          <a:custGeom>
            <a:avLst/>
            <a:gdLst>
              <a:gd name="connsiteX0" fmla="*/ 0 w 5875020"/>
              <a:gd name="connsiteY0" fmla="*/ 12525 h 1532715"/>
              <a:gd name="connsiteX1" fmla="*/ 617220 w 5875020"/>
              <a:gd name="connsiteY1" fmla="*/ 12525 h 1532715"/>
              <a:gd name="connsiteX2" fmla="*/ 651510 w 5875020"/>
              <a:gd name="connsiteY2" fmla="*/ 23955 h 1532715"/>
              <a:gd name="connsiteX3" fmla="*/ 914400 w 5875020"/>
              <a:gd name="connsiteY3" fmla="*/ 35385 h 1532715"/>
              <a:gd name="connsiteX4" fmla="*/ 994410 w 5875020"/>
              <a:gd name="connsiteY4" fmla="*/ 46815 h 1532715"/>
              <a:gd name="connsiteX5" fmla="*/ 1165860 w 5875020"/>
              <a:gd name="connsiteY5" fmla="*/ 69675 h 1532715"/>
              <a:gd name="connsiteX6" fmla="*/ 1508760 w 5875020"/>
              <a:gd name="connsiteY6" fmla="*/ 92535 h 1532715"/>
              <a:gd name="connsiteX7" fmla="*/ 1668780 w 5875020"/>
              <a:gd name="connsiteY7" fmla="*/ 115395 h 1532715"/>
              <a:gd name="connsiteX8" fmla="*/ 1771650 w 5875020"/>
              <a:gd name="connsiteY8" fmla="*/ 126825 h 1532715"/>
              <a:gd name="connsiteX9" fmla="*/ 1840230 w 5875020"/>
              <a:gd name="connsiteY9" fmla="*/ 161115 h 1532715"/>
              <a:gd name="connsiteX10" fmla="*/ 1977390 w 5875020"/>
              <a:gd name="connsiteY10" fmla="*/ 229695 h 1532715"/>
              <a:gd name="connsiteX11" fmla="*/ 2080260 w 5875020"/>
              <a:gd name="connsiteY11" fmla="*/ 309705 h 1532715"/>
              <a:gd name="connsiteX12" fmla="*/ 2137410 w 5875020"/>
              <a:gd name="connsiteY12" fmla="*/ 355425 h 1532715"/>
              <a:gd name="connsiteX13" fmla="*/ 2160270 w 5875020"/>
              <a:gd name="connsiteY13" fmla="*/ 389715 h 1532715"/>
              <a:gd name="connsiteX14" fmla="*/ 2194560 w 5875020"/>
              <a:gd name="connsiteY14" fmla="*/ 412575 h 1532715"/>
              <a:gd name="connsiteX15" fmla="*/ 2263140 w 5875020"/>
              <a:gd name="connsiteY15" fmla="*/ 481155 h 1532715"/>
              <a:gd name="connsiteX16" fmla="*/ 2286000 w 5875020"/>
              <a:gd name="connsiteY16" fmla="*/ 515445 h 1532715"/>
              <a:gd name="connsiteX17" fmla="*/ 2320290 w 5875020"/>
              <a:gd name="connsiteY17" fmla="*/ 538305 h 1532715"/>
              <a:gd name="connsiteX18" fmla="*/ 2343150 w 5875020"/>
              <a:gd name="connsiteY18" fmla="*/ 572595 h 1532715"/>
              <a:gd name="connsiteX19" fmla="*/ 2377440 w 5875020"/>
              <a:gd name="connsiteY19" fmla="*/ 595455 h 1532715"/>
              <a:gd name="connsiteX20" fmla="*/ 2423160 w 5875020"/>
              <a:gd name="connsiteY20" fmla="*/ 664035 h 1532715"/>
              <a:gd name="connsiteX21" fmla="*/ 2480310 w 5875020"/>
              <a:gd name="connsiteY21" fmla="*/ 732615 h 1532715"/>
              <a:gd name="connsiteX22" fmla="*/ 2514600 w 5875020"/>
              <a:gd name="connsiteY22" fmla="*/ 766905 h 1532715"/>
              <a:gd name="connsiteX23" fmla="*/ 2537460 w 5875020"/>
              <a:gd name="connsiteY23" fmla="*/ 801195 h 1532715"/>
              <a:gd name="connsiteX24" fmla="*/ 2606040 w 5875020"/>
              <a:gd name="connsiteY24" fmla="*/ 846915 h 1532715"/>
              <a:gd name="connsiteX25" fmla="*/ 2651760 w 5875020"/>
              <a:gd name="connsiteY25" fmla="*/ 904065 h 1532715"/>
              <a:gd name="connsiteX26" fmla="*/ 2674620 w 5875020"/>
              <a:gd name="connsiteY26" fmla="*/ 938355 h 1532715"/>
              <a:gd name="connsiteX27" fmla="*/ 2743200 w 5875020"/>
              <a:gd name="connsiteY27" fmla="*/ 984075 h 1532715"/>
              <a:gd name="connsiteX28" fmla="*/ 2777490 w 5875020"/>
              <a:gd name="connsiteY28" fmla="*/ 1006935 h 1532715"/>
              <a:gd name="connsiteX29" fmla="*/ 2834640 w 5875020"/>
              <a:gd name="connsiteY29" fmla="*/ 1052655 h 1532715"/>
              <a:gd name="connsiteX30" fmla="*/ 2857500 w 5875020"/>
              <a:gd name="connsiteY30" fmla="*/ 1086945 h 1532715"/>
              <a:gd name="connsiteX31" fmla="*/ 2891790 w 5875020"/>
              <a:gd name="connsiteY31" fmla="*/ 1109805 h 1532715"/>
              <a:gd name="connsiteX32" fmla="*/ 2960370 w 5875020"/>
              <a:gd name="connsiteY32" fmla="*/ 1155525 h 1532715"/>
              <a:gd name="connsiteX33" fmla="*/ 3028950 w 5875020"/>
              <a:gd name="connsiteY33" fmla="*/ 1201245 h 1532715"/>
              <a:gd name="connsiteX34" fmla="*/ 3063240 w 5875020"/>
              <a:gd name="connsiteY34" fmla="*/ 1224105 h 1532715"/>
              <a:gd name="connsiteX35" fmla="*/ 3131820 w 5875020"/>
              <a:gd name="connsiteY35" fmla="*/ 1246965 h 1532715"/>
              <a:gd name="connsiteX36" fmla="*/ 3223260 w 5875020"/>
              <a:gd name="connsiteY36" fmla="*/ 1281255 h 1532715"/>
              <a:gd name="connsiteX37" fmla="*/ 3326130 w 5875020"/>
              <a:gd name="connsiteY37" fmla="*/ 1326975 h 1532715"/>
              <a:gd name="connsiteX38" fmla="*/ 3360420 w 5875020"/>
              <a:gd name="connsiteY38" fmla="*/ 1338405 h 1532715"/>
              <a:gd name="connsiteX39" fmla="*/ 3394710 w 5875020"/>
              <a:gd name="connsiteY39" fmla="*/ 1361265 h 1532715"/>
              <a:gd name="connsiteX40" fmla="*/ 3520440 w 5875020"/>
              <a:gd name="connsiteY40" fmla="*/ 1395555 h 1532715"/>
              <a:gd name="connsiteX41" fmla="*/ 3554730 w 5875020"/>
              <a:gd name="connsiteY41" fmla="*/ 1406985 h 1532715"/>
              <a:gd name="connsiteX42" fmla="*/ 3611880 w 5875020"/>
              <a:gd name="connsiteY42" fmla="*/ 1418415 h 1532715"/>
              <a:gd name="connsiteX43" fmla="*/ 3691890 w 5875020"/>
              <a:gd name="connsiteY43" fmla="*/ 1441275 h 1532715"/>
              <a:gd name="connsiteX44" fmla="*/ 3794760 w 5875020"/>
              <a:gd name="connsiteY44" fmla="*/ 1464135 h 1532715"/>
              <a:gd name="connsiteX45" fmla="*/ 3886200 w 5875020"/>
              <a:gd name="connsiteY45" fmla="*/ 1475565 h 1532715"/>
              <a:gd name="connsiteX46" fmla="*/ 4217670 w 5875020"/>
              <a:gd name="connsiteY46" fmla="*/ 1486995 h 1532715"/>
              <a:gd name="connsiteX47" fmla="*/ 4423410 w 5875020"/>
              <a:gd name="connsiteY47" fmla="*/ 1498425 h 1532715"/>
              <a:gd name="connsiteX48" fmla="*/ 5234940 w 5875020"/>
              <a:gd name="connsiteY48" fmla="*/ 1509855 h 1532715"/>
              <a:gd name="connsiteX49" fmla="*/ 5463540 w 5875020"/>
              <a:gd name="connsiteY49" fmla="*/ 1521285 h 1532715"/>
              <a:gd name="connsiteX50" fmla="*/ 5875020 w 5875020"/>
              <a:gd name="connsiteY50" fmla="*/ 1532715 h 153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875020" h="1532715">
                <a:moveTo>
                  <a:pt x="0" y="12525"/>
                </a:moveTo>
                <a:cubicBezTo>
                  <a:pt x="294409" y="-1494"/>
                  <a:pt x="271881" y="-6660"/>
                  <a:pt x="617220" y="12525"/>
                </a:cubicBezTo>
                <a:cubicBezTo>
                  <a:pt x="629250" y="13193"/>
                  <a:pt x="639497" y="23031"/>
                  <a:pt x="651510" y="23955"/>
                </a:cubicBezTo>
                <a:cubicBezTo>
                  <a:pt x="738964" y="30682"/>
                  <a:pt x="826770" y="31575"/>
                  <a:pt x="914400" y="35385"/>
                </a:cubicBezTo>
                <a:lnTo>
                  <a:pt x="994410" y="46815"/>
                </a:lnTo>
                <a:cubicBezTo>
                  <a:pt x="1070527" y="58525"/>
                  <a:pt x="1079398" y="63712"/>
                  <a:pt x="1165860" y="69675"/>
                </a:cubicBezTo>
                <a:lnTo>
                  <a:pt x="1508760" y="92535"/>
                </a:lnTo>
                <a:cubicBezTo>
                  <a:pt x="1584510" y="117785"/>
                  <a:pt x="1525685" y="101086"/>
                  <a:pt x="1668780" y="115395"/>
                </a:cubicBezTo>
                <a:cubicBezTo>
                  <a:pt x="1703110" y="118828"/>
                  <a:pt x="1737360" y="123015"/>
                  <a:pt x="1771650" y="126825"/>
                </a:cubicBezTo>
                <a:cubicBezTo>
                  <a:pt x="1896705" y="168510"/>
                  <a:pt x="1707286" y="102029"/>
                  <a:pt x="1840230" y="161115"/>
                </a:cubicBezTo>
                <a:cubicBezTo>
                  <a:pt x="1907163" y="190863"/>
                  <a:pt x="1920356" y="172661"/>
                  <a:pt x="1977390" y="229695"/>
                </a:cubicBezTo>
                <a:cubicBezTo>
                  <a:pt x="2054489" y="306794"/>
                  <a:pt x="2015300" y="288052"/>
                  <a:pt x="2080260" y="309705"/>
                </a:cubicBezTo>
                <a:cubicBezTo>
                  <a:pt x="2145774" y="407975"/>
                  <a:pt x="2058540" y="292329"/>
                  <a:pt x="2137410" y="355425"/>
                </a:cubicBezTo>
                <a:cubicBezTo>
                  <a:pt x="2148137" y="364007"/>
                  <a:pt x="2150556" y="380001"/>
                  <a:pt x="2160270" y="389715"/>
                </a:cubicBezTo>
                <a:cubicBezTo>
                  <a:pt x="2169984" y="399429"/>
                  <a:pt x="2184293" y="403449"/>
                  <a:pt x="2194560" y="412575"/>
                </a:cubicBezTo>
                <a:cubicBezTo>
                  <a:pt x="2218723" y="434053"/>
                  <a:pt x="2245207" y="454256"/>
                  <a:pt x="2263140" y="481155"/>
                </a:cubicBezTo>
                <a:cubicBezTo>
                  <a:pt x="2270760" y="492585"/>
                  <a:pt x="2276286" y="505731"/>
                  <a:pt x="2286000" y="515445"/>
                </a:cubicBezTo>
                <a:cubicBezTo>
                  <a:pt x="2295714" y="525159"/>
                  <a:pt x="2308860" y="530685"/>
                  <a:pt x="2320290" y="538305"/>
                </a:cubicBezTo>
                <a:cubicBezTo>
                  <a:pt x="2327910" y="549735"/>
                  <a:pt x="2333436" y="562881"/>
                  <a:pt x="2343150" y="572595"/>
                </a:cubicBezTo>
                <a:cubicBezTo>
                  <a:pt x="2352864" y="582309"/>
                  <a:pt x="2368394" y="585117"/>
                  <a:pt x="2377440" y="595455"/>
                </a:cubicBezTo>
                <a:cubicBezTo>
                  <a:pt x="2395532" y="616132"/>
                  <a:pt x="2403733" y="644608"/>
                  <a:pt x="2423160" y="664035"/>
                </a:cubicBezTo>
                <a:cubicBezTo>
                  <a:pt x="2523339" y="764214"/>
                  <a:pt x="2400744" y="637136"/>
                  <a:pt x="2480310" y="732615"/>
                </a:cubicBezTo>
                <a:cubicBezTo>
                  <a:pt x="2490658" y="745033"/>
                  <a:pt x="2504252" y="754487"/>
                  <a:pt x="2514600" y="766905"/>
                </a:cubicBezTo>
                <a:cubicBezTo>
                  <a:pt x="2523394" y="777458"/>
                  <a:pt x="2527122" y="792149"/>
                  <a:pt x="2537460" y="801195"/>
                </a:cubicBezTo>
                <a:cubicBezTo>
                  <a:pt x="2558137" y="819287"/>
                  <a:pt x="2606040" y="846915"/>
                  <a:pt x="2606040" y="846915"/>
                </a:cubicBezTo>
                <a:cubicBezTo>
                  <a:pt x="2628292" y="913671"/>
                  <a:pt x="2600059" y="852364"/>
                  <a:pt x="2651760" y="904065"/>
                </a:cubicBezTo>
                <a:cubicBezTo>
                  <a:pt x="2661474" y="913779"/>
                  <a:pt x="2664282" y="929309"/>
                  <a:pt x="2674620" y="938355"/>
                </a:cubicBezTo>
                <a:cubicBezTo>
                  <a:pt x="2695297" y="956447"/>
                  <a:pt x="2720340" y="968835"/>
                  <a:pt x="2743200" y="984075"/>
                </a:cubicBezTo>
                <a:lnTo>
                  <a:pt x="2777490" y="1006935"/>
                </a:lnTo>
                <a:cubicBezTo>
                  <a:pt x="2843004" y="1105205"/>
                  <a:pt x="2755770" y="989559"/>
                  <a:pt x="2834640" y="1052655"/>
                </a:cubicBezTo>
                <a:cubicBezTo>
                  <a:pt x="2845367" y="1061237"/>
                  <a:pt x="2847786" y="1077231"/>
                  <a:pt x="2857500" y="1086945"/>
                </a:cubicBezTo>
                <a:cubicBezTo>
                  <a:pt x="2867214" y="1096659"/>
                  <a:pt x="2881237" y="1101011"/>
                  <a:pt x="2891790" y="1109805"/>
                </a:cubicBezTo>
                <a:cubicBezTo>
                  <a:pt x="2948869" y="1157371"/>
                  <a:pt x="2900109" y="1135438"/>
                  <a:pt x="2960370" y="1155525"/>
                </a:cubicBezTo>
                <a:cubicBezTo>
                  <a:pt x="3025372" y="1220527"/>
                  <a:pt x="2962783" y="1168162"/>
                  <a:pt x="3028950" y="1201245"/>
                </a:cubicBezTo>
                <a:cubicBezTo>
                  <a:pt x="3041237" y="1207388"/>
                  <a:pt x="3050687" y="1218526"/>
                  <a:pt x="3063240" y="1224105"/>
                </a:cubicBezTo>
                <a:cubicBezTo>
                  <a:pt x="3085260" y="1233892"/>
                  <a:pt x="3111770" y="1233599"/>
                  <a:pt x="3131820" y="1246965"/>
                </a:cubicBezTo>
                <a:cubicBezTo>
                  <a:pt x="3182274" y="1280601"/>
                  <a:pt x="3152640" y="1267131"/>
                  <a:pt x="3223260" y="1281255"/>
                </a:cubicBezTo>
                <a:cubicBezTo>
                  <a:pt x="3277600" y="1317481"/>
                  <a:pt x="3244518" y="1299771"/>
                  <a:pt x="3326130" y="1326975"/>
                </a:cubicBezTo>
                <a:cubicBezTo>
                  <a:pt x="3337560" y="1330785"/>
                  <a:pt x="3350395" y="1331722"/>
                  <a:pt x="3360420" y="1338405"/>
                </a:cubicBezTo>
                <a:cubicBezTo>
                  <a:pt x="3371850" y="1346025"/>
                  <a:pt x="3382157" y="1355686"/>
                  <a:pt x="3394710" y="1361265"/>
                </a:cubicBezTo>
                <a:cubicBezTo>
                  <a:pt x="3457764" y="1389289"/>
                  <a:pt x="3458975" y="1380189"/>
                  <a:pt x="3520440" y="1395555"/>
                </a:cubicBezTo>
                <a:cubicBezTo>
                  <a:pt x="3532129" y="1398477"/>
                  <a:pt x="3543041" y="1404063"/>
                  <a:pt x="3554730" y="1406985"/>
                </a:cubicBezTo>
                <a:cubicBezTo>
                  <a:pt x="3573577" y="1411697"/>
                  <a:pt x="3592915" y="1414201"/>
                  <a:pt x="3611880" y="1418415"/>
                </a:cubicBezTo>
                <a:cubicBezTo>
                  <a:pt x="3692277" y="1436281"/>
                  <a:pt x="3625066" y="1422182"/>
                  <a:pt x="3691890" y="1441275"/>
                </a:cubicBezTo>
                <a:cubicBezTo>
                  <a:pt x="3718437" y="1448860"/>
                  <a:pt x="3769226" y="1460207"/>
                  <a:pt x="3794760" y="1464135"/>
                </a:cubicBezTo>
                <a:cubicBezTo>
                  <a:pt x="3825120" y="1468806"/>
                  <a:pt x="3855528" y="1473907"/>
                  <a:pt x="3886200" y="1475565"/>
                </a:cubicBezTo>
                <a:cubicBezTo>
                  <a:pt x="3996595" y="1481532"/>
                  <a:pt x="4107214" y="1482295"/>
                  <a:pt x="4217670" y="1486995"/>
                </a:cubicBezTo>
                <a:cubicBezTo>
                  <a:pt x="4286294" y="1489915"/>
                  <a:pt x="4354742" y="1496882"/>
                  <a:pt x="4423410" y="1498425"/>
                </a:cubicBezTo>
                <a:lnTo>
                  <a:pt x="5234940" y="1509855"/>
                </a:lnTo>
                <a:lnTo>
                  <a:pt x="5463540" y="1521285"/>
                </a:lnTo>
                <a:lnTo>
                  <a:pt x="5875020" y="1532715"/>
                </a:ln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Textfeld 42"/>
          <p:cNvSpPr txBox="1">
            <a:spLocks noChangeArrowheads="1"/>
          </p:cNvSpPr>
          <p:nvPr/>
        </p:nvSpPr>
        <p:spPr bwMode="auto">
          <a:xfrm>
            <a:off x="1246981" y="815083"/>
            <a:ext cx="4732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 smtClean="0">
                <a:solidFill>
                  <a:schemeClr val="tx1"/>
                </a:solidFill>
              </a:rPr>
              <a:t>y0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45" name="Rechteck 44"/>
          <p:cNvSpPr/>
          <p:nvPr/>
        </p:nvSpPr>
        <p:spPr>
          <a:xfrm>
            <a:off x="6454775" y="1493838"/>
            <a:ext cx="1627188" cy="11255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Textfeld 23"/>
          <p:cNvSpPr txBox="1">
            <a:spLocks noChangeArrowheads="1"/>
          </p:cNvSpPr>
          <p:nvPr/>
        </p:nvSpPr>
        <p:spPr bwMode="auto">
          <a:xfrm>
            <a:off x="6556375" y="1584325"/>
            <a:ext cx="671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Symbol" panose="05050102010706020507" pitchFamily="18" charset="2"/>
              </a:rPr>
              <a:t>a</a:t>
            </a:r>
            <a:r>
              <a:rPr lang="en-US" altLang="en-US" sz="1800" b="0" baseline="-25000">
                <a:solidFill>
                  <a:schemeClr val="tx1"/>
                </a:solidFill>
              </a:rPr>
              <a:t>x</a:t>
            </a:r>
            <a:r>
              <a:rPr lang="en-US" altLang="en-US" sz="1800" b="0">
                <a:solidFill>
                  <a:schemeClr val="tx1"/>
                </a:solidFill>
              </a:rPr>
              <a:t>=0</a:t>
            </a:r>
          </a:p>
        </p:txBody>
      </p:sp>
      <p:sp>
        <p:nvSpPr>
          <p:cNvPr id="51" name="Textfeld 23"/>
          <p:cNvSpPr txBox="1">
            <a:spLocks noChangeArrowheads="1"/>
          </p:cNvSpPr>
          <p:nvPr/>
        </p:nvSpPr>
        <p:spPr bwMode="auto">
          <a:xfrm>
            <a:off x="6596063" y="2392363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Symbol" panose="05050102010706020507" pitchFamily="18" charset="2"/>
              </a:rPr>
              <a:t>a</a:t>
            </a:r>
            <a:r>
              <a:rPr lang="en-US" altLang="en-US" sz="1800" b="0" baseline="-25000">
                <a:solidFill>
                  <a:schemeClr val="tx1"/>
                </a:solidFill>
              </a:rPr>
              <a:t>y</a:t>
            </a:r>
            <a:r>
              <a:rPr lang="en-US" altLang="en-US" sz="1800" b="0">
                <a:solidFill>
                  <a:schemeClr val="tx1"/>
                </a:solidFill>
              </a:rPr>
              <a:t>=0</a:t>
            </a:r>
          </a:p>
        </p:txBody>
      </p:sp>
      <p:sp>
        <p:nvSpPr>
          <p:cNvPr id="52" name="Textfeld 23"/>
          <p:cNvSpPr txBox="1">
            <a:spLocks noChangeArrowheads="1"/>
          </p:cNvSpPr>
          <p:nvPr/>
        </p:nvSpPr>
        <p:spPr bwMode="auto">
          <a:xfrm>
            <a:off x="6588124" y="2000657"/>
            <a:ext cx="6383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altLang="en-US" sz="1800" b="0" dirty="0" smtClean="0">
                <a:solidFill>
                  <a:schemeClr val="tx1"/>
                </a:solidFill>
              </a:rPr>
              <a:t>‘=</a:t>
            </a:r>
            <a:r>
              <a:rPr lang="en-US" altLang="en-US" sz="1800" b="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" name="Textfeld 52"/>
          <p:cNvSpPr txBox="1">
            <a:spLocks noChangeArrowheads="1"/>
          </p:cNvSpPr>
          <p:nvPr/>
        </p:nvSpPr>
        <p:spPr bwMode="auto">
          <a:xfrm>
            <a:off x="3174862" y="5814000"/>
            <a:ext cx="234365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rgbClr val="0070C0"/>
                </a:solidFill>
              </a:rPr>
              <a:t>Constraints:</a:t>
            </a:r>
            <a:endParaRPr lang="en-US" altLang="en-US" sz="1800" b="0" dirty="0">
              <a:solidFill>
                <a:srgbClr val="0070C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a</a:t>
            </a:r>
            <a:r>
              <a:rPr lang="en-US" altLang="en-US" sz="1600" b="0" baseline="-25000" dirty="0" smtClean="0">
                <a:solidFill>
                  <a:schemeClr val="tx1"/>
                </a:solidFill>
              </a:rPr>
              <a:t>x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=</a:t>
            </a:r>
            <a:r>
              <a:rPr lang="en-US" altLang="en-US" sz="16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a</a:t>
            </a:r>
            <a:r>
              <a:rPr lang="en-US" altLang="en-US" sz="1600" b="0" baseline="-25000" dirty="0" smtClean="0">
                <a:solidFill>
                  <a:schemeClr val="tx1"/>
                </a:solidFill>
              </a:rPr>
              <a:t>y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=</a:t>
            </a:r>
            <a:r>
              <a:rPr lang="en-US" altLang="en-US" sz="1600" b="0" dirty="0" err="1" smtClean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altLang="en-US" sz="1600" b="0" baseline="-25000" dirty="0" err="1" smtClean="0">
                <a:solidFill>
                  <a:schemeClr val="tx1"/>
                </a:solidFill>
              </a:rPr>
              <a:t>x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’</a:t>
            </a:r>
            <a:r>
              <a:rPr lang="en-US" altLang="en-US" sz="1600" b="0" baseline="-25000" dirty="0" smtClean="0">
                <a:solidFill>
                  <a:schemeClr val="tx1"/>
                </a:solidFill>
              </a:rPr>
              <a:t> 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=0 </a:t>
            </a:r>
            <a:r>
              <a:rPr lang="en-US" altLang="en-US" sz="1600" b="0" dirty="0">
                <a:solidFill>
                  <a:schemeClr val="tx1"/>
                </a:solidFill>
              </a:rPr>
              <a:t>at cell end</a:t>
            </a:r>
          </a:p>
        </p:txBody>
      </p:sp>
      <p:sp>
        <p:nvSpPr>
          <p:cNvPr id="54" name="Textfeld 53"/>
          <p:cNvSpPr txBox="1">
            <a:spLocks noChangeArrowheads="1"/>
          </p:cNvSpPr>
          <p:nvPr/>
        </p:nvSpPr>
        <p:spPr bwMode="auto">
          <a:xfrm>
            <a:off x="6102000" y="4941888"/>
            <a:ext cx="3128549" cy="1764586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rgbClr val="0070C0"/>
                </a:solidFill>
              </a:rPr>
              <a:t>Choices ?</a:t>
            </a:r>
            <a:endParaRPr lang="en-US" altLang="en-US" sz="1800" b="0" dirty="0">
              <a:solidFill>
                <a:srgbClr val="0070C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600" b="0" dirty="0">
                <a:solidFill>
                  <a:schemeClr val="tx1"/>
                </a:solidFill>
              </a:rPr>
              <a:t>Order QD, 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SD ?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de-DE" altLang="en-US" sz="1600" b="0" dirty="0" smtClean="0">
                <a:solidFill>
                  <a:schemeClr val="tx1"/>
                </a:solidFill>
              </a:rPr>
              <a:t>     </a:t>
            </a:r>
            <a:r>
              <a:rPr lang="en-US" altLang="en-US" sz="16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h 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should be large at SD</a:t>
            </a:r>
            <a:endParaRPr lang="en-US" altLang="en-US" sz="16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 dirty="0" smtClean="0">
                <a:solidFill>
                  <a:schemeClr val="tx1"/>
                </a:solidFill>
              </a:rPr>
              <a:t>Order </a:t>
            </a:r>
            <a:r>
              <a:rPr lang="en-US" altLang="en-US" sz="1600" b="0" dirty="0">
                <a:solidFill>
                  <a:schemeClr val="tx1"/>
                </a:solidFill>
              </a:rPr>
              <a:t>of 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 </a:t>
            </a:r>
            <a:r>
              <a:rPr lang="en-US" altLang="en-US" sz="1600" b="0" dirty="0">
                <a:solidFill>
                  <a:schemeClr val="tx1"/>
                </a:solidFill>
              </a:rPr>
              <a:t>Q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F and rev</a:t>
            </a:r>
            <a:r>
              <a:rPr lang="en-US" altLang="en-US" sz="1600" b="0" dirty="0">
                <a:solidFill>
                  <a:schemeClr val="tx1"/>
                </a:solidFill>
              </a:rPr>
              <a:t>. 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bend, SF?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de-DE" altLang="en-US" sz="1600" b="0" dirty="0" smtClean="0">
                <a:solidFill>
                  <a:schemeClr val="tx1"/>
                </a:solidFill>
              </a:rPr>
              <a:t>     </a:t>
            </a:r>
            <a:r>
              <a:rPr lang="en-US" altLang="en-US" sz="1600" b="0" dirty="0">
                <a:solidFill>
                  <a:schemeClr val="tx1"/>
                </a:solidFill>
                <a:latin typeface="Symbol" panose="05050102010706020507" pitchFamily="18" charset="2"/>
              </a:rPr>
              <a:t>h </a:t>
            </a:r>
            <a:r>
              <a:rPr lang="en-US" altLang="en-US" sz="1600" b="0" dirty="0">
                <a:solidFill>
                  <a:schemeClr val="tx1"/>
                </a:solidFill>
              </a:rPr>
              <a:t>should be large at 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RB, SD</a:t>
            </a:r>
            <a:endParaRPr lang="en-US" altLang="en-US" sz="16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600" b="0" baseline="-25000" dirty="0" smtClean="0">
                <a:solidFill>
                  <a:schemeClr val="tx1"/>
                </a:solidFill>
              </a:rPr>
              <a:t>y</a:t>
            </a:r>
            <a:r>
              <a:rPr lang="en-US" altLang="en-US" sz="1600" b="0" baseline="-25000" dirty="0" smtClean="0">
                <a:solidFill>
                  <a:schemeClr val="tx1"/>
                </a:solidFill>
                <a:latin typeface="Symbol" panose="05050102010706020507" pitchFamily="18" charset="2"/>
              </a:rPr>
              <a:t>0</a:t>
            </a:r>
            <a:r>
              <a:rPr lang="en-US" altLang="en-US" sz="1600" b="0" baseline="-25000" dirty="0" smtClean="0">
                <a:solidFill>
                  <a:schemeClr val="tx1"/>
                </a:solidFill>
              </a:rPr>
              <a:t> 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– keep </a:t>
            </a:r>
            <a:r>
              <a:rPr lang="en-US" altLang="en-US" sz="16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600" b="0" baseline="-25000" dirty="0" smtClean="0">
                <a:solidFill>
                  <a:schemeClr val="tx1"/>
                </a:solidFill>
              </a:rPr>
              <a:t>y</a:t>
            </a:r>
            <a:r>
              <a:rPr lang="en-US" altLang="en-US" sz="1600" b="0" baseline="-25000" dirty="0" smtClean="0">
                <a:solidFill>
                  <a:schemeClr val="tx1"/>
                </a:solidFill>
                <a:latin typeface="Symbol" panose="05050102010706020507" pitchFamily="18" charset="2"/>
              </a:rPr>
              <a:t>0</a:t>
            </a:r>
            <a:r>
              <a:rPr lang="en-US" altLang="en-US" sz="16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 &gt; b</a:t>
            </a:r>
            <a:r>
              <a:rPr lang="en-US" altLang="en-US" sz="1600" b="0" baseline="-25000" dirty="0" smtClean="0">
                <a:solidFill>
                  <a:schemeClr val="tx1"/>
                </a:solidFill>
              </a:rPr>
              <a:t>x</a:t>
            </a:r>
            <a:r>
              <a:rPr lang="en-US" altLang="en-US" sz="1600" b="0" baseline="-25000" dirty="0" smtClean="0">
                <a:solidFill>
                  <a:schemeClr val="tx1"/>
                </a:solidFill>
                <a:latin typeface="Symbol" panose="05050102010706020507" pitchFamily="18" charset="2"/>
              </a:rPr>
              <a:t>0</a:t>
            </a:r>
            <a:r>
              <a:rPr lang="en-US" altLang="en-US" sz="16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 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at SD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 b="0" baseline="30000" dirty="0">
              <a:solidFill>
                <a:schemeClr val="tx1"/>
              </a:solidFill>
            </a:endParaRPr>
          </a:p>
        </p:txBody>
      </p:sp>
      <p:cxnSp>
        <p:nvCxnSpPr>
          <p:cNvPr id="9" name="Gerade Verbindung mit Pfeil 8"/>
          <p:cNvCxnSpPr/>
          <p:nvPr/>
        </p:nvCxnSpPr>
        <p:spPr>
          <a:xfrm>
            <a:off x="2097088" y="684213"/>
            <a:ext cx="0" cy="12065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39"/>
          <p:cNvSpPr txBox="1">
            <a:spLocks noChangeArrowheads="1"/>
          </p:cNvSpPr>
          <p:nvPr/>
        </p:nvSpPr>
        <p:spPr bwMode="auto">
          <a:xfrm>
            <a:off x="207000" y="4689000"/>
            <a:ext cx="3042821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rgbClr val="0070C0"/>
                </a:solidFill>
              </a:rPr>
              <a:t>Boundary conditions :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600" b="0" dirty="0" smtClean="0">
                <a:solidFill>
                  <a:schemeClr val="tx1"/>
                </a:solidFill>
              </a:rPr>
              <a:t>Smallest emittance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Char char="Þ"/>
            </a:pPr>
            <a:r>
              <a:rPr lang="en-US" altLang="en-US" sz="1600" b="0" dirty="0" err="1" smtClean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600" b="0" baseline="-25000" dirty="0" err="1" smtClean="0">
                <a:solidFill>
                  <a:schemeClr val="tx1"/>
                </a:solidFill>
              </a:rPr>
              <a:t>x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, </a:t>
            </a:r>
            <a:r>
              <a:rPr lang="en-US" altLang="en-US" sz="1600" b="0" dirty="0" err="1" smtClean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altLang="en-US" sz="1600" b="0" baseline="-25000" dirty="0" err="1" smtClean="0">
                <a:solidFill>
                  <a:schemeClr val="tx1"/>
                </a:solidFill>
              </a:rPr>
              <a:t>x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 small in main bend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Char char="Þ"/>
            </a:pPr>
            <a:r>
              <a:rPr lang="de-DE" altLang="en-US" sz="1600" b="0" dirty="0" err="1" smtClean="0">
                <a:solidFill>
                  <a:schemeClr val="tx1"/>
                </a:solidFill>
              </a:rPr>
              <a:t>Adjacent</a:t>
            </a:r>
            <a:r>
              <a:rPr lang="de-DE" altLang="en-US" sz="1600" b="0" dirty="0" smtClean="0">
                <a:solidFill>
                  <a:schemeClr val="tx1"/>
                </a:solidFill>
              </a:rPr>
              <a:t> Q, SX </a:t>
            </a:r>
            <a:r>
              <a:rPr lang="de-DE" altLang="en-US" sz="1600" b="0" dirty="0" err="1" smtClean="0">
                <a:solidFill>
                  <a:schemeClr val="tx1"/>
                </a:solidFill>
              </a:rPr>
              <a:t>are</a:t>
            </a:r>
            <a:r>
              <a:rPr lang="de-DE" altLang="en-US" sz="1600" b="0" dirty="0" smtClean="0">
                <a:solidFill>
                  <a:schemeClr val="tx1"/>
                </a:solidFill>
              </a:rPr>
              <a:t> QD, SD</a:t>
            </a:r>
            <a:endParaRPr lang="en-US" altLang="en-US" sz="1600" b="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600" b="0" dirty="0">
                <a:solidFill>
                  <a:schemeClr val="tx1"/>
                </a:solidFill>
              </a:rPr>
              <a:t>As short as possible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Char char="Þ"/>
            </a:pPr>
            <a:r>
              <a:rPr lang="en-US" altLang="en-US" sz="1600" b="0" dirty="0">
                <a:solidFill>
                  <a:schemeClr val="tx1"/>
                </a:solidFill>
              </a:rPr>
              <a:t>Shortest drift spaces (10cm)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Char char="Þ"/>
            </a:pPr>
            <a:r>
              <a:rPr lang="en-US" altLang="en-US" sz="1600" b="0" dirty="0">
                <a:solidFill>
                  <a:schemeClr val="tx1"/>
                </a:solidFill>
              </a:rPr>
              <a:t>Max. field in B, Q </a:t>
            </a:r>
            <a:endParaRPr lang="en-US" altLang="en-US" sz="1600" b="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Char char="Þ"/>
            </a:pPr>
            <a:r>
              <a:rPr lang="de-DE" altLang="en-US" sz="1600" b="0" dirty="0" smtClean="0">
                <a:solidFill>
                  <a:schemeClr val="tx1"/>
                </a:solidFill>
              </a:rPr>
              <a:t>Reverse </a:t>
            </a:r>
            <a:r>
              <a:rPr lang="de-DE" altLang="en-US" sz="1600" b="0" dirty="0" err="1" smtClean="0">
                <a:solidFill>
                  <a:schemeClr val="tx1"/>
                </a:solidFill>
              </a:rPr>
              <a:t>bend</a:t>
            </a:r>
            <a:endParaRPr lang="de-DE" altLang="en-US" sz="1600" b="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Char char="Þ"/>
            </a:pPr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>
            <a:endCxn id="48" idx="4"/>
          </p:cNvCxnSpPr>
          <p:nvPr/>
        </p:nvCxnSpPr>
        <p:spPr>
          <a:xfrm>
            <a:off x="1749747" y="1055520"/>
            <a:ext cx="948105" cy="34308"/>
          </a:xfrm>
          <a:prstGeom prst="line">
            <a:avLst/>
          </a:prstGeom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feld 26"/>
          <p:cNvSpPr txBox="1">
            <a:spLocks noChangeArrowheads="1"/>
          </p:cNvSpPr>
          <p:nvPr/>
        </p:nvSpPr>
        <p:spPr bwMode="auto">
          <a:xfrm>
            <a:off x="5597175" y="4104000"/>
            <a:ext cx="5052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</a:rPr>
              <a:t>RB</a:t>
            </a:r>
            <a:endParaRPr lang="en-US" altLang="en-US" sz="1800" b="0" dirty="0">
              <a:solidFill>
                <a:schemeClr val="tx1"/>
              </a:solidFill>
            </a:endParaRPr>
          </a:p>
        </p:txBody>
      </p:sp>
      <p:sp>
        <p:nvSpPr>
          <p:cNvPr id="56" name="Textfeld 51"/>
          <p:cNvSpPr txBox="1">
            <a:spLocks noChangeArrowheads="1"/>
          </p:cNvSpPr>
          <p:nvPr/>
        </p:nvSpPr>
        <p:spPr bwMode="auto">
          <a:xfrm>
            <a:off x="3248026" y="3013908"/>
            <a:ext cx="3579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57" name="Textfeld 51"/>
          <p:cNvSpPr txBox="1">
            <a:spLocks noChangeArrowheads="1"/>
          </p:cNvSpPr>
          <p:nvPr/>
        </p:nvSpPr>
        <p:spPr bwMode="auto">
          <a:xfrm>
            <a:off x="2818607" y="2424669"/>
            <a:ext cx="6048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 smtClean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 err="1" smtClean="0">
                <a:solidFill>
                  <a:schemeClr val="tx1"/>
                </a:solidFill>
              </a:rPr>
              <a:t>x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04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2" grpId="0"/>
      <p:bldP spid="37" grpId="0"/>
      <p:bldP spid="49" grpId="0"/>
      <p:bldP spid="50" grpId="0"/>
      <p:bldP spid="51" grpId="0"/>
      <p:bldP spid="52" grpId="0"/>
      <p:bldP spid="53" grpId="0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1800" dirty="0" smtClean="0"/>
              <a:t>General formulas</a:t>
            </a:r>
            <a:endParaRPr lang="en-US" sz="1800" dirty="0"/>
          </a:p>
        </p:txBody>
      </p:sp>
      <p:sp>
        <p:nvSpPr>
          <p:cNvPr id="4100" name="Foliennummernplatzhalter 3"/>
          <p:cNvSpPr>
            <a:spLocks noGrp="1"/>
          </p:cNvSpPr>
          <p:nvPr>
            <p:ph type="sldNum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7277021-0EB3-42BB-A062-C07C0E40CE12}" type="slidenum">
              <a:rPr lang="de-DE" altLang="en-US">
                <a:solidFill>
                  <a:srgbClr val="00589C"/>
                </a:solidFill>
              </a:rPr>
              <a:pPr eaLnBrk="1" hangingPunct="1"/>
              <a:t>6</a:t>
            </a:fld>
            <a:endParaRPr lang="de-DE" altLang="en-US">
              <a:solidFill>
                <a:srgbClr val="00589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92058" y="1269000"/>
                <a:ext cx="3680733" cy="763396"/>
              </a:xfrm>
              <a:prstGeom prst="rect">
                <a:avLst/>
              </a:prstGeom>
              <a:noFill/>
              <a:ln>
                <a:solidFill>
                  <a:srgbClr val="00589C"/>
                </a:solidFill>
              </a:ln>
            </p:spPr>
            <p:txBody>
              <a:bodyPr wrap="none" lIns="72000" tIns="72000" rIns="72000" bIns="72000" rtlCol="0">
                <a:spAutoFit/>
              </a:bodyPr>
              <a:lstStyle/>
              <a:p>
                <a:r>
                  <a:rPr lang="en-US" sz="2400" dirty="0" smtClean="0">
                    <a:sym typeface="Symbol" panose="05050102010706020507" pitchFamily="18" charset="2"/>
                  </a:rPr>
                  <a:t>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sz="2400" b="0" i="1" baseline="-25000" smtClean="0"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sSup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</m:t>
                            </m:r>
                          </m:e>
                          <m:sup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de-DE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𝐽</m:t>
                        </m:r>
                        <m:r>
                          <a:rPr lang="de-DE" sz="2400" b="0" i="1" baseline="-2500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</m:den>
                    </m:f>
                    <m:nary>
                      <m:naryPr>
                        <m:limLoc m:val="undOvr"/>
                        <m:ctrlPr>
                          <a:rPr lang="de-DE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de-DE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b>
                      <m:sup>
                        <m:r>
                          <a:rPr lang="de-DE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𝐶</m:t>
                        </m:r>
                      </m:sup>
                      <m:e>
                        <m:f>
                          <m:f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p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3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|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𝐻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(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𝑠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)</m:t>
                            </m:r>
                          </m:num>
                          <m:den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𝑏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²</m:t>
                            </m:r>
                          </m:den>
                        </m:f>
                        <m:r>
                          <a:rPr lang="de-DE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       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058" y="1269000"/>
                <a:ext cx="3680733" cy="763396"/>
              </a:xfrm>
              <a:prstGeom prst="rect">
                <a:avLst/>
              </a:prstGeom>
              <a:blipFill>
                <a:blip r:embed="rId2"/>
                <a:stretch>
                  <a:fillRect l="-2970"/>
                </a:stretch>
              </a:blipFill>
              <a:ln>
                <a:solidFill>
                  <a:srgbClr val="00589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85898" y="2044902"/>
                <a:ext cx="6582445" cy="17235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With: </a:t>
                </a:r>
              </a:p>
              <a:p>
                <a:r>
                  <a:rPr lang="en-US" sz="16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/L =1/ 	curvature and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 - dipole angle, L – dipole </a:t>
                </a:r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length</a:t>
                </a:r>
              </a:p>
              <a:p>
                <a:r>
                  <a:rPr lang="en-US" sz="1600" i="1" dirty="0" err="1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Cq</a:t>
                </a:r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 = 3.83e-13 m 	quantum excitation number</a:t>
                </a:r>
              </a:p>
              <a:p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𝐽</m:t>
                    </m:r>
                    <m:r>
                      <a:rPr lang="en-US" sz="1600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</m:oMath>
                </a14:m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 		damping partition number </a:t>
                </a:r>
              </a:p>
              <a:p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𝐽</m:t>
                    </m:r>
                    <m:r>
                      <a:rPr lang="en-US" sz="1600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~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 </a:t>
                </a:r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for homogeneous bend, </a:t>
                </a:r>
              </a:p>
              <a:p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𝐽</m:t>
                    </m:r>
                    <m:r>
                      <a:rPr lang="en-US" sz="1600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</m:oMath>
                </a14:m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1 for bends with transverse gradients</a:t>
                </a:r>
              </a:p>
              <a:p>
                <a:r>
                  <a:rPr lang="de-DE" sz="16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H(s) =</a:t>
                </a:r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l-GR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β</a:t>
                </a:r>
                <a:r>
                  <a:rPr lang="en-US" sz="16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l-GR" sz="16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η</a:t>
                </a:r>
                <a:r>
                  <a:rPr lang="de-DE" sz="16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‘²</a:t>
                </a:r>
                <a:r>
                  <a:rPr lang="el-GR" sz="16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l-G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+ 2</a:t>
                </a:r>
                <a:r>
                  <a:rPr lang="el-GR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α</a:t>
                </a:r>
                <a:r>
                  <a:rPr lang="en-US" sz="16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l-GR" sz="16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η</a:t>
                </a:r>
                <a:r>
                  <a:rPr lang="de-DE" sz="16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‘</a:t>
                </a:r>
                <a:r>
                  <a:rPr lang="el-GR" sz="16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η</a:t>
                </a:r>
                <a:r>
                  <a:rPr lang="el-GR" sz="16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l-GR" sz="16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γ</a:t>
                </a:r>
                <a:r>
                  <a:rPr lang="en-US" sz="16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l-GR" sz="16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η</a:t>
                </a:r>
                <a:r>
                  <a:rPr lang="de-DE" sz="16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²</a:t>
                </a:r>
                <a:r>
                  <a:rPr lang="el-GR" sz="16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898" y="2044902"/>
                <a:ext cx="6582445" cy="1723549"/>
              </a:xfrm>
              <a:prstGeom prst="rect">
                <a:avLst/>
              </a:prstGeom>
              <a:blipFill>
                <a:blip r:embed="rId3"/>
                <a:stretch>
                  <a:fillRect l="-1852" t="-3887" b="-6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899592" y="819000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General emittance formula: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4005064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Radiation integrals: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075908" y="4404478"/>
                <a:ext cx="1819537" cy="419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 smtClean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de-DE" sz="2000" b="0" i="0" baseline="-25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b>
                      <m:sup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𝐶</m:t>
                        </m:r>
                      </m:sup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𝑏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²(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𝑑𝑠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908" y="4404478"/>
                <a:ext cx="1819537" cy="4199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060539" y="4404478"/>
                <a:ext cx="2536848" cy="419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 smtClean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de-DE" sz="2000" b="0" i="0" baseline="-2500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b>
                      <m:sup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𝐶</m:t>
                        </m:r>
                      </m:sup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|</m:t>
                        </m:r>
                        <m:sSup>
                          <m:sSup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𝑏</m:t>
                            </m:r>
                          </m:e>
                          <m:sup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sup>
                        </m:sSup>
                        <m:d>
                          <m:d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𝑠</m:t>
                            </m:r>
                          </m:e>
                        </m:d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|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𝐻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𝑑𝑠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539" y="4404478"/>
                <a:ext cx="2536848" cy="4199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87624" y="5779367"/>
                <a:ext cx="6219376" cy="675360"/>
              </a:xfrm>
              <a:prstGeom prst="rect">
                <a:avLst/>
              </a:prstGeom>
              <a:noFill/>
              <a:ln>
                <a:solidFill>
                  <a:srgbClr val="00589C"/>
                </a:solidFill>
              </a:ln>
            </p:spPr>
            <p:txBody>
              <a:bodyPr wrap="square" lIns="108000" tIns="36000" rIns="36000" bIns="108000" rtlCol="0">
                <a:spAutoFit/>
              </a:bodyPr>
              <a:lstStyle/>
              <a:p>
                <a:r>
                  <a:rPr lang="en-US" sz="2400" dirty="0" smtClean="0">
                    <a:sym typeface="Symbol" panose="05050102010706020507" pitchFamily="18" charset="2"/>
                  </a:rPr>
                  <a:t>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∝</m:t>
                    </m:r>
                    <m:f>
                      <m:fPr>
                        <m:ctrlPr>
                          <a:rPr lang="de-DE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de-DE" sz="2400" baseline="-2500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de-DE" sz="2400" b="0" i="0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de-DE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𝑏</m:t>
                        </m:r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∗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𝐻</m:t>
                    </m:r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=|1/</m:t>
                    </m:r>
                  </m:oMath>
                </a14:m>
                <a:r>
                  <a:rPr lang="en-US" sz="2400" dirty="0" smtClean="0"/>
                  <a:t>|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∗</m:t>
                    </m:r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𝐻</m:t>
                    </m:r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5779367"/>
                <a:ext cx="6219376" cy="675360"/>
              </a:xfrm>
              <a:prstGeom prst="rect">
                <a:avLst/>
              </a:prstGeom>
              <a:blipFill>
                <a:blip r:embed="rId6"/>
                <a:stretch>
                  <a:fillRect l="-1174"/>
                </a:stretch>
              </a:blipFill>
              <a:ln>
                <a:solidFill>
                  <a:srgbClr val="00589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089272" y="5013176"/>
                <a:ext cx="477887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/>
                  <a:t>For lattices with equal homogeneous bends </a:t>
                </a:r>
                <a:r>
                  <a:rPr lang="en-US" sz="1600" i="1" dirty="0" smtClean="0"/>
                  <a:t> </a:t>
                </a:r>
              </a:p>
              <a:p>
                <a:r>
                  <a:rPr lang="en-US" sz="1600" i="1" dirty="0" smtClean="0"/>
                  <a:t>b = const. </a:t>
                </a:r>
                <a:r>
                  <a:rPr lang="en-US" sz="1600" dirty="0" smtClean="0"/>
                  <a:t>and </a:t>
                </a:r>
                <a14:m>
                  <m:oMath xmlns:m="http://schemas.openxmlformats.org/officeDocument/2006/math">
                    <m:r>
                      <a:rPr lang="de-DE" sz="16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</m:t>
                    </m:r>
                    <m:r>
                      <a:rPr lang="de-DE" sz="16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𝐻</m:t>
                    </m:r>
                    <m:r>
                      <a:rPr lang="de-DE" sz="16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0" smtClean="0">
                        <a:latin typeface="Cambria Math" panose="02040503050406030204" pitchFamily="18" charset="0"/>
                      </a:rPr>
                      <m:t>can</m:t>
                    </m:r>
                    <m:r>
                      <a:rPr lang="de-DE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600" b="0" i="0" smtClean="0">
                        <a:latin typeface="Cambria Math" panose="02040503050406030204" pitchFamily="18" charset="0"/>
                      </a:rPr>
                      <m:t>be</m:t>
                    </m:r>
                    <m:r>
                      <a:rPr lang="de-DE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600" b="0" i="0" smtClean="0">
                        <a:latin typeface="Cambria Math" panose="02040503050406030204" pitchFamily="18" charset="0"/>
                      </a:rPr>
                      <m:t>taken</m:t>
                    </m:r>
                    <m:r>
                      <a:rPr lang="de-DE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600" b="0" i="0" smtClean="0">
                        <a:latin typeface="Cambria Math" panose="02040503050406030204" pitchFamily="18" charset="0"/>
                      </a:rPr>
                      <m:t>over</m:t>
                    </m:r>
                    <m:r>
                      <a:rPr lang="de-DE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6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600" b="0" i="0" smtClean="0">
                        <a:latin typeface="Cambria Math" panose="02040503050406030204" pitchFamily="18" charset="0"/>
                      </a:rPr>
                      <m:t>single</m:t>
                    </m:r>
                    <m:r>
                      <a:rPr lang="de-DE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600" b="0" i="0" smtClean="0">
                        <a:latin typeface="Cambria Math" panose="02040503050406030204" pitchFamily="18" charset="0"/>
                      </a:rPr>
                      <m:t>dipole</m:t>
                    </m:r>
                    <m:r>
                      <a:rPr lang="de-DE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272" y="5013176"/>
                <a:ext cx="4778872" cy="584775"/>
              </a:xfrm>
              <a:prstGeom prst="rect">
                <a:avLst/>
              </a:prstGeom>
              <a:blipFill>
                <a:blip r:embed="rId7"/>
                <a:stretch>
                  <a:fillRect l="-765"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Following the paper of Riemann and </a:t>
            </a:r>
            <a:r>
              <a:rPr lang="en-US" sz="1800" dirty="0" err="1" smtClean="0"/>
              <a:t>Streun</a:t>
            </a:r>
            <a:r>
              <a:rPr lang="en-US" sz="1800" dirty="0" smtClean="0"/>
              <a:t>…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7</a:t>
            </a:fld>
            <a:endParaRPr lang="de-DE" altLang="en-US"/>
          </a:p>
        </p:txBody>
      </p:sp>
      <p:sp>
        <p:nvSpPr>
          <p:cNvPr id="7" name="Rectangle 6"/>
          <p:cNvSpPr/>
          <p:nvPr/>
        </p:nvSpPr>
        <p:spPr>
          <a:xfrm>
            <a:off x="323528" y="908720"/>
            <a:ext cx="7109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 smtClean="0">
                <a:latin typeface="Arial" charset="0"/>
                <a:cs typeface="Arial" charset="0"/>
              </a:rPr>
              <a:t>B</a:t>
            </a:r>
            <a:r>
              <a:rPr lang="en-US" dirty="0">
                <a:latin typeface="Arial" charset="0"/>
                <a:cs typeface="Arial" charset="0"/>
              </a:rPr>
              <a:t>. Riemann and A. </a:t>
            </a:r>
            <a:r>
              <a:rPr lang="en-US" dirty="0" err="1">
                <a:latin typeface="Arial" charset="0"/>
                <a:cs typeface="Arial" charset="0"/>
              </a:rPr>
              <a:t>Streun</a:t>
            </a:r>
            <a:r>
              <a:rPr lang="en-US" dirty="0">
                <a:latin typeface="Arial" charset="0"/>
                <a:cs typeface="Arial" charset="0"/>
              </a:rPr>
              <a:t>:</a:t>
            </a:r>
          </a:p>
          <a:p>
            <a:pPr>
              <a:defRPr/>
            </a:pPr>
            <a:r>
              <a:rPr lang="en-US" i="1" dirty="0" smtClean="0">
                <a:latin typeface="Arial" charset="0"/>
                <a:cs typeface="Arial" charset="0"/>
              </a:rPr>
              <a:t>Phys</a:t>
            </a:r>
            <a:r>
              <a:rPr lang="en-US" i="1" dirty="0">
                <a:latin typeface="Arial" charset="0"/>
                <a:cs typeface="Arial" charset="0"/>
              </a:rPr>
              <a:t>. Rev. AB 22, 021601 (2019)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692000" y="1813688"/>
                <a:ext cx="3512628" cy="1275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m:rPr>
                            <m:nor/>
                          </m:rPr>
                          <a:rPr lang="en-US" sz="2400" dirty="0"/>
                          <m:t>²</m:t>
                        </m:r>
                      </m:den>
                    </m:f>
                  </m:oMath>
                </a14:m>
                <a:r>
                  <a:rPr lang="en-US" sz="2400" dirty="0" smtClean="0"/>
                  <a:t>*</a:t>
                </a:r>
                <a:r>
                  <a:rPr lang="de-DE" sz="2400" dirty="0" smtClean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 smtClean="0"/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de-DE" sz="2400" baseline="-2500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de-DE" sz="2400" baseline="-25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³</m:t>
                    </m:r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∗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Ĥ</m:t>
                    </m:r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 smtClean="0"/>
                  <a:t> </a:t>
                </a:r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 - dipole angle, L – dipole length</a:t>
                </a:r>
              </a:p>
              <a:p>
                <a:r>
                  <a:rPr lang="en-US" sz="2400" dirty="0" smtClean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000" y="1813688"/>
                <a:ext cx="3512628" cy="1275157"/>
              </a:xfrm>
              <a:prstGeom prst="rect">
                <a:avLst/>
              </a:prstGeom>
              <a:blipFill>
                <a:blip r:embed="rId2"/>
                <a:stretch>
                  <a:fillRect l="-694" t="-1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98983" y="4956057"/>
                <a:ext cx="4848571" cy="677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Ĥ</m:t>
                    </m:r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de-DE" sz="24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</m:t>
                                    </m:r>
                                    <m:r>
                                      <a:rPr lang="de-DE" sz="2400" b="0" i="1" baseline="-25000" smtClean="0"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</m:t>
                                </m:r>
                                <m:r>
                                  <a:rPr lang="de-DE" sz="2400" b="0" i="1" baseline="-25000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0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f>
                      <m:f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de-DE" sz="24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983" y="4956057"/>
                <a:ext cx="4848571" cy="677943"/>
              </a:xfrm>
              <a:prstGeom prst="rect">
                <a:avLst/>
              </a:prstGeom>
              <a:blipFill>
                <a:blip r:embed="rId3"/>
                <a:stretch>
                  <a:fillRect b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97639" y="2920765"/>
                <a:ext cx="75993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 a </a:t>
                </a:r>
                <a:r>
                  <a:rPr lang="en-US" b="1" dirty="0" smtClean="0">
                    <a:solidFill>
                      <a:srgbClr val="00589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homo. bend with </a:t>
                </a:r>
                <a14:m>
                  <m:oMath xmlns:m="http://schemas.openxmlformats.org/officeDocument/2006/math">
                    <m:r>
                      <a:rPr lang="de-DE" b="1" i="0" smtClean="0">
                        <a:solidFill>
                          <a:srgbClr val="00589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solidFill>
                          <a:srgbClr val="00589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1" i="1">
                        <a:solidFill>
                          <a:srgbClr val="00589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 smtClean="0">
                    <a:solidFill>
                      <a:srgbClr val="00589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&lt;&lt;1</a:t>
                </a: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propagates approx. like in a drift space, and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39" y="2920765"/>
                <a:ext cx="7599361" cy="369332"/>
              </a:xfrm>
              <a:prstGeom prst="rect">
                <a:avLst/>
              </a:prstGeom>
              <a:blipFill>
                <a:blip r:embed="rId4"/>
                <a:stretch>
                  <a:fillRect l="-722" t="-9836" r="-161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131840" y="3323771"/>
                <a:ext cx="2347309" cy="600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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𝑠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=</m:t>
                      </m:r>
                      <m:r>
                        <a:rPr lang="de-DE" b="0" i="1" baseline="-2500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+</m:t>
                      </m:r>
                      <m:nary>
                        <m:naryPr>
                          <m:ctrlP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0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𝑠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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′</m:t>
                          </m:r>
                        </m:e>
                      </m:nary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𝖘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𝑑</m:t>
                      </m:r>
                      <m:r>
                        <a:rPr lang="de-DE" i="1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3323771"/>
                <a:ext cx="2347309" cy="6002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77000" y="4189476"/>
                <a:ext cx="8667000" cy="593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Ĥ</m:t>
                    </m:r>
                    <m:r>
                      <a:rPr lang="de-DE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 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for a bend with </a:t>
                </a:r>
                <a:r>
                  <a:rPr lang="el-GR" b="1" dirty="0" smtClean="0">
                    <a:solidFill>
                      <a:srgbClr val="00589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α</a:t>
                </a:r>
                <a:r>
                  <a:rPr lang="en-US" b="1" baseline="-25000" dirty="0" smtClean="0">
                    <a:solidFill>
                      <a:srgbClr val="00589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de-DE" b="1" dirty="0" smtClean="0">
                    <a:solidFill>
                      <a:srgbClr val="00589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l-GR" b="1" dirty="0">
                    <a:solidFill>
                      <a:srgbClr val="00589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η</a:t>
                </a:r>
                <a:r>
                  <a:rPr lang="de-DE" b="1" dirty="0" smtClean="0">
                    <a:solidFill>
                      <a:srgbClr val="00589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‘= 0 at </a:t>
                </a:r>
                <a:r>
                  <a:rPr lang="en-US" b="1" dirty="0" smtClean="0">
                    <a:solidFill>
                      <a:srgbClr val="00589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beginning </a:t>
                </a: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(MBA half-bend): </a:t>
                </a:r>
              </a:p>
              <a:p>
                <a:r>
                  <a:rPr lang="en-US" sz="1400" dirty="0" err="1" smtClean="0"/>
                  <a:t>A.Streun</a:t>
                </a:r>
                <a:r>
                  <a:rPr lang="en-US" sz="1400" dirty="0" smtClean="0"/>
                  <a:t>, </a:t>
                </a:r>
                <a:r>
                  <a:rPr lang="en-US" sz="1400" dirty="0" err="1" smtClean="0"/>
                  <a:t>A.Wrulich</a:t>
                </a:r>
                <a:r>
                  <a:rPr lang="en-US" sz="1400" dirty="0" smtClean="0"/>
                  <a:t>: “Compact low emittance light sources based on longitudinal gradient bending magnets” </a:t>
                </a:r>
                <a:endParaRPr lang="en-US" sz="1400" b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00" y="4189476"/>
                <a:ext cx="8667000" cy="593496"/>
              </a:xfrm>
              <a:prstGeom prst="rect">
                <a:avLst/>
              </a:prstGeom>
              <a:blipFill>
                <a:blip r:embed="rId6"/>
                <a:stretch>
                  <a:fillRect l="-563" t="-4082" r="-492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838089" y="5782944"/>
                <a:ext cx="53477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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0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taken at the beginning of the dipole 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89" y="5782944"/>
                <a:ext cx="5347746" cy="369332"/>
              </a:xfrm>
              <a:prstGeom prst="rect">
                <a:avLst/>
              </a:prstGeom>
              <a:blipFill>
                <a:blip r:embed="rId7"/>
                <a:stretch>
                  <a:fillRect l="-1026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796456" y="1764000"/>
                <a:ext cx="211583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𝑐𝑢𝑏𝑖𝑐</m:t>
                      </m:r>
                      <m:r>
                        <a:rPr lang="de-DE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de-DE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𝑑𝑒𝑝𝑒𝑛𝑑𝑒𝑛𝑐𝑒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</m:oMath>
                  </m:oMathPara>
                </a14:m>
                <a:endParaRPr lang="de-DE" b="0" i="1" dirty="0" smtClean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𝑜𝑛</m:t>
                      </m:r>
                      <m:r>
                        <a:rPr lang="de-DE" i="1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𝑏𝑒𝑛𝑑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𝑎𝑛𝑔𝑙𝑒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456" y="1764000"/>
                <a:ext cx="2115836" cy="646331"/>
              </a:xfrm>
              <a:prstGeom prst="rect">
                <a:avLst/>
              </a:prstGeom>
              <a:blipFill>
                <a:blip r:embed="rId8"/>
                <a:stretch>
                  <a:fillRect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107000" y="6311061"/>
                <a:ext cx="6751207" cy="362984"/>
              </a:xfrm>
              <a:prstGeom prst="rect">
                <a:avLst/>
              </a:prstGeom>
              <a:noFill/>
              <a:ln>
                <a:solidFill>
                  <a:srgbClr val="00589C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𝐹𝑜𝑟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𝑠𝑢𝑐h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𝑏𝑒𝑛𝑑𝑠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𝑒𝑚𝑖𝑡𝑡𝑎𝑛𝑐𝑒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𝑖𝑠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𝑑𝑒𝑡𝑒𝑟𝑚𝑖𝑛𝑒𝑑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𝑒𝑥𝑝𝑖𝑐𝑖𝑡𝑙𝑦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𝑏𝑦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</m:t>
                      </m:r>
                      <m:r>
                        <a:rPr lang="en-US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</m:oMath>
                  </m:oMathPara>
                </a14:m>
                <a:endParaRPr lang="en-US" i="1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000" y="6311061"/>
                <a:ext cx="6751207" cy="362984"/>
              </a:xfrm>
              <a:prstGeom prst="rect">
                <a:avLst/>
              </a:prstGeom>
              <a:blipFill>
                <a:blip r:embed="rId9"/>
                <a:stretch>
                  <a:fillRect b="-14516"/>
                </a:stretch>
              </a:blipFill>
              <a:ln>
                <a:solidFill>
                  <a:srgbClr val="00589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185835" y="509829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/>
              <a:t>Eq</a:t>
            </a:r>
            <a:r>
              <a:rPr lang="de-DE" dirty="0" smtClean="0"/>
              <a:t>. (14)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89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Emittance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MBA </a:t>
            </a:r>
            <a:r>
              <a:rPr lang="de-DE" dirty="0" err="1" smtClean="0"/>
              <a:t>cell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single</a:t>
            </a:r>
            <a:r>
              <a:rPr lang="de-DE" dirty="0" smtClean="0"/>
              <a:t> </a:t>
            </a:r>
            <a:r>
              <a:rPr lang="de-DE" dirty="0" err="1" smtClean="0"/>
              <a:t>Bend</a:t>
            </a:r>
            <a:r>
              <a:rPr lang="de-DE" dirty="0" smtClean="0"/>
              <a:t> 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reverse</a:t>
            </a:r>
            <a:r>
              <a:rPr lang="de-DE" dirty="0" smtClean="0"/>
              <a:t> </a:t>
            </a:r>
            <a:r>
              <a:rPr lang="de-DE" dirty="0" err="1" smtClean="0"/>
              <a:t>Bend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8</a:t>
            </a:fld>
            <a:endParaRPr lang="de-DE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67544" y="1565948"/>
                <a:ext cx="8208912" cy="378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Minimization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Ĥ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</m:oMath>
                </a14:m>
                <a:r>
                  <a:rPr lang="en-US" dirty="0" smtClean="0"/>
                  <a:t> yields theoretical minimal emittance (TME) values</a:t>
                </a:r>
                <a:r>
                  <a:rPr lang="de-DE" dirty="0" smtClean="0"/>
                  <a:t>:</a:t>
                </a:r>
                <a:r>
                  <a:rPr lang="de-DE" b="1" dirty="0" smtClean="0"/>
                  <a:t>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565948"/>
                <a:ext cx="8208912" cy="378052"/>
              </a:xfrm>
              <a:prstGeom prst="rect">
                <a:avLst/>
              </a:prstGeom>
              <a:blipFill>
                <a:blip r:embed="rId2"/>
                <a:stretch>
                  <a:fillRect l="-669" t="-6452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15342" y="2378675"/>
                <a:ext cx="1248025" cy="595410"/>
              </a:xfrm>
              <a:prstGeom prst="rect">
                <a:avLst/>
              </a:prstGeom>
              <a:noFill/>
              <a:ln>
                <a:solidFill>
                  <a:srgbClr val="00589C"/>
                </a:solidFill>
              </a:ln>
            </p:spPr>
            <p:txBody>
              <a:bodyPr wrap="none" lIns="36000" tIns="36000" rIns="36000" bIns="36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</m:t>
                      </m:r>
                      <m:r>
                        <a:rPr lang="de-DE" i="1" baseline="3000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  <m:r>
                        <m:rPr>
                          <m:nor/>
                        </m:rPr>
                        <a:rPr lang="en-US" baseline="-25000" dirty="0"/>
                        <m:t>TME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342" y="2378675"/>
                <a:ext cx="1248025" cy="5954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589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785410" y="2349000"/>
                <a:ext cx="1396078" cy="643116"/>
              </a:xfrm>
              <a:prstGeom prst="rect">
                <a:avLst/>
              </a:prstGeom>
              <a:noFill/>
              <a:ln>
                <a:solidFill>
                  <a:srgbClr val="00589C"/>
                </a:solidFill>
              </a:ln>
            </p:spPr>
            <p:txBody>
              <a:bodyPr wrap="none" lIns="36000" tIns="36000" rIns="36000" bIns="36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de-DE" i="1" baseline="3000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  <m:r>
                        <m:rPr>
                          <m:nor/>
                        </m:rPr>
                        <a:rPr lang="en-US" baseline="-25000" dirty="0"/>
                        <m:t>TME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410" y="2349000"/>
                <a:ext cx="1396078" cy="6431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89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95420" y="2366447"/>
                <a:ext cx="1817668" cy="650554"/>
              </a:xfrm>
              <a:prstGeom prst="rect">
                <a:avLst/>
              </a:prstGeom>
              <a:noFill/>
              <a:ln>
                <a:solidFill>
                  <a:srgbClr val="00589C"/>
                </a:solidFill>
              </a:ln>
            </p:spPr>
            <p:txBody>
              <a:bodyPr wrap="none" lIns="36000" tIns="36000" rIns="36000" bIns="36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𝐼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5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𝐼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en-US" baseline="-25000" dirty="0"/>
                        <m:t>TME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³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420" y="2366447"/>
                <a:ext cx="1817668" cy="650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589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67544" y="3654000"/>
            <a:ext cx="5609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589C"/>
                </a:solidFill>
              </a:rPr>
              <a:t>MBA-cell with homogeneous bend and reverse bend:</a:t>
            </a:r>
            <a:endParaRPr lang="en-US" dirty="0">
              <a:solidFill>
                <a:srgbClr val="00589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322000" y="4396125"/>
                <a:ext cx="1846980" cy="7899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∝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𝐼</m:t>
                          </m:r>
                          <m:r>
                            <a:rPr lang="de-DE" sz="2400" i="1" baseline="3000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0</m:t>
                          </m:r>
                          <m:r>
                            <a:rPr lang="de-DE" sz="2400" i="1" baseline="-2500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5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𝐼</m:t>
                          </m:r>
                          <m:r>
                            <a:rPr lang="de-DE" sz="2400" b="0" i="1" baseline="3000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</m:t>
                          </m:r>
                          <m:r>
                            <a:rPr lang="de-DE" sz="2400" i="1" baseline="-2500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5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𝐼</m:t>
                          </m:r>
                          <m:r>
                            <a:rPr lang="de-DE" sz="2400" i="1" baseline="3000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0</m:t>
                          </m:r>
                          <m:r>
                            <a:rPr lang="de-DE" sz="2400" i="1" baseline="-2500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𝐼</m:t>
                          </m:r>
                          <m:r>
                            <a:rPr lang="de-DE" sz="2400" i="1" baseline="3000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</m:t>
                          </m:r>
                          <m:r>
                            <a:rPr lang="de-DE" sz="2400" b="0" i="1" baseline="-2500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000" y="4396125"/>
                <a:ext cx="1846980" cy="789960"/>
              </a:xfrm>
              <a:prstGeom prst="rect">
                <a:avLst/>
              </a:prstGeom>
              <a:blipFill>
                <a:blip r:embed="rId6"/>
                <a:stretch>
                  <a:fillRect b="-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39552" y="5589000"/>
                <a:ext cx="8208912" cy="655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If reverse bend has symmetry point at the end =&gt; same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Ĥ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</m:oMath>
                </a14:m>
                <a:r>
                  <a:rPr lang="en-US" dirty="0" smtClean="0"/>
                  <a:t> formula holds!</a:t>
                </a:r>
              </a:p>
              <a:p>
                <a:r>
                  <a:rPr lang="en-US" dirty="0" smtClean="0"/>
                  <a:t>For small deviations – still good approximation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5589000"/>
                <a:ext cx="8208912" cy="655051"/>
              </a:xfrm>
              <a:prstGeom prst="rect">
                <a:avLst/>
              </a:prstGeom>
              <a:blipFill>
                <a:blip r:embed="rId7"/>
                <a:stretch>
                  <a:fillRect l="-669" t="-3738" b="-14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4584350" y="4492669"/>
            <a:ext cx="21625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Index 0 – main bend </a:t>
            </a:r>
          </a:p>
          <a:p>
            <a:r>
              <a:rPr 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Index 1 – reverse bend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7000" y="954000"/>
            <a:ext cx="4673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589C"/>
                </a:solidFill>
              </a:rPr>
              <a:t>MBA-cell with a single homogeneous bend:</a:t>
            </a:r>
            <a:endParaRPr lang="en-US" dirty="0">
              <a:solidFill>
                <a:srgbClr val="00589C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85043" y="3114000"/>
            <a:ext cx="46996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 - </a:t>
            </a:r>
            <a:r>
              <a:rPr lang="en-US" sz="14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dipole 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angle, L – dipole </a:t>
            </a:r>
            <a:r>
              <a:rPr lang="en-US" sz="14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length, </a:t>
            </a:r>
            <a:r>
              <a:rPr lang="en-US" sz="1400" dirty="0" err="1" smtClean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Streun</a:t>
            </a:r>
            <a:r>
              <a:rPr lang="en-US" sz="14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, Riemann eq. (15)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35909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Emittance in a Cell with homo. Bend and homo. Reverse bend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9</a:t>
            </a:fld>
            <a:endParaRPr lang="de-DE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36952" y="809694"/>
            <a:ext cx="5609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589C"/>
                </a:solidFill>
              </a:rPr>
              <a:t>MBA-cell with homogeneous bend and reverse bend:</a:t>
            </a:r>
            <a:endParaRPr lang="en-US" dirty="0">
              <a:solidFill>
                <a:srgbClr val="00589C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87000" y="2169225"/>
            <a:ext cx="21625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Index 0 – main bend </a:t>
            </a:r>
          </a:p>
          <a:p>
            <a:r>
              <a:rPr 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Index 1 – reverse bend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22000" y="1979843"/>
                <a:ext cx="3974742" cy="859594"/>
              </a:xfrm>
              <a:prstGeom prst="rect">
                <a:avLst/>
              </a:prstGeom>
              <a:ln>
                <a:solidFill>
                  <a:srgbClr val="00589C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589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∝</m:t>
                      </m:r>
                      <m:r>
                        <a:rPr lang="de-DE" sz="2400" i="1" baseline="-25000">
                          <a:solidFill>
                            <a:srgbClr val="00589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  <m:r>
                        <a:rPr lang="de-DE" sz="2400" i="1" baseline="30000">
                          <a:solidFill>
                            <a:srgbClr val="00589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3</m:t>
                      </m:r>
                      <m:r>
                        <a:rPr lang="de-DE" sz="2400" b="0" i="1" smtClean="0">
                          <a:solidFill>
                            <a:srgbClr val="00589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∗</m:t>
                      </m:r>
                      <m:f>
                        <m:fPr>
                          <m:ctrlPr>
                            <a:rPr lang="de-DE" sz="2400" b="0" i="1" smtClean="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de-DE" sz="2400" i="1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</m:t>
                          </m:r>
                          <m:r>
                            <a:rPr lang="de-DE" sz="2400" i="1" smtClean="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Ĥ</m:t>
                          </m:r>
                          <m:r>
                            <a:rPr lang="de-DE" sz="2400" i="1" baseline="-2500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0</m:t>
                          </m:r>
                          <m:r>
                            <a:rPr lang="de-DE" sz="2400" i="1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</m:t>
                          </m:r>
                          <m:r>
                            <a:rPr lang="de-DE" sz="2400" b="0" i="1" smtClean="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de-DE" sz="2400" b="0" i="1" smtClean="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𝐿</m:t>
                          </m:r>
                          <m:r>
                            <a:rPr lang="de-DE" sz="2400" b="0" i="1" baseline="-25000" smtClean="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01</m:t>
                          </m:r>
                          <m:r>
                            <a:rPr lang="de-DE" sz="2400" b="0" i="1" smtClean="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|</m:t>
                          </m:r>
                          <m:r>
                            <a:rPr lang="en-US" sz="2400" i="1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</m:t>
                          </m:r>
                          <m:r>
                            <a:rPr lang="de-DE" sz="2400" i="1" baseline="-2500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</m:t>
                          </m:r>
                          <m:r>
                            <a:rPr lang="de-DE" sz="2400" b="0" i="1" baseline="-25000" smtClean="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0</m:t>
                          </m:r>
                          <m:r>
                            <a:rPr lang="de-DE" sz="2400" b="0" i="1" smtClean="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|</m:t>
                          </m:r>
                          <m:r>
                            <a:rPr lang="de-DE" sz="2400" b="0" i="1" baseline="30000" smtClean="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5</m:t>
                          </m:r>
                          <m:r>
                            <a:rPr lang="de-DE" sz="2400" i="1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</m:t>
                          </m:r>
                          <m:r>
                            <a:rPr lang="de-DE" sz="2400" i="1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Ĥ</m:t>
                          </m:r>
                          <m:r>
                            <a:rPr lang="de-DE" sz="2400" i="1" baseline="-2500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</m:t>
                          </m:r>
                          <m:r>
                            <a:rPr lang="de-DE" sz="2400" i="1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</m:t>
                          </m:r>
                        </m:num>
                        <m:den>
                          <m:r>
                            <a:rPr lang="de-DE" sz="2400" b="0" i="1" smtClean="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1+</m:t>
                          </m:r>
                          <m:r>
                            <a:rPr lang="de-DE" sz="2400" b="0" i="1" smtClean="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𝐿</m:t>
                          </m:r>
                          <m:r>
                            <a:rPr lang="de-DE" sz="2400" i="1" baseline="-2500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01</m:t>
                          </m:r>
                          <m:r>
                            <a:rPr lang="en-US" sz="2400" i="1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</m:t>
                          </m:r>
                          <m:r>
                            <a:rPr lang="de-DE" sz="2400" i="1" baseline="-2500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</m:t>
                          </m:r>
                          <m:r>
                            <a:rPr lang="de-DE" sz="2400" b="0" i="1" baseline="-25000" smtClean="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0</m:t>
                          </m:r>
                          <m:r>
                            <a:rPr lang="de-DE" sz="2400" b="0" i="1" smtClean="0">
                              <a:solidFill>
                                <a:srgbClr val="00589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0" y="1979843"/>
                <a:ext cx="3974742" cy="859594"/>
              </a:xfrm>
              <a:prstGeom prst="rect">
                <a:avLst/>
              </a:prstGeom>
              <a:blipFill>
                <a:blip r:embed="rId2"/>
                <a:stretch>
                  <a:fillRect b="-699"/>
                </a:stretch>
              </a:blipFill>
              <a:ln>
                <a:solidFill>
                  <a:srgbClr val="00589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84569" y="3948284"/>
                <a:ext cx="7264233" cy="2165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 summand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slightly smaller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Ĥ</m:t>
                    </m:r>
                    <m:r>
                      <a:rPr lang="en-US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  <m:r>
                      <a:rPr lang="de-DE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−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we</m:t>
                    </m:r>
                    <m:r>
                      <a:rPr lang="de-DE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gain</m:t>
                    </m:r>
                    <m:r>
                      <a:rPr lang="de-DE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over</m:t>
                    </m:r>
                    <m:r>
                      <a:rPr lang="de-DE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TME</m:t>
                    </m:r>
                  </m:oMath>
                </a14:m>
                <a:endParaRPr lang="de-DE" b="0" dirty="0" smtClean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 summand: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Ĥ</m:t>
                    </m:r>
                    <m:r>
                      <a:rPr lang="en-US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&gt;&gt;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Ĥ</m:t>
                    </m:r>
                    <m:r>
                      <a:rPr lang="en-US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de-DE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but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  <m:r>
                      <a:rPr lang="de-DE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10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|</m:t>
                    </m:r>
                    <m:r>
                      <a:rPr lang="de-DE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5</m:t>
                    </m:r>
                    <m:r>
                      <a:rPr lang="de-DE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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Ĥ</m:t>
                    </m:r>
                    <m:r>
                      <a:rPr lang="de-DE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de-DE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</m:oMath>
                </a14:m>
                <a:r>
                  <a:rPr lang="de-DE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&lt;&lt;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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Ĥ</m:t>
                    </m:r>
                    <m:r>
                      <a:rPr lang="de-DE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0</m:t>
                    </m:r>
                    <m:r>
                      <a:rPr lang="de-DE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</m:oMath>
                </a14:m>
                <a:r>
                  <a:rPr lang="de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de-DE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endParaRPr lang="de-DE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spcBef>
                    <a:spcPts val="600"/>
                  </a:spcBef>
                  <a:buFont typeface="Symbol" panose="05050102010706020507" pitchFamily="18" charset="2"/>
                  <a:buChar char="Þ"/>
                </a:pP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Emittance of MBA cell with reverse bend is determined by main bend</a:t>
                </a:r>
              </a:p>
              <a:p>
                <a:pPr marL="285750" indent="-285750">
                  <a:spcBef>
                    <a:spcPts val="600"/>
                  </a:spcBef>
                  <a:buFont typeface="Symbol" panose="05050102010706020507" pitchFamily="18" charset="2"/>
                  <a:buChar char="Þ"/>
                </a:pP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Contribution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589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</m:t>
                    </m:r>
                    <m:r>
                      <a:rPr lang="en-US" i="1">
                        <a:solidFill>
                          <a:srgbClr val="00589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Ĥ</m:t>
                    </m:r>
                    <m:r>
                      <a:rPr lang="en-US" i="1" baseline="-25000">
                        <a:solidFill>
                          <a:srgbClr val="00589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en-US" i="1">
                        <a:solidFill>
                          <a:srgbClr val="00589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 very small </a:t>
                </a:r>
              </a:p>
              <a:p>
                <a:pPr marL="285750" indent="-285750">
                  <a:spcBef>
                    <a:spcPts val="600"/>
                  </a:spcBef>
                  <a:buFont typeface="Symbol" panose="05050102010706020507" pitchFamily="18" charset="2"/>
                  <a:buChar char="Þ"/>
                </a:pP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Best initial conditions are TME values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69" y="3948284"/>
                <a:ext cx="7264233" cy="2165208"/>
              </a:xfrm>
              <a:prstGeom prst="rect">
                <a:avLst/>
              </a:prstGeom>
              <a:blipFill>
                <a:blip r:embed="rId3"/>
                <a:stretch>
                  <a:fillRect l="-671" t="-1408" b="-3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52000" y="1134000"/>
            <a:ext cx="3006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(B. Riemann und A. Streun)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77876" y="3024000"/>
                <a:ext cx="4299124" cy="4996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  <m:r>
                      <a:rPr lang="de-DE" sz="20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10</m:t>
                    </m:r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de-DE" sz="2000" i="1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de-DE" sz="2000" i="1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den>
                    </m:f>
                    <m:r>
                      <a:rPr lang="de-DE" sz="2000" b="0" i="1" baseline="-2500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</m:t>
                    </m:r>
                    <m:r>
                      <a:rPr lang="de-DE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</m:t>
                    </m:r>
                    <m:r>
                      <a:rPr lang="de-DE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0.1          </m:t>
                    </m:r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de-DE" sz="20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0</m:t>
                    </m:r>
                    <m:r>
                      <a:rPr lang="de-DE" sz="20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de-DE" sz="20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num>
                      <m:den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𝐿</m:t>
                        </m:r>
                        <m:r>
                          <a:rPr lang="de-DE" sz="20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den>
                    </m:f>
                    <m:r>
                      <a:rPr lang="de-DE" sz="20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de-D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</m:t>
                    </m:r>
                  </m:oMath>
                </a14:m>
                <a:r>
                  <a:rPr 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5.</a:t>
                </a:r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76" y="3024000"/>
                <a:ext cx="4299124" cy="499624"/>
              </a:xfrm>
              <a:prstGeom prst="rect">
                <a:avLst/>
              </a:prstGeom>
              <a:blipFill>
                <a:blip r:embed="rId5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452000" y="2169000"/>
                <a:ext cx="133722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600" dirty="0" smtClean="0"/>
                  <a:t>Eq. (43) </a:t>
                </a:r>
                <a:r>
                  <a:rPr lang="de-DE" sz="1600" dirty="0" err="1" smtClean="0"/>
                  <a:t>with</a:t>
                </a:r>
                <a:endParaRPr lang="de-DE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solidFill>
                            <a:srgbClr val="00589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</m:t>
                      </m:r>
                      <m:r>
                        <m:rPr>
                          <m:sty m:val="p"/>
                        </m:rPr>
                        <a:rPr lang="de-DE" sz="1600" b="0" i="0" smtClean="0">
                          <a:solidFill>
                            <a:srgbClr val="00589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b</m:t>
                      </m:r>
                      <m:r>
                        <a:rPr lang="de-DE" sz="1600" b="0" i="0" smtClean="0">
                          <a:solidFill>
                            <a:srgbClr val="00589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^</m:t>
                      </m:r>
                      <m:r>
                        <a:rPr lang="de-DE" sz="1600" i="1">
                          <a:solidFill>
                            <a:srgbClr val="00589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</m:t>
                      </m:r>
                      <m:r>
                        <a:rPr lang="de-DE" sz="1600" b="0" i="0" smtClean="0">
                          <a:solidFill>
                            <a:srgbClr val="00589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000" y="2169000"/>
                <a:ext cx="1337226" cy="584775"/>
              </a:xfrm>
              <a:prstGeom prst="rect">
                <a:avLst/>
              </a:prstGeom>
              <a:blipFill>
                <a:blip r:embed="rId6"/>
                <a:stretch>
                  <a:fillRect l="-2273" t="-3125" r="-455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394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97000" y="4111672"/>
            <a:ext cx="5479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Choices for 3</a:t>
            </a:r>
            <a:r>
              <a:rPr lang="en-US" baseline="30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rd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 ‚knob‘: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drift spaces set to be as short as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ymbol" panose="05050102010706020507" pitchFamily="18" charset="2"/>
                <a:cs typeface="Arial" charset="0"/>
              </a:rPr>
              <a:t>b</a:t>
            </a:r>
            <a:r>
              <a:rPr lang="en-US" baseline="-25000" dirty="0">
                <a:latin typeface="Arial" charset="0"/>
                <a:cs typeface="Arial" charset="0"/>
              </a:rPr>
              <a:t>x</a:t>
            </a:r>
            <a:r>
              <a:rPr lang="en-US" baseline="30000" dirty="0">
                <a:latin typeface="Arial" charset="0"/>
                <a:cs typeface="Arial" charset="0"/>
              </a:rPr>
              <a:t>0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Arial" charset="0"/>
              </a:rPr>
              <a:t>or</a:t>
            </a:r>
            <a:r>
              <a:rPr lang="en-US" dirty="0">
                <a:latin typeface="Arial" charset="0"/>
                <a:cs typeface="Arial" charset="0"/>
              </a:rPr>
              <a:t>  </a:t>
            </a:r>
            <a:r>
              <a:rPr lang="en-US" dirty="0">
                <a:latin typeface="Symbol" panose="05050102010706020507" pitchFamily="18" charset="2"/>
                <a:cs typeface="Arial" charset="0"/>
              </a:rPr>
              <a:t>h</a:t>
            </a:r>
            <a:r>
              <a:rPr lang="en-US" baseline="30000" dirty="0">
                <a:latin typeface="Arial" charset="0"/>
                <a:cs typeface="Arial" charset="0"/>
              </a:rPr>
              <a:t>0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set to seek TME values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Symbol" panose="05050102010706020507" pitchFamily="18" charset="2"/>
                <a:cs typeface="Arial" charset="0"/>
              </a:rPr>
              <a:t>b</a:t>
            </a:r>
            <a:r>
              <a:rPr lang="en-US" baseline="-25000" dirty="0" smtClean="0">
                <a:latin typeface="Arial" charset="0"/>
                <a:cs typeface="Arial" charset="0"/>
              </a:rPr>
              <a:t>y</a:t>
            </a:r>
            <a:r>
              <a:rPr lang="en-US" baseline="30000" dirty="0" smtClean="0">
                <a:latin typeface="Arial" charset="0"/>
                <a:cs typeface="Arial" charset="0"/>
              </a:rPr>
              <a:t>0 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inefficient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=&gt; </a:t>
            </a:r>
            <a:r>
              <a:rPr lang="en-US" dirty="0">
                <a:solidFill>
                  <a:srgbClr val="00589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Use reverse bend angle, </a:t>
            </a:r>
            <a:r>
              <a:rPr lang="en-US" dirty="0">
                <a:solidFill>
                  <a:srgbClr val="00589C"/>
                </a:solidFill>
                <a:latin typeface="Arial" charset="0"/>
                <a:cs typeface="Arial" charset="0"/>
                <a:sym typeface="Symbol" panose="05050102010706020507" pitchFamily="18" charset="2"/>
              </a:rPr>
              <a:t></a:t>
            </a:r>
            <a:r>
              <a:rPr lang="en-US" baseline="-25000" dirty="0">
                <a:solidFill>
                  <a:srgbClr val="00589C"/>
                </a:solidFill>
                <a:latin typeface="Arial" charset="0"/>
                <a:cs typeface="Arial" charset="0"/>
              </a:rPr>
              <a:t>1</a:t>
            </a:r>
            <a:r>
              <a:rPr lang="en-US" dirty="0">
                <a:solidFill>
                  <a:srgbClr val="00589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1152000" y="1596889"/>
            <a:ext cx="4151363" cy="2258333"/>
            <a:chOff x="996950" y="1700213"/>
            <a:chExt cx="4151363" cy="2258333"/>
          </a:xfrm>
        </p:grpSpPr>
        <p:sp>
          <p:nvSpPr>
            <p:cNvPr id="39" name="Rechteck 16"/>
            <p:cNvSpPr/>
            <p:nvPr/>
          </p:nvSpPr>
          <p:spPr>
            <a:xfrm>
              <a:off x="3311525" y="1700213"/>
              <a:ext cx="396875" cy="14414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feld 3"/>
            <p:cNvSpPr txBox="1"/>
            <p:nvPr/>
          </p:nvSpPr>
          <p:spPr bwMode="auto">
            <a:xfrm>
              <a:off x="996950" y="2060213"/>
              <a:ext cx="2016065" cy="830997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Fix </a:t>
              </a:r>
              <a:r>
                <a:rPr lang="en-US" sz="1600" dirty="0" smtClean="0">
                  <a:latin typeface="Arial" charset="0"/>
                  <a:cs typeface="Arial" charset="0"/>
                </a:rPr>
                <a:t>dipole geometry:</a:t>
              </a:r>
            </a:p>
            <a:p>
              <a:pPr>
                <a:defRPr/>
              </a:pPr>
              <a:r>
                <a:rPr lang="en-US" sz="1600" dirty="0" smtClean="0">
                  <a:solidFill>
                    <a:srgbClr val="0070C0"/>
                  </a:solidFill>
                  <a:latin typeface="Arial" charset="0"/>
                  <a:cs typeface="Arial" charset="0"/>
                </a:rPr>
                <a:t>L</a:t>
              </a:r>
              <a:r>
                <a:rPr lang="en-US" sz="1600" baseline="-25000" dirty="0" smtClean="0">
                  <a:solidFill>
                    <a:srgbClr val="0070C0"/>
                  </a:solidFill>
                  <a:latin typeface="Arial" charset="0"/>
                  <a:cs typeface="Arial" charset="0"/>
                </a:rPr>
                <a:t>0</a:t>
              </a:r>
              <a:r>
                <a:rPr lang="en-US" sz="1600" dirty="0">
                  <a:solidFill>
                    <a:srgbClr val="0070C0"/>
                  </a:solidFill>
                  <a:latin typeface="Arial" charset="0"/>
                  <a:cs typeface="Arial" charset="0"/>
                </a:rPr>
                <a:t>, </a:t>
              </a:r>
              <a:r>
                <a:rPr lang="en-US" sz="1600" dirty="0" smtClean="0">
                  <a:solidFill>
                    <a:srgbClr val="0070C0"/>
                  </a:solidFill>
                  <a:latin typeface="Arial" charset="0"/>
                  <a:cs typeface="Arial" charset="0"/>
                  <a:sym typeface="Symbol" panose="05050102010706020507" pitchFamily="18" charset="2"/>
                </a:rPr>
                <a:t></a:t>
              </a:r>
              <a:r>
                <a:rPr lang="en-US" sz="1600" baseline="-25000" dirty="0" smtClean="0">
                  <a:solidFill>
                    <a:srgbClr val="0070C0"/>
                  </a:solidFill>
                  <a:latin typeface="Arial" charset="0"/>
                  <a:cs typeface="Arial" charset="0"/>
                </a:rPr>
                <a:t>0 </a:t>
              </a:r>
              <a:r>
                <a:rPr lang="en-US" sz="1600" dirty="0" smtClean="0">
                  <a:solidFill>
                    <a:srgbClr val="0070C0"/>
                  </a:solidFill>
                  <a:latin typeface="Arial" charset="0"/>
                  <a:cs typeface="Arial" charset="0"/>
                </a:rPr>
                <a:t>of half bend</a:t>
              </a:r>
            </a:p>
            <a:p>
              <a:pPr>
                <a:defRPr/>
              </a:pPr>
              <a:r>
                <a:rPr lang="en-US" sz="1600" dirty="0" smtClean="0">
                  <a:solidFill>
                    <a:srgbClr val="0070C0"/>
                  </a:solidFill>
                  <a:latin typeface="Arial" charset="0"/>
                  <a:cs typeface="Arial" charset="0"/>
                </a:rPr>
                <a:t>L</a:t>
              </a:r>
              <a:r>
                <a:rPr lang="en-US" sz="1600" baseline="-25000" dirty="0" smtClean="0">
                  <a:solidFill>
                    <a:srgbClr val="0070C0"/>
                  </a:solidFill>
                  <a:latin typeface="Arial" charset="0"/>
                  <a:cs typeface="Arial" charset="0"/>
                </a:rPr>
                <a:t>1</a:t>
              </a:r>
              <a:r>
                <a:rPr lang="en-US" sz="1600" dirty="0" smtClean="0">
                  <a:solidFill>
                    <a:srgbClr val="0070C0"/>
                  </a:solidFill>
                  <a:latin typeface="Arial" charset="0"/>
                  <a:cs typeface="Arial" charset="0"/>
                </a:rPr>
                <a:t>, </a:t>
              </a:r>
              <a:r>
                <a:rPr lang="en-US" sz="1600" dirty="0" smtClean="0">
                  <a:solidFill>
                    <a:srgbClr val="0070C0"/>
                  </a:solidFill>
                  <a:latin typeface="Arial" charset="0"/>
                  <a:cs typeface="Arial" charset="0"/>
                  <a:sym typeface="Symbol" panose="05050102010706020507" pitchFamily="18" charset="2"/>
                </a:rPr>
                <a:t></a:t>
              </a:r>
              <a:r>
                <a:rPr lang="en-US" sz="1600" baseline="-25000" dirty="0" smtClean="0">
                  <a:solidFill>
                    <a:srgbClr val="0070C0"/>
                  </a:solidFill>
                  <a:latin typeface="Arial" charset="0"/>
                  <a:cs typeface="Arial" charset="0"/>
                </a:rPr>
                <a:t>1 </a:t>
              </a:r>
              <a:r>
                <a:rPr lang="en-US" sz="1600" dirty="0">
                  <a:solidFill>
                    <a:srgbClr val="0070C0"/>
                  </a:solidFill>
                  <a:latin typeface="Arial" charset="0"/>
                  <a:cs typeface="Arial" charset="0"/>
                </a:rPr>
                <a:t>of </a:t>
              </a:r>
              <a:r>
                <a:rPr lang="en-US" sz="1600" dirty="0" smtClean="0">
                  <a:solidFill>
                    <a:srgbClr val="0070C0"/>
                  </a:solidFill>
                  <a:latin typeface="Arial" charset="0"/>
                  <a:cs typeface="Arial" charset="0"/>
                </a:rPr>
                <a:t>rev. bend</a:t>
              </a:r>
              <a:endParaRPr lang="en-US" sz="1600" dirty="0">
                <a:solidFill>
                  <a:srgbClr val="0070C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3" name="Textfeld 40"/>
            <p:cNvSpPr txBox="1"/>
            <p:nvPr/>
          </p:nvSpPr>
          <p:spPr bwMode="auto">
            <a:xfrm>
              <a:off x="996950" y="3127549"/>
              <a:ext cx="1866000" cy="830997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1600" dirty="0" smtClean="0">
                  <a:latin typeface="Arial" charset="0"/>
                  <a:cs typeface="Arial" charset="0"/>
                </a:rPr>
                <a:t>Initial conditions:</a:t>
              </a:r>
            </a:p>
            <a:p>
              <a:pPr>
                <a:defRPr/>
              </a:pPr>
              <a:r>
                <a:rPr lang="en-US" sz="1600" dirty="0" smtClean="0">
                  <a:latin typeface="Arial" charset="0"/>
                  <a:cs typeface="Arial" charset="0"/>
                </a:rPr>
                <a:t>TME </a:t>
              </a:r>
              <a:r>
                <a:rPr lang="en-US" sz="1600" dirty="0">
                  <a:latin typeface="Symbol" panose="05050102010706020507" pitchFamily="18" charset="2"/>
                  <a:cs typeface="Arial" charset="0"/>
                </a:rPr>
                <a:t>b</a:t>
              </a:r>
              <a:r>
                <a:rPr lang="en-US" sz="1600" baseline="-25000" dirty="0">
                  <a:latin typeface="Arial" charset="0"/>
                  <a:cs typeface="Arial" charset="0"/>
                </a:rPr>
                <a:t>x</a:t>
              </a:r>
              <a:r>
                <a:rPr lang="en-US" sz="1600" baseline="30000" dirty="0">
                  <a:latin typeface="Arial" charset="0"/>
                  <a:cs typeface="Arial" charset="0"/>
                </a:rPr>
                <a:t>0</a:t>
              </a:r>
              <a:r>
                <a:rPr lang="en-US" sz="1600" dirty="0">
                  <a:latin typeface="Arial" charset="0"/>
                  <a:cs typeface="Arial" charset="0"/>
                </a:rPr>
                <a:t>, </a:t>
              </a:r>
              <a:r>
                <a:rPr lang="en-US" sz="1600" dirty="0" smtClean="0">
                  <a:latin typeface="Symbol" panose="05050102010706020507" pitchFamily="18" charset="2"/>
                  <a:cs typeface="Arial" charset="0"/>
                </a:rPr>
                <a:t>h</a:t>
              </a:r>
              <a:r>
                <a:rPr lang="en-US" sz="1600" baseline="30000" dirty="0" smtClean="0">
                  <a:latin typeface="Arial" charset="0"/>
                  <a:cs typeface="Arial" charset="0"/>
                </a:rPr>
                <a:t>0</a:t>
              </a:r>
              <a:endParaRPr lang="en-US" sz="1600" dirty="0">
                <a:latin typeface="Arial" charset="0"/>
                <a:cs typeface="Arial" charset="0"/>
              </a:endParaRPr>
            </a:p>
            <a:p>
              <a:pPr>
                <a:defRPr/>
              </a:pPr>
              <a:r>
                <a:rPr lang="en-US" sz="1600" dirty="0" smtClean="0">
                  <a:latin typeface="Symbol" panose="05050102010706020507" pitchFamily="18" charset="2"/>
                  <a:cs typeface="Arial" charset="0"/>
                </a:rPr>
                <a:t>b</a:t>
              </a:r>
              <a:r>
                <a:rPr lang="en-US" sz="1600" baseline="-25000" dirty="0" smtClean="0">
                  <a:latin typeface="Arial" charset="0"/>
                  <a:cs typeface="Arial" charset="0"/>
                </a:rPr>
                <a:t>y</a:t>
              </a:r>
              <a:r>
                <a:rPr lang="en-US" sz="1600" baseline="30000" dirty="0" smtClean="0">
                  <a:latin typeface="Arial" charset="0"/>
                  <a:cs typeface="Arial" charset="0"/>
                </a:rPr>
                <a:t>0  “</a:t>
              </a:r>
              <a:r>
                <a:rPr lang="en-US" sz="1600" dirty="0" smtClean="0">
                  <a:latin typeface="Arial" charset="0"/>
                  <a:cs typeface="Arial" charset="0"/>
                </a:rPr>
                <a:t>large enough”</a:t>
              </a:r>
              <a:endParaRPr lang="en-US" sz="1600" dirty="0">
                <a:latin typeface="Arial" charset="0"/>
                <a:cs typeface="Arial" charset="0"/>
              </a:endParaRPr>
            </a:p>
          </p:txBody>
        </p:sp>
        <p:sp>
          <p:nvSpPr>
            <p:cNvPr id="44" name="Textfeld 41"/>
            <p:cNvSpPr txBox="1"/>
            <p:nvPr/>
          </p:nvSpPr>
          <p:spPr bwMode="auto">
            <a:xfrm>
              <a:off x="3373214" y="2628181"/>
              <a:ext cx="1775099" cy="58420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Use QF, QD to </a:t>
              </a:r>
              <a:r>
                <a:rPr lang="en-US" sz="1600" dirty="0" smtClean="0">
                  <a:latin typeface="Arial" charset="0"/>
                  <a:cs typeface="Arial" charset="0"/>
                </a:rPr>
                <a:t>fit </a:t>
              </a:r>
            </a:p>
            <a:p>
              <a:pPr>
                <a:defRPr/>
              </a:pPr>
              <a:r>
                <a:rPr lang="en-US" sz="1600" dirty="0" smtClean="0">
                  <a:latin typeface="Symbol" panose="05050102010706020507" pitchFamily="18" charset="2"/>
                  <a:cs typeface="Arial" charset="0"/>
                </a:rPr>
                <a:t>a</a:t>
              </a:r>
              <a:r>
                <a:rPr lang="en-US" sz="1600" baseline="-25000" dirty="0" smtClean="0">
                  <a:latin typeface="Arial" charset="0"/>
                  <a:cs typeface="Arial" charset="0"/>
                </a:rPr>
                <a:t>x</a:t>
              </a:r>
              <a:r>
                <a:rPr lang="en-US" sz="1600" baseline="30000" dirty="0" smtClean="0">
                  <a:latin typeface="Arial" charset="0"/>
                  <a:cs typeface="Arial" charset="0"/>
                </a:rPr>
                <a:t>1</a:t>
              </a:r>
              <a:r>
                <a:rPr lang="en-US" sz="1600" dirty="0" smtClean="0">
                  <a:latin typeface="Arial" charset="0"/>
                  <a:cs typeface="Arial" charset="0"/>
                </a:rPr>
                <a:t> </a:t>
              </a:r>
              <a:r>
                <a:rPr lang="en-US" sz="1600" dirty="0">
                  <a:latin typeface="Arial" charset="0"/>
                  <a:cs typeface="Arial" charset="0"/>
                </a:rPr>
                <a:t>= </a:t>
              </a:r>
              <a:r>
                <a:rPr lang="en-US" sz="1600" dirty="0">
                  <a:latin typeface="Symbol" panose="05050102010706020507" pitchFamily="18" charset="2"/>
                  <a:cs typeface="Arial" charset="0"/>
                </a:rPr>
                <a:t>a</a:t>
              </a:r>
              <a:r>
                <a:rPr lang="en-US" sz="1600" baseline="-25000" dirty="0">
                  <a:latin typeface="Arial" charset="0"/>
                  <a:cs typeface="Arial" charset="0"/>
                </a:rPr>
                <a:t>y</a:t>
              </a:r>
              <a:r>
                <a:rPr lang="en-US" sz="1600" baseline="30000" dirty="0">
                  <a:latin typeface="Arial" charset="0"/>
                  <a:cs typeface="Arial" charset="0"/>
                </a:rPr>
                <a:t>1</a:t>
              </a:r>
              <a:r>
                <a:rPr lang="en-US" sz="1600" dirty="0">
                  <a:latin typeface="Arial" charset="0"/>
                  <a:cs typeface="Arial" charset="0"/>
                </a:rPr>
                <a:t> = 0</a:t>
              </a:r>
            </a:p>
          </p:txBody>
        </p:sp>
        <p:cxnSp>
          <p:nvCxnSpPr>
            <p:cNvPr id="47" name="Gerade Verbindung mit Pfeil 9"/>
            <p:cNvCxnSpPr>
              <a:stCxn id="40" idx="3"/>
              <a:endCxn id="44" idx="1"/>
            </p:cNvCxnSpPr>
            <p:nvPr/>
          </p:nvCxnSpPr>
          <p:spPr bwMode="auto">
            <a:xfrm>
              <a:off x="3013015" y="2475712"/>
              <a:ext cx="360199" cy="44456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mit Pfeil 14"/>
            <p:cNvCxnSpPr>
              <a:stCxn id="43" idx="3"/>
              <a:endCxn id="44" idx="1"/>
            </p:cNvCxnSpPr>
            <p:nvPr/>
          </p:nvCxnSpPr>
          <p:spPr bwMode="auto">
            <a:xfrm flipV="1">
              <a:off x="2862950" y="2920281"/>
              <a:ext cx="510264" cy="62276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0100" y="188913"/>
            <a:ext cx="8229600" cy="4397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1800" dirty="0" smtClean="0"/>
              <a:t>Twiss parameters in Basic MBA half-cell</a:t>
            </a:r>
            <a:endParaRPr lang="en-US" sz="1800" dirty="0"/>
          </a:p>
        </p:txBody>
      </p:sp>
      <p:sp>
        <p:nvSpPr>
          <p:cNvPr id="8195" name="Foliennummernplatzhalter 3"/>
          <p:cNvSpPr>
            <a:spLocks noGrp="1"/>
          </p:cNvSpPr>
          <p:nvPr>
            <p:ph type="sldNum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8F5816E9-E756-42C1-B386-187A0E4766AD}" type="slidenum">
              <a:rPr lang="de-DE" altLang="en-US" sz="1200"/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de-DE" altLang="en-US" sz="1200"/>
          </a:p>
        </p:txBody>
      </p:sp>
      <p:sp>
        <p:nvSpPr>
          <p:cNvPr id="30" name="Textfeld 45"/>
          <p:cNvSpPr txBox="1"/>
          <p:nvPr/>
        </p:nvSpPr>
        <p:spPr bwMode="auto">
          <a:xfrm>
            <a:off x="6148813" y="2529000"/>
            <a:ext cx="2734251" cy="58477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 smtClean="0">
                <a:latin typeface="Arial" charset="0"/>
                <a:cs typeface="Arial" charset="0"/>
              </a:rPr>
              <a:t>3</a:t>
            </a:r>
            <a:r>
              <a:rPr lang="en-US" sz="1600" baseline="30000" dirty="0" smtClean="0">
                <a:latin typeface="Arial" charset="0"/>
                <a:cs typeface="Arial" charset="0"/>
              </a:rPr>
              <a:t>rd</a:t>
            </a:r>
            <a:r>
              <a:rPr lang="en-US" sz="1600" dirty="0" smtClean="0">
                <a:latin typeface="Arial" charset="0"/>
                <a:cs typeface="Arial" charset="0"/>
              </a:rPr>
              <a:t> ‘knob for dispersion</a:t>
            </a:r>
            <a:endParaRPr lang="en-US" sz="1600" dirty="0">
              <a:latin typeface="Symbol" panose="05050102010706020507" pitchFamily="18" charset="2"/>
              <a:cs typeface="Arial" charset="0"/>
            </a:endParaRPr>
          </a:p>
          <a:p>
            <a:pPr>
              <a:defRPr/>
            </a:pPr>
            <a:r>
              <a:rPr lang="en-US" sz="1600" dirty="0">
                <a:latin typeface="Symbol" panose="05050102010706020507" pitchFamily="18" charset="2"/>
                <a:cs typeface="Arial" charset="0"/>
              </a:rPr>
              <a:t>h</a:t>
            </a:r>
            <a:r>
              <a:rPr lang="en-US" sz="1600" dirty="0">
                <a:latin typeface="Arial" charset="0"/>
                <a:cs typeface="Arial" charset="0"/>
              </a:rPr>
              <a:t>’</a:t>
            </a:r>
            <a:r>
              <a:rPr lang="en-US" sz="1600" baseline="30000" dirty="0">
                <a:latin typeface="Arial" charset="0"/>
                <a:cs typeface="Arial" charset="0"/>
              </a:rPr>
              <a:t>1</a:t>
            </a:r>
            <a:r>
              <a:rPr lang="en-US" sz="1600" dirty="0">
                <a:latin typeface="Arial" charset="0"/>
                <a:cs typeface="Arial" charset="0"/>
              </a:rPr>
              <a:t> = </a:t>
            </a:r>
            <a:r>
              <a:rPr lang="en-US" sz="1600" dirty="0" smtClean="0">
                <a:latin typeface="Arial" charset="0"/>
                <a:cs typeface="Arial" charset="0"/>
              </a:rPr>
              <a:t>0: use rev. bend angle</a:t>
            </a:r>
            <a:endParaRPr lang="en-US" sz="1600" dirty="0">
              <a:latin typeface="Arial" charset="0"/>
              <a:cs typeface="Arial" charset="0"/>
            </a:endParaRPr>
          </a:p>
        </p:txBody>
      </p:sp>
      <p:cxnSp>
        <p:nvCxnSpPr>
          <p:cNvPr id="67" name="Gerade Verbindung mit Pfeil 22"/>
          <p:cNvCxnSpPr>
            <a:stCxn id="44" idx="3"/>
            <a:endCxn id="30" idx="1"/>
          </p:cNvCxnSpPr>
          <p:nvPr/>
        </p:nvCxnSpPr>
        <p:spPr bwMode="auto">
          <a:xfrm>
            <a:off x="5303363" y="2816957"/>
            <a:ext cx="845450" cy="44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5146" y="1124668"/>
            <a:ext cx="6442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589C"/>
                </a:solidFill>
              </a:rPr>
              <a:t>Procedure to set up shortest MBA cell with minimal emittance</a:t>
            </a:r>
            <a:endParaRPr lang="en-US" dirty="0">
              <a:solidFill>
                <a:srgbClr val="00589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27000" y="3204225"/>
            <a:ext cx="18614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00589C"/>
                </a:solidFill>
              </a:rPr>
              <a:t>Here we need the </a:t>
            </a:r>
          </a:p>
          <a:p>
            <a:pPr algn="ctr"/>
            <a:r>
              <a:rPr lang="en-US" sz="1600" dirty="0" smtClean="0">
                <a:solidFill>
                  <a:srgbClr val="00589C"/>
                </a:solidFill>
              </a:rPr>
              <a:t>reverse bend</a:t>
            </a:r>
            <a:endParaRPr lang="en-US" sz="1600" dirty="0">
              <a:solidFill>
                <a:srgbClr val="00589C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148814" y="3114000"/>
            <a:ext cx="2338186" cy="6799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52000" y="5859000"/>
            <a:ext cx="5904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Procedure still works for changing boundary conditions. </a:t>
            </a:r>
            <a:endParaRPr lang="en-US" dirty="0"/>
          </a:p>
        </p:txBody>
      </p:sp>
      <p:sp>
        <p:nvSpPr>
          <p:cNvPr id="20" name="Textfeld 45"/>
          <p:cNvSpPr txBox="1"/>
          <p:nvPr/>
        </p:nvSpPr>
        <p:spPr bwMode="auto">
          <a:xfrm>
            <a:off x="6147000" y="4014225"/>
            <a:ext cx="2338186" cy="33855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 smtClean="0">
                <a:latin typeface="Arial" charset="0"/>
                <a:cs typeface="Arial" charset="0"/>
              </a:rPr>
              <a:t>Adjust length of QF, QD</a:t>
            </a:r>
            <a:endParaRPr lang="en-US" sz="1600" dirty="0">
              <a:latin typeface="Arial" charset="0"/>
              <a:cs typeface="Arial" charset="0"/>
            </a:endParaRPr>
          </a:p>
        </p:txBody>
      </p:sp>
      <p:cxnSp>
        <p:nvCxnSpPr>
          <p:cNvPr id="12" name="Straight Connector 11"/>
          <p:cNvCxnSpPr>
            <a:stCxn id="30" idx="3"/>
          </p:cNvCxnSpPr>
          <p:nvPr/>
        </p:nvCxnSpPr>
        <p:spPr>
          <a:xfrm flipV="1">
            <a:off x="8883064" y="2816961"/>
            <a:ext cx="1" cy="44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20" idx="3"/>
          </p:cNvCxnSpPr>
          <p:nvPr/>
        </p:nvCxnSpPr>
        <p:spPr>
          <a:xfrm flipH="1">
            <a:off x="8485186" y="4183502"/>
            <a:ext cx="3978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8883065" y="2816957"/>
            <a:ext cx="0" cy="13665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0" idx="1"/>
          </p:cNvCxnSpPr>
          <p:nvPr/>
        </p:nvCxnSpPr>
        <p:spPr>
          <a:xfrm flipH="1">
            <a:off x="4423092" y="4183502"/>
            <a:ext cx="17239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44" idx="2"/>
          </p:cNvCxnSpPr>
          <p:nvPr/>
        </p:nvCxnSpPr>
        <p:spPr>
          <a:xfrm flipH="1" flipV="1">
            <a:off x="4415814" y="3109057"/>
            <a:ext cx="7278" cy="107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07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0100" y="188913"/>
            <a:ext cx="8229600" cy="4397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1800" dirty="0" smtClean="0"/>
              <a:t>Plugging in numbers</a:t>
            </a:r>
            <a:endParaRPr lang="en-US" sz="1800" dirty="0"/>
          </a:p>
        </p:txBody>
      </p:sp>
      <p:sp>
        <p:nvSpPr>
          <p:cNvPr id="8195" name="Foliennummernplatzhalter 3"/>
          <p:cNvSpPr>
            <a:spLocks noGrp="1"/>
          </p:cNvSpPr>
          <p:nvPr>
            <p:ph type="sldNum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8F5816E9-E756-42C1-B386-187A0E4766AD}" type="slidenum">
              <a:rPr lang="de-DE" altLang="en-US" sz="1200"/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de-DE" altLang="en-US" sz="1200"/>
          </a:p>
        </p:txBody>
      </p:sp>
      <p:sp>
        <p:nvSpPr>
          <p:cNvPr id="17" name="Rechteck 16"/>
          <p:cNvSpPr/>
          <p:nvPr/>
        </p:nvSpPr>
        <p:spPr>
          <a:xfrm>
            <a:off x="3311525" y="1700213"/>
            <a:ext cx="396875" cy="1441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elle 4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7384041"/>
                  </p:ext>
                </p:extLst>
              </p:nvPr>
            </p:nvGraphicFramePr>
            <p:xfrm>
              <a:off x="1152000" y="1629000"/>
              <a:ext cx="6868922" cy="20716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1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81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81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5939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7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295000">
                      <a:extLst>
                        <a:ext uri="{9D8B030D-6E8A-4147-A177-3AD203B41FA5}">
                          <a16:colId xmlns:a16="http://schemas.microsoft.com/office/drawing/2014/main" val="2143827663"/>
                        </a:ext>
                      </a:extLst>
                    </a:gridCol>
                  </a:tblGrid>
                  <a:tr h="624938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#</a:t>
                          </a:r>
                          <a:r>
                            <a:rPr lang="en-US" sz="1600" baseline="0" dirty="0" smtClean="0"/>
                            <a:t> arcs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°/arc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smtClean="0"/>
                            <a:t># MBA</a:t>
                          </a:r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# ½ bend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°/</a:t>
                          </a:r>
                          <a:r>
                            <a:rPr lang="en-US" sz="1600" baseline="0" dirty="0" smtClean="0"/>
                            <a:t> ½  bend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600" dirty="0" smtClean="0"/>
                            <a:t>TME-</a:t>
                          </a:r>
                          <a:r>
                            <a:rPr lang="de-DE" sz="1600" dirty="0" err="1" smtClean="0"/>
                            <a:t>emittance</a:t>
                          </a:r>
                          <a:endParaRPr lang="de-DE" sz="1600" dirty="0" smtClean="0"/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∝</m:t>
                              </m:r>
                            </m:oMath>
                          </a14:m>
                          <a:r>
                            <a:rPr lang="de-DE" sz="1600" dirty="0" smtClean="0"/>
                            <a:t> </a:t>
                          </a:r>
                          <a:r>
                            <a:rPr lang="de-DE" sz="1600" dirty="0" smtClean="0">
                              <a:latin typeface="Symbol" panose="05050102010706020507" pitchFamily="18" charset="2"/>
                            </a:rPr>
                            <a:t>q</a:t>
                          </a:r>
                          <a:r>
                            <a:rPr lang="de-DE" sz="1600" dirty="0" smtClean="0">
                              <a:latin typeface="+mj-lt"/>
                            </a:rPr>
                            <a:t>³</a:t>
                          </a:r>
                          <a:r>
                            <a:rPr lang="de-DE" sz="1600" dirty="0" smtClean="0">
                              <a:latin typeface="Symbol" panose="05050102010706020507" pitchFamily="18" charset="2"/>
                            </a:rPr>
                            <a:t> </a:t>
                          </a:r>
                          <a:r>
                            <a:rPr lang="de-DE" sz="1600" dirty="0" smtClean="0"/>
                            <a:t>*2/(3 </a:t>
                          </a:r>
                          <a:r>
                            <a:rPr lang="de-DE" sz="1600" dirty="0" err="1" smtClean="0"/>
                            <a:t>sqrt</a:t>
                          </a:r>
                          <a:r>
                            <a:rPr lang="de-DE" sz="1600" dirty="0" smtClean="0"/>
                            <a:t>(15))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1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16</a:t>
                          </a:r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22.5°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5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12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1.875°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55 </a:t>
                          </a:r>
                          <a:r>
                            <a:rPr lang="de-DE" sz="1600" dirty="0" err="1" smtClean="0"/>
                            <a:t>pm</a:t>
                          </a:r>
                          <a:r>
                            <a:rPr lang="de-DE" sz="1600" dirty="0" smtClean="0"/>
                            <a:t> </a:t>
                          </a:r>
                          <a:r>
                            <a:rPr lang="de-DE" sz="1600" dirty="0" err="1" smtClean="0"/>
                            <a:t>rad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extLst>
                      <a:ext uri="{0D108BD9-81ED-4DB2-BD59-A6C34878D82A}">
                        <a16:rowId xmlns:a16="http://schemas.microsoft.com/office/drawing/2014/main" val="1386851250"/>
                      </a:ext>
                    </a:extLst>
                  </a:tr>
                  <a:tr h="361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16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22.5°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10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2.25°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96 </a:t>
                          </a:r>
                          <a:r>
                            <a:rPr lang="de-DE" sz="1600" dirty="0" err="1" smtClean="0"/>
                            <a:t>pm</a:t>
                          </a:r>
                          <a:r>
                            <a:rPr lang="de-DE" sz="1600" dirty="0" smtClean="0"/>
                            <a:t> </a:t>
                          </a:r>
                          <a:r>
                            <a:rPr lang="de-DE" sz="1600" dirty="0" err="1" smtClean="0"/>
                            <a:t>rad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extLst>
                      <a:ext uri="{0D108BD9-81ED-4DB2-BD59-A6C34878D82A}">
                        <a16:rowId xmlns:a16="http://schemas.microsoft.com/office/drawing/2014/main" val="2071827220"/>
                      </a:ext>
                    </a:extLst>
                  </a:tr>
                  <a:tr h="361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18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20°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10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2°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67 </a:t>
                          </a:r>
                          <a:r>
                            <a:rPr lang="de-DE" sz="1600" dirty="0" err="1" smtClean="0"/>
                            <a:t>pm</a:t>
                          </a:r>
                          <a:r>
                            <a:rPr lang="de-DE" sz="1600" dirty="0" smtClean="0"/>
                            <a:t> </a:t>
                          </a:r>
                          <a:r>
                            <a:rPr lang="de-DE" sz="1600" dirty="0" err="1" smtClean="0"/>
                            <a:t>rad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168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2.1°, 2.2°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600" dirty="0" smtClean="0"/>
                            <a:t>77, 89 </a:t>
                          </a:r>
                          <a:r>
                            <a:rPr lang="de-DE" sz="1600" dirty="0" err="1" smtClean="0"/>
                            <a:t>pm</a:t>
                          </a:r>
                          <a:r>
                            <a:rPr lang="de-DE" sz="1600" dirty="0" smtClean="0"/>
                            <a:t> </a:t>
                          </a:r>
                          <a:r>
                            <a:rPr lang="de-DE" sz="1600" dirty="0" err="1" smtClean="0"/>
                            <a:t>rad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extLst>
                      <a:ext uri="{0D108BD9-81ED-4DB2-BD59-A6C34878D82A}">
                        <a16:rowId xmlns:a16="http://schemas.microsoft.com/office/drawing/2014/main" val="37068864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elle 4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7384041"/>
                  </p:ext>
                </p:extLst>
              </p:nvPr>
            </p:nvGraphicFramePr>
            <p:xfrm>
              <a:off x="1152000" y="1629000"/>
              <a:ext cx="6868922" cy="20716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1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81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81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5939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7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295000">
                      <a:extLst>
                        <a:ext uri="{9D8B030D-6E8A-4147-A177-3AD203B41FA5}">
                          <a16:colId xmlns:a16="http://schemas.microsoft.com/office/drawing/2014/main" val="2143827663"/>
                        </a:ext>
                      </a:extLst>
                    </a:gridCol>
                  </a:tblGrid>
                  <a:tr h="624938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#</a:t>
                          </a:r>
                          <a:r>
                            <a:rPr lang="en-US" sz="1600" baseline="0" dirty="0" smtClean="0"/>
                            <a:t> arcs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°/arc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smtClean="0"/>
                            <a:t># MBA</a:t>
                          </a:r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# ½ bend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°/</a:t>
                          </a:r>
                          <a:r>
                            <a:rPr lang="en-US" sz="1600" baseline="0" dirty="0" smtClean="0"/>
                            <a:t> ½  bend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589" marB="45589">
                        <a:blipFill>
                          <a:blip r:embed="rId3"/>
                          <a:stretch>
                            <a:fillRect l="-199469" t="-2913" r="-1061" b="-238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1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16</a:t>
                          </a:r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22.5°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5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12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1.875°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55 </a:t>
                          </a:r>
                          <a:r>
                            <a:rPr lang="de-DE" sz="1600" dirty="0" err="1" smtClean="0"/>
                            <a:t>pm</a:t>
                          </a:r>
                          <a:r>
                            <a:rPr lang="de-DE" sz="1600" dirty="0" smtClean="0"/>
                            <a:t> </a:t>
                          </a:r>
                          <a:r>
                            <a:rPr lang="de-DE" sz="1600" dirty="0" err="1" smtClean="0"/>
                            <a:t>rad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extLst>
                      <a:ext uri="{0D108BD9-81ED-4DB2-BD59-A6C34878D82A}">
                        <a16:rowId xmlns:a16="http://schemas.microsoft.com/office/drawing/2014/main" val="1386851250"/>
                      </a:ext>
                    </a:extLst>
                  </a:tr>
                  <a:tr h="361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16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22.5°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10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2.25°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96 </a:t>
                          </a:r>
                          <a:r>
                            <a:rPr lang="de-DE" sz="1600" dirty="0" err="1" smtClean="0"/>
                            <a:t>pm</a:t>
                          </a:r>
                          <a:r>
                            <a:rPr lang="de-DE" sz="1600" dirty="0" smtClean="0"/>
                            <a:t> </a:t>
                          </a:r>
                          <a:r>
                            <a:rPr lang="de-DE" sz="1600" dirty="0" err="1" smtClean="0"/>
                            <a:t>rad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extLst>
                      <a:ext uri="{0D108BD9-81ED-4DB2-BD59-A6C34878D82A}">
                        <a16:rowId xmlns:a16="http://schemas.microsoft.com/office/drawing/2014/main" val="2071827220"/>
                      </a:ext>
                    </a:extLst>
                  </a:tr>
                  <a:tr h="361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18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20°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10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2°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67 </a:t>
                          </a:r>
                          <a:r>
                            <a:rPr lang="de-DE" sz="1600" dirty="0" err="1" smtClean="0"/>
                            <a:t>pm</a:t>
                          </a:r>
                          <a:r>
                            <a:rPr lang="de-DE" sz="1600" dirty="0" smtClean="0"/>
                            <a:t> </a:t>
                          </a:r>
                          <a:r>
                            <a:rPr lang="de-DE" sz="1600" dirty="0" err="1" smtClean="0"/>
                            <a:t>rad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168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/>
                            <a:t>2.1°, 2.2°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600" dirty="0" smtClean="0"/>
                            <a:t>77, 89 </a:t>
                          </a:r>
                          <a:r>
                            <a:rPr lang="de-DE" sz="1600" dirty="0" err="1" smtClean="0"/>
                            <a:t>pm</a:t>
                          </a:r>
                          <a:r>
                            <a:rPr lang="de-DE" sz="1600" dirty="0" smtClean="0"/>
                            <a:t> </a:t>
                          </a:r>
                          <a:r>
                            <a:rPr lang="de-DE" sz="1600" dirty="0" err="1" smtClean="0"/>
                            <a:t>rad</a:t>
                          </a:r>
                          <a:endParaRPr lang="en-US" sz="1600" dirty="0"/>
                        </a:p>
                      </a:txBody>
                      <a:tcPr marL="91450" marR="91450" marT="45589" marB="45589"/>
                    </a:tc>
                    <a:extLst>
                      <a:ext uri="{0D108BD9-81ED-4DB2-BD59-A6C34878D82A}">
                        <a16:rowId xmlns:a16="http://schemas.microsoft.com/office/drawing/2014/main" val="37068864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0" name="Textfeld 9"/>
          <p:cNvSpPr txBox="1">
            <a:spLocks noChangeArrowheads="1"/>
          </p:cNvSpPr>
          <p:nvPr/>
        </p:nvSpPr>
        <p:spPr bwMode="auto">
          <a:xfrm>
            <a:off x="1136815" y="4059000"/>
            <a:ext cx="6720185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 eaLnBrk="0" hangingPunct="0">
              <a:lnSpc>
                <a:spcPts val="2800"/>
              </a:lnSpc>
              <a:spcBef>
                <a:spcPct val="20000"/>
              </a:spcBef>
              <a:buFont typeface="Arial" charset="0"/>
              <a:defRPr sz="2100" b="1">
                <a:solidFill>
                  <a:srgbClr val="00589C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Arial" charset="0"/>
              <a:buChar char="•"/>
              <a:defRPr/>
            </a:pPr>
            <a:r>
              <a:rPr lang="en-US" altLang="en-US" sz="1800" b="0" dirty="0">
                <a:solidFill>
                  <a:schemeClr val="tx1"/>
                </a:solidFill>
              </a:rPr>
              <a:t>Angle of reverse bend has to be added to main bend 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Arial" charset="0"/>
              <a:buChar char="•"/>
              <a:defRPr/>
            </a:pPr>
            <a:r>
              <a:rPr lang="en-US" altLang="en-US" sz="1800" b="0" dirty="0" smtClean="0">
                <a:solidFill>
                  <a:schemeClr val="tx1"/>
                </a:solidFill>
              </a:rPr>
              <a:t>Reverse bend: angle set to fit </a:t>
            </a:r>
            <a:r>
              <a:rPr lang="en-US" sz="18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sz="1800" b="0" dirty="0" smtClean="0">
                <a:solidFill>
                  <a:schemeClr val="tx1"/>
                </a:solidFill>
              </a:rPr>
              <a:t>’</a:t>
            </a:r>
            <a:r>
              <a:rPr lang="en-US" sz="1800" b="0" baseline="30000" dirty="0" smtClean="0">
                <a:solidFill>
                  <a:schemeClr val="tx1"/>
                </a:solidFill>
              </a:rPr>
              <a:t>1</a:t>
            </a:r>
            <a:r>
              <a:rPr lang="en-US" altLang="en-US" sz="1800" b="0" dirty="0" smtClean="0">
                <a:solidFill>
                  <a:schemeClr val="tx1"/>
                </a:solidFill>
              </a:rPr>
              <a:t>=0 (~ </a:t>
            </a:r>
            <a:r>
              <a:rPr lang="en-US" altLang="en-US" sz="1800" b="0" dirty="0">
                <a:solidFill>
                  <a:schemeClr val="tx1"/>
                </a:solidFill>
              </a:rPr>
              <a:t>0.2</a:t>
            </a:r>
            <a:r>
              <a:rPr lang="en-US" altLang="en-US" sz="1800" b="0" dirty="0" smtClean="0">
                <a:solidFill>
                  <a:schemeClr val="tx1"/>
                </a:solidFill>
              </a:rPr>
              <a:t>°, 0.05m, ~0.5T)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800" b="0" dirty="0" smtClean="0">
                <a:solidFill>
                  <a:schemeClr val="tx1"/>
                </a:solidFill>
              </a:rPr>
              <a:t>For simplicity: use same reverse bend in matching cell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Arial" charset="0"/>
              <a:buChar char="•"/>
              <a:defRPr/>
            </a:pPr>
            <a:r>
              <a:rPr lang="en-US" altLang="en-US" sz="1800" b="0" dirty="0">
                <a:solidFill>
                  <a:schemeClr val="tx1"/>
                </a:solidFill>
              </a:rPr>
              <a:t>Length of main bend determined by max. field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Arial" charset="0"/>
              <a:buChar char="•"/>
              <a:defRPr/>
            </a:pPr>
            <a:r>
              <a:rPr lang="en-US" altLang="en-US" sz="1800" b="0" dirty="0" smtClean="0">
                <a:solidFill>
                  <a:schemeClr val="tx1"/>
                </a:solidFill>
              </a:rPr>
              <a:t>Adjust angle in matching cell to seek </a:t>
            </a:r>
            <a:r>
              <a:rPr lang="en-US" altLang="en-US" sz="1800" b="0" dirty="0" smtClean="0">
                <a:solidFill>
                  <a:schemeClr val="tx1"/>
                </a:solidFill>
                <a:sym typeface="Symbol" panose="05050102010706020507" pitchFamily="18" charset="2"/>
              </a:rPr>
              <a:t> 360°</a:t>
            </a:r>
            <a:endParaRPr lang="en-US" altLang="en-US" sz="1800" b="0" dirty="0" smtClean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16815" y="899428"/>
            <a:ext cx="192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solidFill>
                  <a:srgbClr val="0070C0"/>
                </a:solidFill>
              </a:rPr>
              <a:t>Dipole geometry: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71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1800" dirty="0" smtClean="0"/>
              <a:t>Prototype  MBA half-cell</a:t>
            </a:r>
            <a:endParaRPr lang="en-US" sz="1800" dirty="0"/>
          </a:p>
        </p:txBody>
      </p:sp>
      <p:sp>
        <p:nvSpPr>
          <p:cNvPr id="16387" name="Foliennummernplatzhalter 5"/>
          <p:cNvSpPr>
            <a:spLocks noGrp="1"/>
          </p:cNvSpPr>
          <p:nvPr>
            <p:ph type="sldNum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03529DF-4261-4623-86B5-07E205FF609B}" type="slidenum">
              <a:rPr lang="de-DE" altLang="en-US" sz="1200"/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de-DE" altLang="en-US" sz="1200"/>
          </a:p>
        </p:txBody>
      </p:sp>
      <p:grpSp>
        <p:nvGrpSpPr>
          <p:cNvPr id="16388" name="Gruppieren 14"/>
          <p:cNvGrpSpPr>
            <a:grpSpLocks/>
          </p:cNvGrpSpPr>
          <p:nvPr/>
        </p:nvGrpSpPr>
        <p:grpSpPr bwMode="auto">
          <a:xfrm>
            <a:off x="250825" y="2624138"/>
            <a:ext cx="7893050" cy="2019300"/>
            <a:chOff x="-468560" y="2416763"/>
            <a:chExt cx="7892822" cy="2020634"/>
          </a:xfrm>
        </p:grpSpPr>
        <p:cxnSp>
          <p:nvCxnSpPr>
            <p:cNvPr id="8" name="Gerade Verbindung 7"/>
            <p:cNvCxnSpPr/>
            <p:nvPr/>
          </p:nvCxnSpPr>
          <p:spPr>
            <a:xfrm>
              <a:off x="-468560" y="3428668"/>
              <a:ext cx="789282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hteck 8"/>
            <p:cNvSpPr/>
            <p:nvPr/>
          </p:nvSpPr>
          <p:spPr>
            <a:xfrm>
              <a:off x="971261" y="2416763"/>
              <a:ext cx="1081056" cy="1011905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hteck 9"/>
            <p:cNvSpPr/>
            <p:nvPr/>
          </p:nvSpPr>
          <p:spPr>
            <a:xfrm>
              <a:off x="2405924" y="3428668"/>
              <a:ext cx="504810" cy="72120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hteck 10"/>
            <p:cNvSpPr/>
            <p:nvPr/>
          </p:nvSpPr>
          <p:spPr>
            <a:xfrm>
              <a:off x="4068383" y="2694759"/>
              <a:ext cx="503223" cy="72120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hteck 11"/>
            <p:cNvSpPr/>
            <p:nvPr/>
          </p:nvSpPr>
          <p:spPr>
            <a:xfrm>
              <a:off x="4896241" y="3428668"/>
              <a:ext cx="215894" cy="100872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3311963" y="3417549"/>
              <a:ext cx="360352" cy="721201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4" name="Rechteck 13"/>
            <p:cNvSpPr/>
            <p:nvPr/>
          </p:nvSpPr>
          <p:spPr>
            <a:xfrm>
              <a:off x="5510117" y="2707467"/>
              <a:ext cx="187320" cy="721201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6408" name="Textfeld 8"/>
            <p:cNvSpPr txBox="1">
              <a:spLocks noChangeArrowheads="1"/>
            </p:cNvSpPr>
            <p:nvPr/>
          </p:nvSpPr>
          <p:spPr bwMode="auto">
            <a:xfrm>
              <a:off x="827584" y="3429000"/>
              <a:ext cx="65966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ts val="2800"/>
                </a:lnSpc>
                <a:spcBef>
                  <a:spcPct val="20000"/>
                </a:spcBef>
                <a:buFont typeface="Arial" panose="020B0604020202020204" pitchFamily="34" charset="0"/>
                <a:defRPr sz="2100" b="1">
                  <a:solidFill>
                    <a:srgbClr val="00589C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169988" algn="l"/>
                </a:tabLs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chemeClr val="tx1"/>
                  </a:solidFill>
                </a:rPr>
                <a:t>0        0.2      0.4      0.6        0.8     1.0       1.2      1.4      1.6   m</a:t>
              </a:r>
            </a:p>
          </p:txBody>
        </p:sp>
      </p:grpSp>
      <p:sp>
        <p:nvSpPr>
          <p:cNvPr id="16389" name="Textfeld 15"/>
          <p:cNvSpPr txBox="1">
            <a:spLocks noChangeArrowheads="1"/>
          </p:cNvSpPr>
          <p:nvPr/>
        </p:nvSpPr>
        <p:spPr bwMode="auto">
          <a:xfrm>
            <a:off x="1376363" y="1719263"/>
            <a:ext cx="1800225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Half main bend: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</a:rPr>
              <a:t>2.15°, 0.21m</a:t>
            </a:r>
            <a:endParaRPr lang="en-US" altLang="en-US" sz="1800" b="0" dirty="0">
              <a:solidFill>
                <a:schemeClr val="tx1"/>
              </a:solidFill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</a:rPr>
              <a:t>B=1.49T</a:t>
            </a:r>
            <a:endParaRPr lang="en-US" altLang="en-US" sz="1800" b="0" dirty="0">
              <a:solidFill>
                <a:schemeClr val="tx1"/>
              </a:solidFill>
            </a:endParaRPr>
          </a:p>
        </p:txBody>
      </p:sp>
      <p:sp>
        <p:nvSpPr>
          <p:cNvPr id="16390" name="Textfeld 16"/>
          <p:cNvSpPr txBox="1">
            <a:spLocks noChangeArrowheads="1"/>
          </p:cNvSpPr>
          <p:nvPr/>
        </p:nvSpPr>
        <p:spPr bwMode="auto">
          <a:xfrm>
            <a:off x="423083" y="4793932"/>
            <a:ext cx="1853392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TME values: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𝛽x</a:t>
            </a:r>
            <a:r>
              <a:rPr lang="en-US" altLang="en-US" sz="1800" b="0" baseline="-2500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0</a:t>
            </a:r>
            <a:r>
              <a:rPr lang="en-US" altLang="en-US" sz="1800" b="0" baseline="3000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TME</a:t>
            </a:r>
            <a:r>
              <a:rPr lang="en-US" altLang="en-US" sz="1800" b="0" baseline="-2500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0.054m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altLang="en-US" sz="1800" b="0" baseline="-2500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0</a:t>
            </a:r>
            <a:r>
              <a:rPr lang="en-US" altLang="en-US" sz="1800" b="0" baseline="3000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TME</a:t>
            </a:r>
            <a:r>
              <a:rPr lang="en-US" altLang="en-US" sz="1800" b="0" baseline="-2500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0.0013m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𝛽y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0 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15m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6391" name="Textfeld 17"/>
          <p:cNvSpPr txBox="1">
            <a:spLocks noChangeArrowheads="1"/>
          </p:cNvSpPr>
          <p:nvPr/>
        </p:nvSpPr>
        <p:spPr bwMode="auto">
          <a:xfrm>
            <a:off x="4814131" y="4575175"/>
            <a:ext cx="176522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Reverse bend: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</a:rPr>
              <a:t> -0.175°, </a:t>
            </a:r>
            <a:r>
              <a:rPr lang="en-US" altLang="en-US" sz="1800" b="0" dirty="0">
                <a:solidFill>
                  <a:schemeClr val="tx1"/>
                </a:solidFill>
              </a:rPr>
              <a:t>0.05m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B=0.5T</a:t>
            </a:r>
          </a:p>
        </p:txBody>
      </p:sp>
      <p:sp>
        <p:nvSpPr>
          <p:cNvPr id="16392" name="Textfeld 18"/>
          <p:cNvSpPr txBox="1">
            <a:spLocks noChangeArrowheads="1"/>
          </p:cNvSpPr>
          <p:nvPr/>
        </p:nvSpPr>
        <p:spPr bwMode="auto">
          <a:xfrm>
            <a:off x="6686550" y="1379538"/>
            <a:ext cx="21339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Drifts: </a:t>
            </a:r>
            <a:r>
              <a:rPr lang="en-US" altLang="en-US" sz="1800" b="0" dirty="0" smtClean="0">
                <a:solidFill>
                  <a:schemeClr val="tx1"/>
                </a:solidFill>
              </a:rPr>
              <a:t> 0.1m</a:t>
            </a:r>
            <a:endParaRPr lang="en-US" altLang="en-US" sz="18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Quad: </a:t>
            </a:r>
            <a:r>
              <a:rPr lang="en-US" altLang="en-US" sz="1800" b="0" dirty="0" smtClean="0">
                <a:solidFill>
                  <a:schemeClr val="tx1"/>
                </a:solidFill>
              </a:rPr>
              <a:t>0.15m initial</a:t>
            </a:r>
            <a:endParaRPr lang="en-US" altLang="en-US" sz="18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Sext.: </a:t>
            </a:r>
            <a:r>
              <a:rPr lang="en-US" altLang="en-US" sz="1800" b="0" dirty="0" smtClean="0">
                <a:solidFill>
                  <a:schemeClr val="tx1"/>
                </a:solidFill>
              </a:rPr>
              <a:t> 0.08m initial</a:t>
            </a:r>
          </a:p>
        </p:txBody>
      </p:sp>
      <p:sp>
        <p:nvSpPr>
          <p:cNvPr id="16395" name="Textfeld 18"/>
          <p:cNvSpPr txBox="1">
            <a:spLocks noChangeArrowheads="1"/>
          </p:cNvSpPr>
          <p:nvPr/>
        </p:nvSpPr>
        <p:spPr bwMode="auto">
          <a:xfrm>
            <a:off x="3132138" y="4356100"/>
            <a:ext cx="5318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</a:rPr>
              <a:t>QD</a:t>
            </a:r>
          </a:p>
        </p:txBody>
      </p:sp>
      <p:sp>
        <p:nvSpPr>
          <p:cNvPr id="16396" name="Textfeld 26"/>
          <p:cNvSpPr txBox="1">
            <a:spLocks noChangeArrowheads="1"/>
          </p:cNvSpPr>
          <p:nvPr/>
        </p:nvSpPr>
        <p:spPr bwMode="auto">
          <a:xfrm>
            <a:off x="3970338" y="4356100"/>
            <a:ext cx="504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</a:rPr>
              <a:t>SD</a:t>
            </a:r>
          </a:p>
        </p:txBody>
      </p:sp>
      <p:sp>
        <p:nvSpPr>
          <p:cNvPr id="16397" name="Textfeld 25"/>
          <p:cNvSpPr txBox="1">
            <a:spLocks noChangeArrowheads="1"/>
          </p:cNvSpPr>
          <p:nvPr/>
        </p:nvSpPr>
        <p:spPr bwMode="auto">
          <a:xfrm>
            <a:off x="4762500" y="2555875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</a:rPr>
              <a:t>QF</a:t>
            </a:r>
          </a:p>
        </p:txBody>
      </p:sp>
      <p:sp>
        <p:nvSpPr>
          <p:cNvPr id="16398" name="Textfeld 27"/>
          <p:cNvSpPr txBox="1">
            <a:spLocks noChangeArrowheads="1"/>
          </p:cNvSpPr>
          <p:nvPr/>
        </p:nvSpPr>
        <p:spPr bwMode="auto">
          <a:xfrm>
            <a:off x="6083300" y="2555875"/>
            <a:ext cx="481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</a:rPr>
              <a:t>SF</a:t>
            </a:r>
          </a:p>
        </p:txBody>
      </p:sp>
      <p:sp>
        <p:nvSpPr>
          <p:cNvPr id="29" name="Rechteck 28"/>
          <p:cNvSpPr/>
          <p:nvPr/>
        </p:nvSpPr>
        <p:spPr>
          <a:xfrm>
            <a:off x="611188" y="2627313"/>
            <a:ext cx="1079500" cy="1008062"/>
          </a:xfrm>
          <a:prstGeom prst="rect">
            <a:avLst/>
          </a:prstGeom>
          <a:solidFill>
            <a:srgbClr val="FFFF00">
              <a:alpha val="52941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0" name="Rechteck 29"/>
          <p:cNvSpPr/>
          <p:nvPr/>
        </p:nvSpPr>
        <p:spPr bwMode="auto">
          <a:xfrm>
            <a:off x="6417613" y="2913063"/>
            <a:ext cx="179387" cy="720725"/>
          </a:xfrm>
          <a:prstGeom prst="rect">
            <a:avLst/>
          </a:prstGeom>
          <a:solidFill>
            <a:srgbClr val="00B050">
              <a:alpha val="5098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5" name="Textfeld 16"/>
          <p:cNvSpPr txBox="1">
            <a:spLocks noChangeArrowheads="1"/>
          </p:cNvSpPr>
          <p:nvPr/>
        </p:nvSpPr>
        <p:spPr bwMode="auto">
          <a:xfrm>
            <a:off x="539552" y="836712"/>
            <a:ext cx="2509464" cy="646331"/>
          </a:xfrm>
          <a:prstGeom prst="rect">
            <a:avLst/>
          </a:prstGeom>
          <a:noFill/>
          <a:ln w="9525">
            <a:solidFill>
              <a:srgbClr val="00589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E = 2.5GeV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18 arcs, 4 MBA cells</a:t>
            </a:r>
            <a:endParaRPr lang="en-US" altLang="en-US" sz="180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800100" y="3362325"/>
            <a:ext cx="890588" cy="1417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40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24" y="1045022"/>
            <a:ext cx="6106377" cy="3762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 smtClean="0"/>
              <a:t>Prototyp MBA </a:t>
            </a:r>
            <a:r>
              <a:rPr lang="de-DE" sz="1800" dirty="0" err="1" smtClean="0"/>
              <a:t>cell</a:t>
            </a:r>
            <a:r>
              <a:rPr lang="de-DE" sz="1800" dirty="0" smtClean="0"/>
              <a:t> </a:t>
            </a:r>
            <a:r>
              <a:rPr lang="de-DE" sz="1800" dirty="0" err="1" smtClean="0"/>
              <a:t>with</a:t>
            </a:r>
            <a:r>
              <a:rPr lang="de-DE" sz="1800" dirty="0" smtClean="0"/>
              <a:t> </a:t>
            </a:r>
            <a:r>
              <a:rPr lang="de-DE" sz="1800" dirty="0" err="1" smtClean="0"/>
              <a:t>reverse</a:t>
            </a:r>
            <a:r>
              <a:rPr lang="de-DE" sz="1800" dirty="0" smtClean="0"/>
              <a:t> </a:t>
            </a:r>
            <a:r>
              <a:rPr lang="de-DE" sz="1800" dirty="0" err="1" smtClean="0"/>
              <a:t>bend</a:t>
            </a:r>
            <a:r>
              <a:rPr lang="de-DE" sz="1800" dirty="0" smtClean="0"/>
              <a:t>, minimal </a:t>
            </a:r>
            <a:r>
              <a:rPr lang="de-DE" sz="1800" dirty="0" err="1" smtClean="0"/>
              <a:t>emittance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13</a:t>
            </a:fld>
            <a:endParaRPr lang="de-DE" altLang="en-US"/>
          </a:p>
        </p:txBody>
      </p:sp>
      <p:sp>
        <p:nvSpPr>
          <p:cNvPr id="13" name="Textfeld 18"/>
          <p:cNvSpPr txBox="1">
            <a:spLocks noChangeArrowheads="1"/>
          </p:cNvSpPr>
          <p:nvPr/>
        </p:nvSpPr>
        <p:spPr bwMode="auto">
          <a:xfrm>
            <a:off x="7146083" y="1044000"/>
            <a:ext cx="1826975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L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1.11m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𝜀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= 83pmrad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de-DE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TME = 83pmrad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-1.546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-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0.436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𝜑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86.5°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𝜑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7.6°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77000" y="5167669"/>
            <a:ext cx="448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Cambria Math" panose="02040503050406030204" pitchFamily="18" charset="0"/>
              </a:rPr>
              <a:t>QD = -</a:t>
            </a:r>
            <a:r>
              <a:rPr lang="en-US" altLang="en-US" dirty="0" smtClean="0">
                <a:latin typeface="Cambria Math" panose="02040503050406030204" pitchFamily="18" charset="0"/>
              </a:rPr>
              <a:t>11.3   </a:t>
            </a:r>
            <a:r>
              <a:rPr lang="en-US" altLang="en-US" dirty="0">
                <a:latin typeface="Cambria Math" panose="02040503050406030204" pitchFamily="18" charset="0"/>
              </a:rPr>
              <a:t>1/m², </a:t>
            </a:r>
            <a:r>
              <a:rPr lang="en-US" altLang="en-US" dirty="0" smtClean="0">
                <a:latin typeface="Cambria Math" panose="02040503050406030204" pitchFamily="18" charset="0"/>
              </a:rPr>
              <a:t> 94T/m,    L=0.09m</a:t>
            </a:r>
            <a:endParaRPr lang="en-US" altLang="en-US" dirty="0">
              <a:latin typeface="Cambria Math" panose="02040503050406030204" pitchFamily="18" charset="0"/>
            </a:endParaRPr>
          </a:p>
          <a:p>
            <a:r>
              <a:rPr lang="en-US" altLang="en-US" dirty="0">
                <a:latin typeface="Cambria Math" panose="02040503050406030204" pitchFamily="18" charset="0"/>
              </a:rPr>
              <a:t>QF =   </a:t>
            </a:r>
            <a:r>
              <a:rPr lang="en-US" altLang="en-US" dirty="0" smtClean="0">
                <a:latin typeface="Cambria Math" panose="02040503050406030204" pitchFamily="18" charset="0"/>
              </a:rPr>
              <a:t>11.3   1/m²</a:t>
            </a:r>
            <a:r>
              <a:rPr lang="en-US" altLang="en-US" dirty="0">
                <a:latin typeface="Cambria Math" panose="02040503050406030204" pitchFamily="18" charset="0"/>
              </a:rPr>
              <a:t>, </a:t>
            </a:r>
            <a:r>
              <a:rPr lang="en-US" altLang="en-US" dirty="0" smtClean="0">
                <a:latin typeface="Cambria Math" panose="02040503050406030204" pitchFamily="18" charset="0"/>
              </a:rPr>
              <a:t> 94T/m</a:t>
            </a:r>
            <a:r>
              <a:rPr lang="en-US" altLang="en-US" dirty="0">
                <a:latin typeface="Cambria Math" panose="02040503050406030204" pitchFamily="18" charset="0"/>
              </a:rPr>
              <a:t>, </a:t>
            </a:r>
            <a:r>
              <a:rPr lang="en-US" altLang="en-US" dirty="0" smtClean="0">
                <a:latin typeface="Cambria Math" panose="02040503050406030204" pitchFamily="18" charset="0"/>
              </a:rPr>
              <a:t>   L=0.14m</a:t>
            </a:r>
            <a:endParaRPr lang="en-US" altLang="en-US" dirty="0">
              <a:latin typeface="Cambria Math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2000" y="5167669"/>
            <a:ext cx="34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 smtClean="0">
                <a:latin typeface="Cambria Math" panose="02040503050406030204" pitchFamily="18" charset="0"/>
              </a:rPr>
              <a:t>Bend0 </a:t>
            </a:r>
            <a:r>
              <a:rPr lang="en-US" altLang="en-US" dirty="0">
                <a:latin typeface="Cambria Math" panose="02040503050406030204" pitchFamily="18" charset="0"/>
              </a:rPr>
              <a:t>= </a:t>
            </a:r>
            <a:r>
              <a:rPr lang="en-US" altLang="en-US" dirty="0" smtClean="0">
                <a:latin typeface="Cambria Math" panose="02040503050406030204" pitchFamily="18" charset="0"/>
              </a:rPr>
              <a:t>2.15°,       L=0.21m</a:t>
            </a:r>
            <a:endParaRPr lang="en-US" altLang="en-US" dirty="0">
              <a:latin typeface="Cambria Math" panose="02040503050406030204" pitchFamily="18" charset="0"/>
            </a:endParaRPr>
          </a:p>
          <a:p>
            <a:r>
              <a:rPr lang="en-US" altLang="en-US" dirty="0" smtClean="0">
                <a:latin typeface="Cambria Math" panose="02040503050406030204" pitchFamily="18" charset="0"/>
              </a:rPr>
              <a:t>Bend1 </a:t>
            </a:r>
            <a:r>
              <a:rPr lang="en-US" altLang="en-US" dirty="0">
                <a:latin typeface="Cambria Math" panose="02040503050406030204" pitchFamily="18" charset="0"/>
              </a:rPr>
              <a:t>=  </a:t>
            </a:r>
            <a:r>
              <a:rPr lang="en-US" altLang="en-US" dirty="0" smtClean="0">
                <a:latin typeface="Cambria Math" panose="02040503050406030204" pitchFamily="18" charset="0"/>
              </a:rPr>
              <a:t>-0.175°,  L=0.05m</a:t>
            </a:r>
            <a:endParaRPr lang="en-US" altLang="en-US" dirty="0">
              <a:latin typeface="Cambria Math" panose="02040503050406030204" pitchFamily="18" charset="0"/>
            </a:endParaRPr>
          </a:p>
        </p:txBody>
      </p:sp>
      <p:sp>
        <p:nvSpPr>
          <p:cNvPr id="25" name="Textfeld 23"/>
          <p:cNvSpPr txBox="1">
            <a:spLocks noChangeArrowheads="1"/>
          </p:cNvSpPr>
          <p:nvPr/>
        </p:nvSpPr>
        <p:spPr bwMode="auto">
          <a:xfrm>
            <a:off x="2199099" y="3429000"/>
            <a:ext cx="387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 err="1">
                <a:solidFill>
                  <a:schemeClr val="tx1"/>
                </a:solidFill>
              </a:rPr>
              <a:t>x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26" name="Textfeld 51"/>
          <p:cNvSpPr txBox="1">
            <a:spLocks noChangeArrowheads="1"/>
          </p:cNvSpPr>
          <p:nvPr/>
        </p:nvSpPr>
        <p:spPr bwMode="auto">
          <a:xfrm>
            <a:off x="2586449" y="988806"/>
            <a:ext cx="8854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 smtClean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altLang="en-US" sz="1800" b="0" baseline="-25000" dirty="0" err="1" smtClean="0">
                <a:solidFill>
                  <a:schemeClr val="tx1"/>
                </a:solidFill>
              </a:rPr>
              <a:t>x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27" name="Textfeld 42"/>
          <p:cNvSpPr txBox="1">
            <a:spLocks noChangeArrowheads="1"/>
          </p:cNvSpPr>
          <p:nvPr/>
        </p:nvSpPr>
        <p:spPr bwMode="auto">
          <a:xfrm>
            <a:off x="2782961" y="2321143"/>
            <a:ext cx="688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7000" y="5977669"/>
            <a:ext cx="8135560" cy="646331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589C"/>
                </a:solidFill>
              </a:rPr>
              <a:t>Under given constraints: shortest MBA-cell using separated function magnets </a:t>
            </a:r>
          </a:p>
          <a:p>
            <a:pPr algn="ctr"/>
            <a:r>
              <a:rPr lang="en-US" dirty="0" smtClean="0">
                <a:solidFill>
                  <a:srgbClr val="00589C"/>
                </a:solidFill>
              </a:rPr>
              <a:t>with minimal emittance.</a:t>
            </a:r>
            <a:endParaRPr lang="en-US" dirty="0">
              <a:solidFill>
                <a:srgbClr val="0058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49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 err="1" smtClean="0"/>
              <a:t>Matching</a:t>
            </a:r>
            <a:r>
              <a:rPr lang="de-DE" sz="1800" dirty="0" smtClean="0"/>
              <a:t> </a:t>
            </a:r>
            <a:r>
              <a:rPr lang="de-DE" sz="1800" dirty="0" err="1" smtClean="0"/>
              <a:t>cell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14</a:t>
            </a:fld>
            <a:endParaRPr lang="de-DE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22000" y="1719000"/>
            <a:ext cx="8283037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589C"/>
                </a:solidFill>
              </a:rPr>
              <a:t>Setting up the matching cell:</a:t>
            </a:r>
          </a:p>
          <a:p>
            <a:endParaRPr lang="en-US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Use half MBA cell (1.11m is short!)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Use same reverse bend as MBA cell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Angle of dipole set  to reach 360° (</a:t>
            </a:r>
            <a:r>
              <a:rPr lang="en-US" altLang="en-US" dirty="0">
                <a:latin typeface="Cambria Math" panose="02040503050406030204" pitchFamily="18" charset="0"/>
              </a:rPr>
              <a:t>2.275</a:t>
            </a:r>
            <a:r>
              <a:rPr lang="en-US" altLang="en-US" dirty="0" smtClean="0">
                <a:latin typeface="Cambria Math" panose="02040503050406030204" pitchFamily="18" charset="0"/>
              </a:rPr>
              <a:t>°</a:t>
            </a:r>
            <a:r>
              <a:rPr lang="en-US" dirty="0" smtClean="0"/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Initial conditions for fitting set by MBA cell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Use QD, QF to suppress dispersion (reverse bend is fixed – to be optimized)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3 quadrupoles in straight section to fit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baseline="-25000" dirty="0" smtClean="0"/>
              <a:t>x</a:t>
            </a:r>
            <a:r>
              <a:rPr lang="en-US" dirty="0" smtClean="0"/>
              <a:t>,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baseline="-25000" dirty="0" smtClean="0"/>
              <a:t>y </a:t>
            </a:r>
            <a:r>
              <a:rPr lang="en-US" dirty="0" smtClean="0"/>
              <a:t>and one beta function</a:t>
            </a:r>
            <a:endParaRPr lang="en-US" baseline="-25000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Lack of ‚knob‘ to fit both beta functions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    (we can use reverse bend field, quads in last MBA cell)</a:t>
            </a:r>
          </a:p>
          <a:p>
            <a:endParaRPr lang="en-US" baseline="-25000" dirty="0" smtClean="0"/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416260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1150380"/>
            <a:ext cx="5896798" cy="38676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 smtClean="0"/>
              <a:t>MBA </a:t>
            </a:r>
            <a:r>
              <a:rPr lang="de-DE" sz="1800" dirty="0" err="1" smtClean="0"/>
              <a:t>cell</a:t>
            </a:r>
            <a:r>
              <a:rPr lang="de-DE" sz="1800" dirty="0" smtClean="0"/>
              <a:t> </a:t>
            </a:r>
            <a:r>
              <a:rPr lang="de-DE" sz="1800" dirty="0" err="1" smtClean="0"/>
              <a:t>with</a:t>
            </a:r>
            <a:r>
              <a:rPr lang="de-DE" sz="1800" dirty="0" smtClean="0"/>
              <a:t> </a:t>
            </a:r>
            <a:r>
              <a:rPr lang="de-DE" sz="1800" dirty="0" err="1" smtClean="0"/>
              <a:t>reverse</a:t>
            </a:r>
            <a:r>
              <a:rPr lang="de-DE" sz="1800" dirty="0" smtClean="0"/>
              <a:t> </a:t>
            </a:r>
            <a:r>
              <a:rPr lang="de-DE" sz="1800" dirty="0" err="1" smtClean="0"/>
              <a:t>bend</a:t>
            </a:r>
            <a:r>
              <a:rPr lang="de-DE" sz="1800" dirty="0" smtClean="0"/>
              <a:t>, minimal </a:t>
            </a:r>
            <a:r>
              <a:rPr lang="de-DE" sz="1800" dirty="0" err="1" smtClean="0"/>
              <a:t>emittance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15</a:t>
            </a:fld>
            <a:endParaRPr lang="de-DE" altLang="en-US"/>
          </a:p>
        </p:txBody>
      </p:sp>
      <p:sp>
        <p:nvSpPr>
          <p:cNvPr id="13" name="Textfeld 18"/>
          <p:cNvSpPr txBox="1">
            <a:spLocks noChangeArrowheads="1"/>
          </p:cNvSpPr>
          <p:nvPr/>
        </p:nvSpPr>
        <p:spPr bwMode="auto">
          <a:xfrm>
            <a:off x="6687000" y="1182680"/>
            <a:ext cx="218842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L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4.8m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de-DE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(1.13 + 1.17+2.5m)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𝜀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68pmrad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-3.6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-1.5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𝜑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197.2°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𝜑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91.3°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2000" y="5544000"/>
            <a:ext cx="34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Cambria Math" panose="02040503050406030204" pitchFamily="18" charset="0"/>
              </a:rPr>
              <a:t>QD = -</a:t>
            </a:r>
            <a:r>
              <a:rPr lang="en-US" altLang="en-US" dirty="0" smtClean="0">
                <a:latin typeface="Cambria Math" panose="02040503050406030204" pitchFamily="18" charset="0"/>
              </a:rPr>
              <a:t>10.4   </a:t>
            </a:r>
            <a:r>
              <a:rPr lang="en-US" altLang="en-US" dirty="0">
                <a:latin typeface="Cambria Math" panose="02040503050406030204" pitchFamily="18" charset="0"/>
              </a:rPr>
              <a:t>1/m², </a:t>
            </a:r>
            <a:r>
              <a:rPr lang="en-US" altLang="en-US" dirty="0" smtClean="0">
                <a:latin typeface="Cambria Math" panose="02040503050406030204" pitchFamily="18" charset="0"/>
              </a:rPr>
              <a:t>   L=0.09m</a:t>
            </a:r>
            <a:endParaRPr lang="en-US" altLang="en-US" dirty="0">
              <a:latin typeface="Cambria Math" panose="02040503050406030204" pitchFamily="18" charset="0"/>
            </a:endParaRPr>
          </a:p>
          <a:p>
            <a:r>
              <a:rPr lang="en-US" altLang="en-US" dirty="0">
                <a:latin typeface="Cambria Math" panose="02040503050406030204" pitchFamily="18" charset="0"/>
              </a:rPr>
              <a:t>QF =   </a:t>
            </a:r>
            <a:r>
              <a:rPr lang="en-US" altLang="en-US" dirty="0" smtClean="0">
                <a:latin typeface="Cambria Math" panose="02040503050406030204" pitchFamily="18" charset="0"/>
              </a:rPr>
              <a:t>11.5    </a:t>
            </a:r>
            <a:r>
              <a:rPr lang="en-US" altLang="en-US" dirty="0">
                <a:latin typeface="Cambria Math" panose="02040503050406030204" pitchFamily="18" charset="0"/>
              </a:rPr>
              <a:t>1/m², </a:t>
            </a:r>
            <a:r>
              <a:rPr lang="en-US" altLang="en-US" dirty="0" smtClean="0">
                <a:latin typeface="Cambria Math" panose="02040503050406030204" pitchFamily="18" charset="0"/>
              </a:rPr>
              <a:t>  L=0.14m</a:t>
            </a:r>
            <a:endParaRPr lang="en-US" altLang="en-US" dirty="0">
              <a:latin typeface="Cambria Math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2000" y="5167669"/>
            <a:ext cx="34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 smtClean="0">
                <a:latin typeface="Cambria Math" panose="02040503050406030204" pitchFamily="18" charset="0"/>
              </a:rPr>
              <a:t>B0 </a:t>
            </a:r>
            <a:r>
              <a:rPr lang="en-US" altLang="en-US" dirty="0">
                <a:latin typeface="Cambria Math" panose="02040503050406030204" pitchFamily="18" charset="0"/>
              </a:rPr>
              <a:t>= </a:t>
            </a:r>
            <a:r>
              <a:rPr lang="en-US" altLang="en-US" dirty="0" smtClean="0">
                <a:latin typeface="Cambria Math" panose="02040503050406030204" pitchFamily="18" charset="0"/>
              </a:rPr>
              <a:t>2.275°,          L=0.23m</a:t>
            </a:r>
            <a:endParaRPr lang="en-US" altLang="en-US" dirty="0">
              <a:latin typeface="Cambria Math" panose="020405030504060302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2000" y="6164668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Drifts</a:t>
            </a:r>
            <a:r>
              <a:rPr lang="de-DE" dirty="0" smtClean="0"/>
              <a:t>: 0.1m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707000" y="5184000"/>
            <a:ext cx="342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 smtClean="0">
                <a:latin typeface="Cambria Math" panose="02040503050406030204" pitchFamily="18" charset="0"/>
              </a:rPr>
              <a:t>Q1 = -11.0   1/m²,       L=0.14m</a:t>
            </a:r>
          </a:p>
          <a:p>
            <a:r>
              <a:rPr lang="en-US" altLang="en-US" dirty="0" smtClean="0">
                <a:latin typeface="Cambria Math" panose="02040503050406030204" pitchFamily="18" charset="0"/>
              </a:rPr>
              <a:t>Q2 =  11.6    1/m²,       L=0.25m</a:t>
            </a:r>
          </a:p>
          <a:p>
            <a:r>
              <a:rPr lang="en-US" altLang="en-US" dirty="0" smtClean="0">
                <a:latin typeface="Cambria Math" panose="02040503050406030204" pitchFamily="18" charset="0"/>
              </a:rPr>
              <a:t>Q3 </a:t>
            </a:r>
            <a:r>
              <a:rPr lang="en-US" altLang="en-US" dirty="0">
                <a:latin typeface="Cambria Math" panose="02040503050406030204" pitchFamily="18" charset="0"/>
              </a:rPr>
              <a:t>= </a:t>
            </a:r>
            <a:r>
              <a:rPr lang="en-US" altLang="en-US" dirty="0" smtClean="0">
                <a:latin typeface="Cambria Math" panose="02040503050406030204" pitchFamily="18" charset="0"/>
              </a:rPr>
              <a:t>-8.7      </a:t>
            </a:r>
            <a:r>
              <a:rPr lang="en-US" altLang="en-US" dirty="0">
                <a:latin typeface="Cambria Math" panose="02040503050406030204" pitchFamily="18" charset="0"/>
              </a:rPr>
              <a:t>1/m², </a:t>
            </a:r>
            <a:r>
              <a:rPr lang="en-US" altLang="en-US" dirty="0" smtClean="0">
                <a:latin typeface="Cambria Math" panose="02040503050406030204" pitchFamily="18" charset="0"/>
              </a:rPr>
              <a:t>      L=0.12m</a:t>
            </a:r>
            <a:endParaRPr lang="en-US" altLang="en-US" dirty="0">
              <a:latin typeface="Cambria Math" panose="02040503050406030204" pitchFamily="18" charset="0"/>
            </a:endParaRPr>
          </a:p>
        </p:txBody>
      </p:sp>
      <p:sp>
        <p:nvSpPr>
          <p:cNvPr id="33" name="Textfeld 23"/>
          <p:cNvSpPr txBox="1">
            <a:spLocks noChangeArrowheads="1"/>
          </p:cNvSpPr>
          <p:nvPr/>
        </p:nvSpPr>
        <p:spPr bwMode="auto">
          <a:xfrm>
            <a:off x="5112000" y="3284538"/>
            <a:ext cx="387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 err="1">
                <a:solidFill>
                  <a:schemeClr val="tx1"/>
                </a:solidFill>
              </a:rPr>
              <a:t>x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34" name="Textfeld 51"/>
          <p:cNvSpPr txBox="1">
            <a:spLocks noChangeArrowheads="1"/>
          </p:cNvSpPr>
          <p:nvPr/>
        </p:nvSpPr>
        <p:spPr bwMode="auto">
          <a:xfrm>
            <a:off x="1557000" y="1494000"/>
            <a:ext cx="8854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 smtClean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altLang="en-US" sz="1800" b="0" baseline="-25000" dirty="0" err="1" smtClean="0">
                <a:solidFill>
                  <a:schemeClr val="tx1"/>
                </a:solidFill>
              </a:rPr>
              <a:t>x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35" name="Textfeld 42"/>
          <p:cNvSpPr txBox="1">
            <a:spLocks noChangeArrowheads="1"/>
          </p:cNvSpPr>
          <p:nvPr/>
        </p:nvSpPr>
        <p:spPr bwMode="auto">
          <a:xfrm>
            <a:off x="3576729" y="3895457"/>
            <a:ext cx="688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>
                <a:solidFill>
                  <a:schemeClr val="tx1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68150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059" y="166540"/>
            <a:ext cx="8229600" cy="439738"/>
          </a:xfrm>
        </p:spPr>
        <p:txBody>
          <a:bodyPr/>
          <a:lstStyle/>
          <a:p>
            <a:r>
              <a:rPr lang="en-US" sz="1800" dirty="0" smtClean="0"/>
              <a:t>Separated function,  6-bend  MBA with 18 straight sections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16</a:t>
            </a:fld>
            <a:endParaRPr lang="de-DE" altLang="en-US"/>
          </a:p>
        </p:txBody>
      </p:sp>
      <p:sp>
        <p:nvSpPr>
          <p:cNvPr id="13" name="Textfeld 18"/>
          <p:cNvSpPr txBox="1">
            <a:spLocks noChangeArrowheads="1"/>
          </p:cNvSpPr>
          <p:nvPr/>
        </p:nvSpPr>
        <p:spPr bwMode="auto">
          <a:xfrm>
            <a:off x="522000" y="5603671"/>
            <a:ext cx="9180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L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18.48m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	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-352		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Qx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54.33	</a:t>
            </a:r>
            <a:r>
              <a:rPr lang="en-US" altLang="en-US" sz="1800" b="0" dirty="0">
                <a:solidFill>
                  <a:schemeClr val="tx1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80pmrad 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de-DE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C = 332.64m	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-118	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Qy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12.17	</a:t>
            </a:r>
            <a:r>
              <a:rPr lang="en-US" altLang="en-US" sz="1800" b="0" dirty="0">
                <a:solidFill>
                  <a:schemeClr val="tx1"/>
                </a:solidFill>
                <a:latin typeface="Symbol" panose="05050102010706020507" pitchFamily="18" charset="2"/>
              </a:rPr>
              <a:t>a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1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e-6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de-DE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6 SX families : SD/SF in MBA cell, SD/SF in matching cell, S3,S4 in straight section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1959" y="887665"/>
            <a:ext cx="6237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Separated function,  6-bend  MBA with 18 straight sections: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31" y="1256997"/>
            <a:ext cx="7611537" cy="43440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69891" y="5649510"/>
            <a:ext cx="1641475" cy="615553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 smtClean="0"/>
              <a:t>TME:</a:t>
            </a:r>
          </a:p>
          <a:p>
            <a:r>
              <a:rPr lang="de-DE" sz="1600" dirty="0" smtClean="0"/>
              <a:t>2.15°,</a:t>
            </a:r>
            <a:r>
              <a:rPr lang="en-US" altLang="en-US" sz="1600" dirty="0">
                <a:latin typeface="Cambria Math" panose="02040503050406030204" pitchFamily="18" charset="0"/>
              </a:rPr>
              <a:t> 83pmrad</a:t>
            </a:r>
            <a:r>
              <a:rPr lang="de-DE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03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Dynamic </a:t>
            </a:r>
            <a:r>
              <a:rPr lang="en-US" sz="1800" dirty="0"/>
              <a:t>aperture 6-bend  </a:t>
            </a:r>
            <a:r>
              <a:rPr lang="en-US" sz="1800" dirty="0" smtClean="0"/>
              <a:t>MBA, 18 straights 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17</a:t>
            </a:fld>
            <a:endParaRPr lang="de-DE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52000" y="999000"/>
            <a:ext cx="58935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Dynamic Aperture – stage 0 – 1000 turns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 tune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Chromaticity tuned to +2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Manual variation of SF, SD in matching cell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OPA – optimization of amplitude dependent tune shift</a:t>
            </a:r>
          </a:p>
          <a:p>
            <a:r>
              <a:rPr lang="en-US" dirty="0" smtClean="0"/>
              <a:t>=&gt; Promising start for optimization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495" y="3294000"/>
            <a:ext cx="5575629" cy="35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93315" y="3708670"/>
            <a:ext cx="173637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@</a:t>
            </a:r>
            <a:r>
              <a:rPr lang="en-US" dirty="0"/>
              <a:t> center of </a:t>
            </a:r>
            <a:endParaRPr lang="en-US" dirty="0" smtClean="0"/>
          </a:p>
          <a:p>
            <a:r>
              <a:rPr lang="en-US" dirty="0" smtClean="0"/>
              <a:t>straight section</a:t>
            </a:r>
          </a:p>
          <a:p>
            <a:endParaRPr lang="de-DE" dirty="0"/>
          </a:p>
          <a:p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x</a:t>
            </a:r>
            <a:r>
              <a:rPr lang="de-DE" baseline="-25000" dirty="0" smtClean="0"/>
              <a:t> </a:t>
            </a:r>
            <a:r>
              <a:rPr lang="de-DE" dirty="0" smtClean="0"/>
              <a:t>= 6.2m</a:t>
            </a:r>
          </a:p>
          <a:p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y</a:t>
            </a:r>
            <a:r>
              <a:rPr lang="de-DE" baseline="-25000" dirty="0" smtClean="0"/>
              <a:t> </a:t>
            </a:r>
            <a:r>
              <a:rPr lang="de-DE" dirty="0"/>
              <a:t>= </a:t>
            </a:r>
            <a:r>
              <a:rPr lang="de-DE" dirty="0" smtClean="0"/>
              <a:t>0.6m</a:t>
            </a:r>
            <a:endParaRPr lang="en-US" baseline="-25000" dirty="0"/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83250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Variations of basic MBA - Lattice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18</a:t>
            </a:fld>
            <a:endParaRPr lang="de-DE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12000" y="999000"/>
            <a:ext cx="684674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 far (separated function magnet lattice):</a:t>
            </a:r>
          </a:p>
          <a:p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Procedure to develop MBA cell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simplest matching cell</a:t>
            </a:r>
          </a:p>
          <a:p>
            <a:pPr lvl="1"/>
            <a:r>
              <a:rPr lang="de-DE" dirty="0" smtClean="0"/>
              <a:t>=&gt; </a:t>
            </a:r>
            <a:r>
              <a:rPr lang="en-US" dirty="0" smtClean="0"/>
              <a:t>Lattice with satisfactory emittance, circumference &gt; 300m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00100" y="2699066"/>
            <a:ext cx="575670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Shorter </a:t>
            </a:r>
            <a:r>
              <a:rPr lang="en-US" dirty="0" smtClean="0"/>
              <a:t>circumference</a:t>
            </a:r>
            <a:r>
              <a:rPr lang="de-DE" dirty="0" smtClean="0"/>
              <a:t>?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MBA cell: can not be shortened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Matching cell: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AM-lattice: single quad in matching cell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JGH-lattice: two quadrupoles in straight section</a:t>
            </a:r>
          </a:p>
          <a:p>
            <a:pPr marL="742950" lvl="1" indent="-285750">
              <a:buFont typeface="Symbol" panose="05050102010706020507" pitchFamily="18" charset="2"/>
              <a:buChar char="Þ"/>
            </a:pPr>
            <a:r>
              <a:rPr lang="en-US" dirty="0" smtClean="0"/>
              <a:t>Loss of flexibility?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Length (some) straight section - &lt; 5m?</a:t>
            </a:r>
            <a:endParaRPr lang="en-US" dirty="0"/>
          </a:p>
        </p:txBody>
      </p:sp>
      <p:sp>
        <p:nvSpPr>
          <p:cNvPr id="8" name="Right Brace 7"/>
          <p:cNvSpPr/>
          <p:nvPr/>
        </p:nvSpPr>
        <p:spPr>
          <a:xfrm>
            <a:off x="6552000" y="3294000"/>
            <a:ext cx="90000" cy="56482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943405" y="3204000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(QL+0.1m)*36</a:t>
            </a:r>
          </a:p>
          <a:p>
            <a:r>
              <a:rPr lang="en-US" dirty="0" smtClean="0"/>
              <a:t> ~8m circ.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 flipH="1">
            <a:off x="845818" y="5049000"/>
            <a:ext cx="692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But: different combinations of MBA-cells and periods are feasible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62000" y="5617669"/>
            <a:ext cx="7571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Length of MBA-cell : </a:t>
            </a:r>
            <a:r>
              <a:rPr lang="en-US" dirty="0"/>
              <a:t>2.22m	 </a:t>
            </a:r>
            <a:r>
              <a:rPr lang="en-US" dirty="0" smtClean="0"/>
              <a:t>         =&gt; </a:t>
            </a:r>
            <a:r>
              <a:rPr lang="en-US" dirty="0"/>
              <a:t>18*MBA ~ </a:t>
            </a:r>
            <a:r>
              <a:rPr lang="en-US" dirty="0" smtClean="0"/>
              <a:t>40m</a:t>
            </a:r>
          </a:p>
          <a:p>
            <a:r>
              <a:rPr lang="en-US" dirty="0" smtClean="0"/>
              <a:t>Length of MBA-achromat :18.5m	          =&gt;  2 achromats ~ 40m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34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Changing the number of MBA-cells / arcs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19</a:t>
            </a:fld>
            <a:endParaRPr lang="de-DE" alt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343519"/>
              </p:ext>
            </p:extLst>
          </p:nvPr>
        </p:nvGraphicFramePr>
        <p:xfrm>
          <a:off x="797327" y="1044001"/>
          <a:ext cx="7779673" cy="4534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9624">
                  <a:extLst>
                    <a:ext uri="{9D8B030D-6E8A-4147-A177-3AD203B41FA5}">
                      <a16:colId xmlns:a16="http://schemas.microsoft.com/office/drawing/2014/main" val="1971273616"/>
                    </a:ext>
                  </a:extLst>
                </a:gridCol>
                <a:gridCol w="1339615">
                  <a:extLst>
                    <a:ext uri="{9D8B030D-6E8A-4147-A177-3AD203B41FA5}">
                      <a16:colId xmlns:a16="http://schemas.microsoft.com/office/drawing/2014/main" val="4111015750"/>
                    </a:ext>
                  </a:extLst>
                </a:gridCol>
                <a:gridCol w="1132207">
                  <a:extLst>
                    <a:ext uri="{9D8B030D-6E8A-4147-A177-3AD203B41FA5}">
                      <a16:colId xmlns:a16="http://schemas.microsoft.com/office/drawing/2014/main" val="893517194"/>
                    </a:ext>
                  </a:extLst>
                </a:gridCol>
                <a:gridCol w="1072617">
                  <a:extLst>
                    <a:ext uri="{9D8B030D-6E8A-4147-A177-3AD203B41FA5}">
                      <a16:colId xmlns:a16="http://schemas.microsoft.com/office/drawing/2014/main" val="3609498401"/>
                    </a:ext>
                  </a:extLst>
                </a:gridCol>
                <a:gridCol w="1105610">
                  <a:extLst>
                    <a:ext uri="{9D8B030D-6E8A-4147-A177-3AD203B41FA5}">
                      <a16:colId xmlns:a16="http://schemas.microsoft.com/office/drawing/2014/main" val="2921236950"/>
                    </a:ext>
                  </a:extLst>
                </a:gridCol>
              </a:tblGrid>
              <a:tr h="666901">
                <a:tc gridSpan="2">
                  <a:txBody>
                    <a:bodyPr/>
                    <a:lstStyle/>
                    <a:p>
                      <a:r>
                        <a:rPr lang="de-DE" dirty="0" smtClean="0"/>
                        <a:t>                                                              </a:t>
                      </a:r>
                    </a:p>
                    <a:p>
                      <a:r>
                        <a:rPr lang="de-DE" dirty="0" smtClean="0"/>
                        <a:t>                                                                Units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# achromats</a:t>
                      </a:r>
                      <a:endParaRPr lang="en-US" dirty="0"/>
                    </a:p>
                    <a:p>
                      <a:pPr algn="ctr"/>
                      <a:r>
                        <a:rPr lang="en-US" noProof="0" dirty="0" smtClean="0"/>
                        <a:t>  16</a:t>
                      </a:r>
                      <a:r>
                        <a:rPr lang="en-US" baseline="0" noProof="0" dirty="0" smtClean="0"/>
                        <a:t>          </a:t>
                      </a:r>
                      <a:r>
                        <a:rPr lang="de-DE" dirty="0" smtClean="0"/>
                        <a:t>      18</a:t>
                      </a:r>
                      <a:r>
                        <a:rPr lang="en-US" baseline="0" dirty="0" smtClean="0"/>
                        <a:t>                </a:t>
                      </a:r>
                      <a:r>
                        <a:rPr lang="de-DE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60155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Angle/arc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[°]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22.5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441302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MBA-cell/arc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5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632561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Half-dipoles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192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160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711885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Av. angle / half-dipole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[°]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1.875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437298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Angle</a:t>
                      </a:r>
                      <a:r>
                        <a:rPr lang="en-US" baseline="0" noProof="0" dirty="0" smtClean="0"/>
                        <a:t> </a:t>
                      </a:r>
                      <a:r>
                        <a:rPr lang="en-US" noProof="0" dirty="0" smtClean="0"/>
                        <a:t>main-dipole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[°]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2.0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351760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Angle reverse bend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[°]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-0.165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-0.175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-0.20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377358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Angle matching bend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[°]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2.075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2.275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80221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circumference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[m]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332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327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756561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Emittance (TME)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[pm rad]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66 (67)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80 (83)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112 (116)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681306"/>
                  </a:ext>
                </a:extLst>
              </a:tr>
              <a:tr h="575543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“Zeroth” </a:t>
                      </a:r>
                      <a:r>
                        <a:rPr lang="en-US" noProof="0" dirty="0" err="1" smtClean="0"/>
                        <a:t>dyn</a:t>
                      </a:r>
                      <a:r>
                        <a:rPr lang="en-US" noProof="0" dirty="0" smtClean="0"/>
                        <a:t>. aperture </a:t>
                      </a:r>
                      <a:r>
                        <a:rPr lang="en-US" baseline="0" noProof="0" dirty="0" smtClean="0"/>
                        <a:t> </a:t>
                      </a:r>
                      <a:r>
                        <a:rPr lang="en-US" noProof="0" dirty="0" err="1" smtClean="0"/>
                        <a:t>x,y</a:t>
                      </a:r>
                      <a:r>
                        <a:rPr lang="en-US" noProof="0" dirty="0" smtClean="0"/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[mm]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 4, 2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 2, 1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5, 2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31703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6372000" y="1314000"/>
            <a:ext cx="1125000" cy="426428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97327" y="3204000"/>
            <a:ext cx="7779673" cy="7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97327" y="4284000"/>
            <a:ext cx="7779673" cy="36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92000" y="4644000"/>
            <a:ext cx="7779673" cy="36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3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Changing the number of MBA-cells / arcs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20</a:t>
            </a:fld>
            <a:endParaRPr lang="de-DE" alt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275767"/>
              </p:ext>
            </p:extLst>
          </p:nvPr>
        </p:nvGraphicFramePr>
        <p:xfrm>
          <a:off x="797327" y="1044001"/>
          <a:ext cx="8004673" cy="4531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200">
                  <a:extLst>
                    <a:ext uri="{9D8B030D-6E8A-4147-A177-3AD203B41FA5}">
                      <a16:colId xmlns:a16="http://schemas.microsoft.com/office/drawing/2014/main" val="1971273616"/>
                    </a:ext>
                  </a:extLst>
                </a:gridCol>
                <a:gridCol w="1172925">
                  <a:extLst>
                    <a:ext uri="{9D8B030D-6E8A-4147-A177-3AD203B41FA5}">
                      <a16:colId xmlns:a16="http://schemas.microsoft.com/office/drawing/2014/main" val="411101575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893517194"/>
                    </a:ext>
                  </a:extLst>
                </a:gridCol>
                <a:gridCol w="939150">
                  <a:extLst>
                    <a:ext uri="{9D8B030D-6E8A-4147-A177-3AD203B41FA5}">
                      <a16:colId xmlns:a16="http://schemas.microsoft.com/office/drawing/2014/main" val="3609498401"/>
                    </a:ext>
                  </a:extLst>
                </a:gridCol>
                <a:gridCol w="1081073">
                  <a:extLst>
                    <a:ext uri="{9D8B030D-6E8A-4147-A177-3AD203B41FA5}">
                      <a16:colId xmlns:a16="http://schemas.microsoft.com/office/drawing/2014/main" val="292123695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89049178"/>
                    </a:ext>
                  </a:extLst>
                </a:gridCol>
              </a:tblGrid>
              <a:tr h="594737">
                <a:tc gridSpan="2">
                  <a:txBody>
                    <a:bodyPr/>
                    <a:lstStyle/>
                    <a:p>
                      <a:r>
                        <a:rPr lang="de-DE" dirty="0" smtClean="0"/>
                        <a:t>                                                              </a:t>
                      </a:r>
                    </a:p>
                    <a:p>
                      <a:r>
                        <a:rPr lang="de-DE" dirty="0" smtClean="0"/>
                        <a:t>                                                          Units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# achromats</a:t>
                      </a:r>
                      <a:endParaRPr lang="en-US" dirty="0"/>
                    </a:p>
                    <a:p>
                      <a:r>
                        <a:rPr lang="en-US" noProof="0" dirty="0" smtClean="0"/>
                        <a:t>     16</a:t>
                      </a:r>
                      <a:r>
                        <a:rPr lang="en-US" baseline="0" noProof="0" dirty="0" smtClean="0"/>
                        <a:t>          </a:t>
                      </a:r>
                      <a:r>
                        <a:rPr lang="de-DE" dirty="0" smtClean="0"/>
                        <a:t>      18</a:t>
                      </a:r>
                      <a:r>
                        <a:rPr lang="en-US" baseline="0" dirty="0" smtClean="0"/>
                        <a:t>              </a:t>
                      </a:r>
                      <a:r>
                        <a:rPr lang="de-DE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dirty="0" smtClean="0"/>
                    </a:p>
                    <a:p>
                      <a:pPr algn="ctr"/>
                      <a:r>
                        <a:rPr lang="de-DE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60155"/>
                  </a:ext>
                </a:extLst>
              </a:tr>
              <a:tr h="347311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Angle/arc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[°]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22.5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441302"/>
                  </a:ext>
                </a:extLst>
              </a:tr>
              <a:tr h="3473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MBA-cell/arc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5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632561"/>
                  </a:ext>
                </a:extLst>
              </a:tr>
              <a:tr h="3473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Half-dipoles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192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160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711885"/>
                  </a:ext>
                </a:extLst>
              </a:tr>
              <a:tr h="3473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Av. angle /half-dipole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[°]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1.875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437298"/>
                  </a:ext>
                </a:extLst>
              </a:tr>
              <a:tr h="3473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Angle/MBA-dipole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[°]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2.0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351760"/>
                  </a:ext>
                </a:extLst>
              </a:tr>
              <a:tr h="347311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Angle reverse bend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[°]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-0.165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-0.175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-0.20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-0.20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377358"/>
                  </a:ext>
                </a:extLst>
              </a:tr>
              <a:tr h="347311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Angle matching bend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[°]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2.075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2.275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80221"/>
                  </a:ext>
                </a:extLst>
              </a:tr>
              <a:tr h="347311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circumference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[m]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332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FF0000"/>
                          </a:solidFill>
                        </a:rPr>
                        <a:t>295</a:t>
                      </a:r>
                      <a:endParaRPr 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756561"/>
                  </a:ext>
                </a:extLst>
              </a:tr>
              <a:tr h="347311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Emittance (TME)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[pm rad]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66 (67)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80 (83)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112 (116)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118 (116)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681306"/>
                  </a:ext>
                </a:extLst>
              </a:tr>
              <a:tr h="599467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“Zeroth” </a:t>
                      </a:r>
                      <a:r>
                        <a:rPr lang="en-US" noProof="0" dirty="0" err="1" smtClean="0"/>
                        <a:t>dyn</a:t>
                      </a:r>
                      <a:r>
                        <a:rPr lang="en-US" noProof="0" dirty="0" smtClean="0"/>
                        <a:t>. aperture </a:t>
                      </a:r>
                      <a:r>
                        <a:rPr lang="en-US" baseline="0" noProof="0" dirty="0" smtClean="0"/>
                        <a:t> </a:t>
                      </a:r>
                      <a:r>
                        <a:rPr lang="en-US" noProof="0" dirty="0" err="1" smtClean="0"/>
                        <a:t>x,y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[mm]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 4, 2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 2, 1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5, 2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2.5, 2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31703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767000" y="1674001"/>
            <a:ext cx="945000" cy="390138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54227" y="1658385"/>
            <a:ext cx="945000" cy="391700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22000" y="6039000"/>
            <a:ext cx="848180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Lattice (</a:t>
            </a:r>
            <a:r>
              <a:rPr lang="en-US" dirty="0" err="1" smtClean="0"/>
              <a:t>sep.</a:t>
            </a:r>
            <a:r>
              <a:rPr lang="en-US" dirty="0" smtClean="0"/>
              <a:t> </a:t>
            </a:r>
            <a:r>
              <a:rPr lang="en-US" dirty="0" err="1" smtClean="0"/>
              <a:t>func</a:t>
            </a:r>
            <a:r>
              <a:rPr lang="en-US" dirty="0" smtClean="0"/>
              <a:t>. </a:t>
            </a:r>
            <a:r>
              <a:rPr lang="en-US" dirty="0"/>
              <a:t>m</a:t>
            </a:r>
            <a:r>
              <a:rPr lang="en-US" dirty="0" smtClean="0"/>
              <a:t>ag.) with a circumference ~300m has emittance &gt; 100pm rad.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44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Conclusions – MBA with separated function magnets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21</a:t>
            </a:fld>
            <a:endParaRPr lang="de-DE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90259" y="1767680"/>
            <a:ext cx="8238217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There are promising solutions of lattices without combined function magnets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Same </a:t>
            </a:r>
            <a:r>
              <a:rPr lang="en-US" dirty="0"/>
              <a:t>circumference </a:t>
            </a:r>
            <a:r>
              <a:rPr lang="en-US" dirty="0" smtClean="0"/>
              <a:t>allows for different combinations of # MBA-cells </a:t>
            </a:r>
          </a:p>
          <a:p>
            <a:pPr lvl="1"/>
            <a:r>
              <a:rPr lang="en-US" dirty="0" smtClean="0"/>
              <a:t>  and # achromats, with different emittance</a:t>
            </a:r>
          </a:p>
          <a:p>
            <a:endParaRPr lang="en-US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We can trade number of straight sections against emittance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 circumference of 300m seems not adequate for a goal emittance &lt;100pm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330-340m would be sufficient (+10-15%)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~370m  =&gt; ~45pmrad, 16 arcs, 6 MBA cells</a:t>
            </a:r>
          </a:p>
          <a:p>
            <a:pPr lvl="1"/>
            <a:endParaRPr lang="en-US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 smtClean="0"/>
              <a:t>Attention</a:t>
            </a:r>
            <a:r>
              <a:rPr lang="en-US" dirty="0" smtClean="0"/>
              <a:t>: +10 cm in MBA half-cell =&gt; +16-19m circumference !!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With technical realization, circumference will grow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17455" y="1134000"/>
            <a:ext cx="6199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Summary for lattices with  separated function magnets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4788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Longitudinal gradient bend 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22</a:t>
            </a:fld>
            <a:endParaRPr lang="de-DE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87000" y="1044000"/>
            <a:ext cx="5647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589C"/>
                </a:solidFill>
              </a:rPr>
              <a:t>Ignoring technical challenges – what could we reach?</a:t>
            </a:r>
            <a:endParaRPr lang="en-US" dirty="0">
              <a:solidFill>
                <a:srgbClr val="00589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2000" y="1584000"/>
            <a:ext cx="7507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Longitudinal gradient bends: reduce the emittance, same circumference</a:t>
            </a:r>
          </a:p>
          <a:p>
            <a:r>
              <a:rPr lang="en-US" dirty="0" smtClean="0"/>
              <a:t>Best candidate: </a:t>
            </a:r>
            <a:r>
              <a:rPr lang="en-US" b="1" dirty="0" smtClean="0"/>
              <a:t>lattice with 20 straights </a:t>
            </a:r>
            <a:r>
              <a:rPr lang="en-US" dirty="0" smtClean="0"/>
              <a:t>and 112pm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35"/>
          <a:stretch/>
        </p:blipFill>
        <p:spPr>
          <a:xfrm>
            <a:off x="3807000" y="2400999"/>
            <a:ext cx="2789684" cy="4185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24"/>
          <a:stretch/>
        </p:blipFill>
        <p:spPr>
          <a:xfrm>
            <a:off x="450149" y="2400999"/>
            <a:ext cx="2691472" cy="41275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02000" y="5589000"/>
            <a:ext cx="130035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lphaUcPeriod"/>
            </a:pPr>
            <a:r>
              <a:rPr lang="de-DE" dirty="0" smtClean="0"/>
              <a:t>Streun</a:t>
            </a:r>
          </a:p>
          <a:p>
            <a:r>
              <a:rPr lang="de-DE" dirty="0" smtClean="0"/>
              <a:t>OPA</a:t>
            </a:r>
          </a:p>
          <a:p>
            <a:r>
              <a:rPr lang="de-DE" dirty="0" smtClean="0"/>
              <a:t>LGB-editor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822000" y="2439000"/>
            <a:ext cx="229633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LBG-blocks:</a:t>
            </a:r>
          </a:p>
          <a:p>
            <a:r>
              <a:rPr lang="de-DE" dirty="0" smtClean="0"/>
              <a:t>1.05 cm</a:t>
            </a:r>
          </a:p>
          <a:p>
            <a:r>
              <a:rPr lang="de-DE" dirty="0" smtClean="0"/>
              <a:t>&lt; 2T</a:t>
            </a:r>
          </a:p>
          <a:p>
            <a:endParaRPr lang="de-DE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de-DE" dirty="0" smtClean="0"/>
              <a:t>Undulator type </a:t>
            </a:r>
          </a:p>
          <a:p>
            <a:r>
              <a:rPr lang="de-DE" dirty="0" err="1" smtClean="0"/>
              <a:t>dipole</a:t>
            </a:r>
            <a:endParaRPr lang="de-DE" dirty="0" smtClean="0"/>
          </a:p>
          <a:p>
            <a:endParaRPr lang="de-DE" dirty="0"/>
          </a:p>
          <a:p>
            <a:r>
              <a:rPr lang="de-DE" dirty="0" smtClean="0"/>
              <a:t>65 </a:t>
            </a:r>
            <a:r>
              <a:rPr lang="de-DE" dirty="0" err="1" smtClean="0"/>
              <a:t>pm</a:t>
            </a:r>
            <a:r>
              <a:rPr lang="de-DE" dirty="0" smtClean="0"/>
              <a:t> (116pm-TME)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5201842" y="5454000"/>
            <a:ext cx="1172826" cy="36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0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059" y="166540"/>
            <a:ext cx="8229600" cy="439738"/>
          </a:xfrm>
        </p:spPr>
        <p:txBody>
          <a:bodyPr/>
          <a:lstStyle/>
          <a:p>
            <a:r>
              <a:rPr lang="en-US" sz="1800" dirty="0" smtClean="0"/>
              <a:t>5-bend  MBA with  LGB main magnet, 20 straights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23</a:t>
            </a:fld>
            <a:endParaRPr lang="de-DE" altLang="en-US"/>
          </a:p>
        </p:txBody>
      </p:sp>
      <p:sp>
        <p:nvSpPr>
          <p:cNvPr id="13" name="Textfeld 18"/>
          <p:cNvSpPr txBox="1">
            <a:spLocks noChangeArrowheads="1"/>
          </p:cNvSpPr>
          <p:nvPr/>
        </p:nvSpPr>
        <p:spPr bwMode="auto">
          <a:xfrm>
            <a:off x="522000" y="5745670"/>
            <a:ext cx="8280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L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16.44m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	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-372		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Qx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50.1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            </a:t>
            </a:r>
            <a:r>
              <a:rPr lang="en-US" altLang="en-US" sz="1800" b="0" dirty="0" smtClean="0">
                <a:solidFill>
                  <a:srgbClr val="FF0000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1800" b="0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 </a:t>
            </a:r>
            <a:r>
              <a:rPr lang="en-US" altLang="en-US" sz="1800" b="0" dirty="0">
                <a:solidFill>
                  <a:srgbClr val="FF0000"/>
                </a:solidFill>
                <a:latin typeface="Cambria Math" panose="02040503050406030204" pitchFamily="18" charset="0"/>
              </a:rPr>
              <a:t>= </a:t>
            </a:r>
            <a:r>
              <a:rPr lang="en-US" altLang="en-US" sz="1800" b="0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65pmrad (56% TME)</a:t>
            </a:r>
            <a:endParaRPr lang="en-US" altLang="en-US" sz="1800" b="0" dirty="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de-DE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C = 328.8m	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-113	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Qy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12.5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            </a:t>
            </a:r>
            <a:r>
              <a:rPr lang="en-US" altLang="en-US" sz="1800" b="0" dirty="0" smtClean="0">
                <a:solidFill>
                  <a:srgbClr val="FF0000"/>
                </a:solidFill>
                <a:latin typeface="Symbol" panose="05050102010706020507" pitchFamily="18" charset="2"/>
              </a:rPr>
              <a:t>a</a:t>
            </a:r>
            <a:r>
              <a:rPr lang="en-US" altLang="en-US" sz="1800" b="0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 </a:t>
            </a:r>
            <a:r>
              <a:rPr lang="en-US" altLang="en-US" sz="1800" b="0" dirty="0">
                <a:solidFill>
                  <a:srgbClr val="FF0000"/>
                </a:solidFill>
                <a:latin typeface="Cambria Math" panose="02040503050406030204" pitchFamily="18" charset="0"/>
              </a:rPr>
              <a:t>= </a:t>
            </a:r>
            <a:r>
              <a:rPr lang="en-US" altLang="en-US" sz="1800" b="0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-1.5e-5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de-DE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1959" y="887665"/>
            <a:ext cx="4108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5-bend  MBA with 20 straight sections: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00" y="1371075"/>
            <a:ext cx="749617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28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Dynamic aperture 5 bend with LGB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24</a:t>
            </a:fld>
            <a:endParaRPr lang="de-DE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52000" y="999000"/>
            <a:ext cx="58935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Dynamic Aperture – stage 0 – 1000 </a:t>
            </a:r>
            <a:r>
              <a:rPr lang="en-US" dirty="0" smtClean="0"/>
              <a:t>turns</a:t>
            </a:r>
            <a:endParaRPr lang="en-US" dirty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 tune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Chromaticity tuned to +2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Manual variation of SF, SD in matching cell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OPA – optimization of amplitude dependent tune shift</a:t>
            </a:r>
          </a:p>
          <a:p>
            <a:r>
              <a:rPr lang="en-US" dirty="0" smtClean="0"/>
              <a:t>=&gt; Promising start for optimization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000" y="3339000"/>
            <a:ext cx="4680000" cy="34285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93315" y="3708670"/>
            <a:ext cx="173637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@</a:t>
            </a:r>
            <a:r>
              <a:rPr lang="en-US" dirty="0"/>
              <a:t> center of </a:t>
            </a:r>
            <a:endParaRPr lang="en-US" dirty="0" smtClean="0"/>
          </a:p>
          <a:p>
            <a:r>
              <a:rPr lang="en-US" dirty="0" smtClean="0"/>
              <a:t>straight section</a:t>
            </a:r>
          </a:p>
          <a:p>
            <a:endParaRPr lang="de-DE" dirty="0"/>
          </a:p>
          <a:p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x</a:t>
            </a:r>
            <a:r>
              <a:rPr lang="de-DE" baseline="-25000" dirty="0" smtClean="0"/>
              <a:t> </a:t>
            </a:r>
            <a:r>
              <a:rPr lang="de-DE" dirty="0" smtClean="0"/>
              <a:t>= 9.6m</a:t>
            </a:r>
          </a:p>
          <a:p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y</a:t>
            </a:r>
            <a:r>
              <a:rPr lang="de-DE" baseline="-25000" dirty="0" smtClean="0"/>
              <a:t> </a:t>
            </a:r>
            <a:r>
              <a:rPr lang="de-DE" dirty="0"/>
              <a:t>= </a:t>
            </a:r>
            <a:r>
              <a:rPr lang="de-DE" dirty="0" smtClean="0"/>
              <a:t>0.6m</a:t>
            </a:r>
            <a:endParaRPr lang="en-US" baseline="-25000" dirty="0"/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07883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Bends with transverse Gradient – Option 1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25</a:t>
            </a:fld>
            <a:endParaRPr lang="de-DE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77000" y="2460670"/>
            <a:ext cx="60195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A:	Combine QD with main bend </a:t>
            </a:r>
          </a:p>
          <a:p>
            <a:r>
              <a:rPr lang="en-US" dirty="0" smtClean="0"/>
              <a:t>	=&gt; considerable increase in length of main bend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7000" y="1044000"/>
            <a:ext cx="5647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589C"/>
                </a:solidFill>
              </a:rPr>
              <a:t>Ignoring technical challenges – what could we reach?</a:t>
            </a:r>
            <a:endParaRPr lang="en-US" dirty="0">
              <a:solidFill>
                <a:srgbClr val="00589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2000" y="1584000"/>
            <a:ext cx="87232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Transverse gradient bends: reduce the emittance (damping partition number </a:t>
            </a:r>
            <a:r>
              <a:rPr lang="en-US" dirty="0" err="1" smtClean="0"/>
              <a:t>Jx</a:t>
            </a:r>
            <a:r>
              <a:rPr lang="en-US" dirty="0" smtClean="0"/>
              <a:t> &gt; 1)</a:t>
            </a:r>
          </a:p>
          <a:p>
            <a:r>
              <a:rPr lang="en-US" dirty="0" smtClean="0"/>
              <a:t>Can reduce the circumference (combined magnets)</a:t>
            </a:r>
          </a:p>
          <a:p>
            <a:r>
              <a:rPr lang="en-US" dirty="0" smtClean="0"/>
              <a:t>Best candidate: </a:t>
            </a:r>
            <a:r>
              <a:rPr lang="en-US" b="1" dirty="0" smtClean="0"/>
              <a:t>lattice with 16 straights </a:t>
            </a:r>
            <a:r>
              <a:rPr lang="en-US" dirty="0" smtClean="0"/>
              <a:t>and 66pm and C=332m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22000" y="3609000"/>
            <a:ext cx="4905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Half main bend </a:t>
            </a:r>
            <a:r>
              <a:rPr lang="en-US" dirty="0"/>
              <a:t>:		   </a:t>
            </a:r>
            <a:r>
              <a:rPr lang="en-US" dirty="0" smtClean="0">
                <a:solidFill>
                  <a:srgbClr val="00589C"/>
                </a:solidFill>
              </a:rPr>
              <a:t>combined </a:t>
            </a:r>
            <a:r>
              <a:rPr lang="en-US" dirty="0" err="1" smtClean="0">
                <a:solidFill>
                  <a:srgbClr val="00589C"/>
                </a:solidFill>
              </a:rPr>
              <a:t>funct</a:t>
            </a:r>
            <a:r>
              <a:rPr lang="en-US" dirty="0" smtClean="0"/>
              <a:t>. :</a:t>
            </a:r>
          </a:p>
          <a:p>
            <a:r>
              <a:rPr lang="en-US" dirty="0" smtClean="0"/>
              <a:t>2.0°, 22cm, 1.32T           =&gt;   38cm,  0.764T</a:t>
            </a:r>
          </a:p>
          <a:p>
            <a:r>
              <a:rPr lang="en-US" dirty="0" smtClean="0"/>
              <a:t>					</a:t>
            </a:r>
          </a:p>
          <a:p>
            <a:r>
              <a:rPr lang="en-US" dirty="0" smtClean="0"/>
              <a:t>QD:</a:t>
            </a:r>
          </a:p>
          <a:p>
            <a:r>
              <a:rPr lang="en-US" dirty="0" smtClean="0"/>
              <a:t>11.2 1/m², 9cm, 93 T/m   =&gt;   38cm, 22T/m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568839" y="3699000"/>
            <a:ext cx="350316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rgbClr val="00589C"/>
                </a:solidFill>
              </a:rPr>
              <a:t>ALS-U, B2:  0.848T, 47T/m</a:t>
            </a:r>
          </a:p>
          <a:p>
            <a:endParaRPr lang="en-US" i="1" dirty="0" smtClean="0">
              <a:solidFill>
                <a:srgbClr val="00589C"/>
              </a:solidFill>
            </a:endParaRPr>
          </a:p>
          <a:p>
            <a:r>
              <a:rPr lang="en-US" i="1" dirty="0" err="1" smtClean="0">
                <a:solidFill>
                  <a:srgbClr val="00589C"/>
                </a:solidFill>
              </a:rPr>
              <a:t>Elettra</a:t>
            </a:r>
            <a:r>
              <a:rPr lang="en-US" i="1" dirty="0" smtClean="0">
                <a:solidFill>
                  <a:srgbClr val="00589C"/>
                </a:solidFill>
              </a:rPr>
              <a:t>, BF2:  0.790T, 13.5 T/m</a:t>
            </a:r>
          </a:p>
          <a:p>
            <a:r>
              <a:rPr lang="en-US" sz="1600" i="1" dirty="0" smtClean="0">
                <a:solidFill>
                  <a:srgbClr val="00589C"/>
                </a:solidFill>
              </a:rPr>
              <a:t>P. Schnizer, „</a:t>
            </a:r>
            <a:r>
              <a:rPr lang="en-US" sz="1600" i="1" dirty="0" err="1" smtClean="0">
                <a:solidFill>
                  <a:srgbClr val="00589C"/>
                </a:solidFill>
              </a:rPr>
              <a:t>Multibend</a:t>
            </a:r>
            <a:r>
              <a:rPr lang="en-US" sz="1600" i="1" dirty="0" smtClean="0">
                <a:solidFill>
                  <a:srgbClr val="00589C"/>
                </a:solidFill>
              </a:rPr>
              <a:t> achromat lattice magnets - An overview”</a:t>
            </a:r>
            <a:endParaRPr lang="en-US" sz="1600" i="1" dirty="0">
              <a:solidFill>
                <a:srgbClr val="00589C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000" y="5409000"/>
            <a:ext cx="7359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QD+drift+bend</a:t>
            </a:r>
            <a:r>
              <a:rPr lang="en-US" dirty="0" smtClean="0"/>
              <a:t> = 41cm  =&gt;   38cm / MBA half cell, 4.8m circumference</a:t>
            </a:r>
          </a:p>
          <a:p>
            <a:endParaRPr lang="en-US" dirty="0" smtClean="0"/>
          </a:p>
        </p:txBody>
      </p:sp>
      <p:sp>
        <p:nvSpPr>
          <p:cNvPr id="3" name="Rectangle 2"/>
          <p:cNvSpPr/>
          <p:nvPr/>
        </p:nvSpPr>
        <p:spPr>
          <a:xfrm>
            <a:off x="3492000" y="3609000"/>
            <a:ext cx="1845000" cy="14773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3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26</a:t>
            </a:fld>
            <a:endParaRPr lang="de-DE" altLang="en-US"/>
          </a:p>
        </p:txBody>
      </p:sp>
      <p:sp>
        <p:nvSpPr>
          <p:cNvPr id="9" name="Rectangle 8"/>
          <p:cNvSpPr/>
          <p:nvPr/>
        </p:nvSpPr>
        <p:spPr>
          <a:xfrm>
            <a:off x="432000" y="1224000"/>
            <a:ext cx="706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B:	Combine QF with reverse </a:t>
            </a:r>
            <a:r>
              <a:rPr lang="en-US" dirty="0" smtClean="0"/>
              <a:t>bend by displacement </a:t>
            </a:r>
            <a:endParaRPr lang="en-US" dirty="0"/>
          </a:p>
          <a:p>
            <a:r>
              <a:rPr lang="en-US" dirty="0"/>
              <a:t>	=&gt; increase in length of </a:t>
            </a:r>
            <a:r>
              <a:rPr lang="en-US" dirty="0" smtClean="0"/>
              <a:t>(displaced) </a:t>
            </a:r>
            <a:r>
              <a:rPr lang="en-US" dirty="0"/>
              <a:t>QF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000" y="2349000"/>
            <a:ext cx="4905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589C"/>
                </a:solidFill>
              </a:rPr>
              <a:t>Reverse bend :</a:t>
            </a:r>
          </a:p>
          <a:p>
            <a:r>
              <a:rPr lang="en-US" dirty="0" smtClean="0"/>
              <a:t>-0.165°, 5cm, 0.48T           =&gt;  16cm,  0.15T</a:t>
            </a:r>
          </a:p>
          <a:p>
            <a:r>
              <a:rPr lang="en-US" dirty="0" smtClean="0"/>
              <a:t>					</a:t>
            </a:r>
          </a:p>
          <a:p>
            <a:r>
              <a:rPr lang="en-US" dirty="0" smtClean="0">
                <a:solidFill>
                  <a:srgbClr val="00589C"/>
                </a:solidFill>
              </a:rPr>
              <a:t>QF:</a:t>
            </a:r>
          </a:p>
          <a:p>
            <a:r>
              <a:rPr lang="en-US" dirty="0" smtClean="0"/>
              <a:t>11.2 /m², 14cm, 93 T/m</a:t>
            </a:r>
            <a:r>
              <a:rPr lang="en-US" dirty="0"/>
              <a:t> </a:t>
            </a:r>
            <a:r>
              <a:rPr lang="en-US" dirty="0" smtClean="0"/>
              <a:t>     =&gt;  16cm, 81T/m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472000" y="2484000"/>
            <a:ext cx="350316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589C"/>
                </a:solidFill>
              </a:rPr>
              <a:t>ALS-U, QF5:  0.164T, 105T/m</a:t>
            </a:r>
          </a:p>
          <a:p>
            <a:endParaRPr lang="en-US" dirty="0" smtClean="0">
              <a:solidFill>
                <a:srgbClr val="00589C"/>
              </a:solidFill>
            </a:endParaRPr>
          </a:p>
          <a:p>
            <a:r>
              <a:rPr lang="en-US" dirty="0" smtClean="0">
                <a:solidFill>
                  <a:srgbClr val="00589C"/>
                </a:solidFill>
              </a:rPr>
              <a:t>SLS-2, AN:  0.4T, 30 T/m</a:t>
            </a:r>
          </a:p>
          <a:p>
            <a:r>
              <a:rPr lang="en-US" sz="1600" dirty="0" smtClean="0">
                <a:solidFill>
                  <a:srgbClr val="00589C"/>
                </a:solidFill>
              </a:rPr>
              <a:t>P. Schnizer, „</a:t>
            </a:r>
            <a:r>
              <a:rPr lang="en-US" sz="1600" dirty="0" err="1" smtClean="0">
                <a:solidFill>
                  <a:srgbClr val="00589C"/>
                </a:solidFill>
              </a:rPr>
              <a:t>Multibend</a:t>
            </a:r>
            <a:r>
              <a:rPr lang="en-US" sz="1600" dirty="0" smtClean="0">
                <a:solidFill>
                  <a:srgbClr val="00589C"/>
                </a:solidFill>
              </a:rPr>
              <a:t> achromat lattice magnets - An overview”</a:t>
            </a:r>
            <a:endParaRPr lang="en-US" sz="1600" dirty="0">
              <a:solidFill>
                <a:srgbClr val="00589C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000" y="4319668"/>
            <a:ext cx="7552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QF+drift+RB</a:t>
            </a:r>
            <a:r>
              <a:rPr lang="en-US" dirty="0" smtClean="0"/>
              <a:t> = 29cm  =&gt;   16cm / MBA half cell, 20.8m circumference (!)</a:t>
            </a:r>
          </a:p>
          <a:p>
            <a:endParaRPr lang="de-DE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Bends with transverse Gradient – </a:t>
            </a:r>
            <a:r>
              <a:rPr lang="en-US" sz="1800" smtClean="0"/>
              <a:t>Option 2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6190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7-bend  </a:t>
            </a:r>
            <a:r>
              <a:rPr lang="en-US" sz="1800" dirty="0"/>
              <a:t>MBA with </a:t>
            </a:r>
            <a:r>
              <a:rPr lang="en-US" sz="1800" dirty="0" smtClean="0"/>
              <a:t> displaced QF and 16 </a:t>
            </a:r>
            <a:r>
              <a:rPr lang="en-US" sz="1800" dirty="0"/>
              <a:t>straight sections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27</a:t>
            </a:fld>
            <a:endParaRPr lang="de-DE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15" y="1629000"/>
            <a:ext cx="7478169" cy="3700217"/>
          </a:xfrm>
          <a:prstGeom prst="rect">
            <a:avLst/>
          </a:prstGeom>
        </p:spPr>
      </p:pic>
      <p:sp>
        <p:nvSpPr>
          <p:cNvPr id="12" name="Textfeld 18"/>
          <p:cNvSpPr txBox="1">
            <a:spLocks noChangeArrowheads="1"/>
          </p:cNvSpPr>
          <p:nvPr/>
        </p:nvSpPr>
        <p:spPr bwMode="auto">
          <a:xfrm>
            <a:off x="522000" y="5634000"/>
            <a:ext cx="8280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L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19.22m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	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-360		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Qx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54.4              </a:t>
            </a:r>
            <a:r>
              <a:rPr lang="en-US" altLang="en-US" sz="1800" b="0" dirty="0" smtClean="0">
                <a:solidFill>
                  <a:srgbClr val="FF0000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1800" b="0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 </a:t>
            </a:r>
            <a:r>
              <a:rPr lang="en-US" altLang="en-US" sz="1800" b="0" dirty="0">
                <a:solidFill>
                  <a:srgbClr val="FF0000"/>
                </a:solidFill>
                <a:latin typeface="Cambria Math" panose="02040503050406030204" pitchFamily="18" charset="0"/>
              </a:rPr>
              <a:t>= </a:t>
            </a:r>
            <a:r>
              <a:rPr lang="en-US" altLang="en-US" sz="1800" b="0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52pmrad (78% TME)</a:t>
            </a:r>
            <a:endParaRPr lang="en-US" altLang="en-US" sz="1800" b="0" dirty="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de-DE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C = 307.5m	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-110	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Qy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5.4                </a:t>
            </a:r>
            <a:r>
              <a:rPr lang="en-US" altLang="en-US" sz="18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a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3e-6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7000" y="6309000"/>
            <a:ext cx="6253635" cy="369332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Displaced QF =&gt; emittance ok and circumference ok, </a:t>
            </a:r>
            <a:r>
              <a:rPr lang="en-US" altLang="en-US" dirty="0" smtClean="0">
                <a:latin typeface="Symbol" panose="05050102010706020507" pitchFamily="18" charset="2"/>
              </a:rPr>
              <a:t>a &gt; 0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81959" y="887665"/>
            <a:ext cx="4108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7-bend  MBA with 16 straight sections: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09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Dynamic aperture 7 bend with displaced QF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28</a:t>
            </a:fld>
            <a:endParaRPr lang="de-DE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52000" y="999000"/>
            <a:ext cx="58935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Dynamic Aperture – stage 0 – 1000 </a:t>
            </a:r>
            <a:r>
              <a:rPr lang="en-US" dirty="0" smtClean="0"/>
              <a:t>turns</a:t>
            </a:r>
            <a:endParaRPr lang="en-US" dirty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 tune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Chromaticity tuned to +2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Manual variation of SF, SD in matching cell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OPA – optimization of amplitude dependent tune shift</a:t>
            </a:r>
          </a:p>
          <a:p>
            <a:r>
              <a:rPr lang="en-US" dirty="0" smtClean="0"/>
              <a:t>=&gt; Promising start for optimization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001" y="3294000"/>
            <a:ext cx="4993535" cy="31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93315" y="3708670"/>
            <a:ext cx="173637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@</a:t>
            </a:r>
            <a:r>
              <a:rPr lang="en-US" dirty="0"/>
              <a:t> center of </a:t>
            </a:r>
            <a:endParaRPr lang="en-US" dirty="0" smtClean="0"/>
          </a:p>
          <a:p>
            <a:r>
              <a:rPr lang="en-US" dirty="0" smtClean="0"/>
              <a:t>straight section</a:t>
            </a:r>
          </a:p>
          <a:p>
            <a:endParaRPr lang="de-DE" dirty="0"/>
          </a:p>
          <a:p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x</a:t>
            </a:r>
            <a:r>
              <a:rPr lang="de-DE" baseline="-25000" dirty="0" smtClean="0"/>
              <a:t> </a:t>
            </a:r>
            <a:r>
              <a:rPr lang="de-DE" dirty="0" smtClean="0"/>
              <a:t>= 17.7m</a:t>
            </a:r>
          </a:p>
          <a:p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y</a:t>
            </a:r>
            <a:r>
              <a:rPr lang="de-DE" baseline="-25000" dirty="0" smtClean="0"/>
              <a:t> </a:t>
            </a:r>
            <a:r>
              <a:rPr lang="de-DE" dirty="0"/>
              <a:t>= </a:t>
            </a:r>
            <a:r>
              <a:rPr lang="de-DE" dirty="0" smtClean="0"/>
              <a:t>7.8m</a:t>
            </a:r>
            <a:endParaRPr lang="en-US" baseline="-25000" dirty="0"/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29202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5-bend  </a:t>
            </a:r>
            <a:r>
              <a:rPr lang="en-US" sz="1800" dirty="0"/>
              <a:t>MBA with  </a:t>
            </a:r>
            <a:r>
              <a:rPr lang="en-US" sz="1800" dirty="0" smtClean="0"/>
              <a:t>LGB, displaced </a:t>
            </a:r>
            <a:r>
              <a:rPr lang="en-US" sz="1800" dirty="0"/>
              <a:t>QF and </a:t>
            </a:r>
            <a:r>
              <a:rPr lang="en-US" sz="1800" dirty="0" smtClean="0"/>
              <a:t>20 </a:t>
            </a:r>
            <a:r>
              <a:rPr lang="en-US" sz="1800" dirty="0"/>
              <a:t>straight sections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29</a:t>
            </a:fld>
            <a:endParaRPr lang="de-DE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224000"/>
            <a:ext cx="7543800" cy="4400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2000" y="819000"/>
            <a:ext cx="4108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r>
              <a:rPr lang="en-US" dirty="0" smtClean="0"/>
              <a:t>-bend  MBA with 20 straight sections:</a:t>
            </a:r>
            <a:endParaRPr lang="en-US" dirty="0"/>
          </a:p>
        </p:txBody>
      </p:sp>
      <p:sp>
        <p:nvSpPr>
          <p:cNvPr id="8" name="Textfeld 18"/>
          <p:cNvSpPr txBox="1">
            <a:spLocks noChangeArrowheads="1"/>
          </p:cNvSpPr>
          <p:nvPr/>
        </p:nvSpPr>
        <p:spPr bwMode="auto">
          <a:xfrm>
            <a:off x="522000" y="5634000"/>
            <a:ext cx="8280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L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15.86m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	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-389		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Qx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50.2              </a:t>
            </a:r>
            <a:r>
              <a:rPr lang="en-US" altLang="en-US" sz="1800" b="0" dirty="0" smtClean="0">
                <a:solidFill>
                  <a:srgbClr val="FF0000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1800" b="0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 </a:t>
            </a:r>
            <a:r>
              <a:rPr lang="en-US" altLang="en-US" sz="1800" b="0" dirty="0">
                <a:solidFill>
                  <a:srgbClr val="FF0000"/>
                </a:solidFill>
                <a:latin typeface="Cambria Math" panose="02040503050406030204" pitchFamily="18" charset="0"/>
              </a:rPr>
              <a:t>= </a:t>
            </a:r>
            <a:r>
              <a:rPr lang="en-US" altLang="en-US" sz="1800" b="0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54pmrad (46% TME)</a:t>
            </a:r>
            <a:endParaRPr lang="en-US" altLang="en-US" sz="1800" b="0" dirty="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de-DE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C = 317.2m	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-110	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Qy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12.3              </a:t>
            </a:r>
            <a:r>
              <a:rPr lang="en-US" altLang="en-US" sz="1800" b="0" dirty="0" smtClean="0">
                <a:solidFill>
                  <a:srgbClr val="FF0000"/>
                </a:solidFill>
                <a:latin typeface="Symbol" panose="05050102010706020507" pitchFamily="18" charset="2"/>
              </a:rPr>
              <a:t>a</a:t>
            </a:r>
            <a:r>
              <a:rPr lang="en-US" altLang="en-US" sz="1800" b="0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 </a:t>
            </a:r>
            <a:r>
              <a:rPr lang="en-US" altLang="en-US" sz="1800" b="0" dirty="0">
                <a:solidFill>
                  <a:srgbClr val="FF0000"/>
                </a:solidFill>
                <a:latin typeface="Cambria Math" panose="02040503050406030204" pitchFamily="18" charset="0"/>
              </a:rPr>
              <a:t>= </a:t>
            </a:r>
            <a:r>
              <a:rPr lang="en-US" altLang="en-US" sz="1800" b="0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-1.4e-5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000" y="6309000"/>
            <a:ext cx="7973658" cy="369332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LGB and displaced QF =&gt; emittance ok and circumference ok, </a:t>
            </a:r>
            <a:r>
              <a:rPr lang="en-US" altLang="en-US" dirty="0" smtClean="0"/>
              <a:t>20 straights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62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Dynamic aperture 5 bend with LGB and </a:t>
            </a:r>
            <a:r>
              <a:rPr lang="en-US" sz="1800" dirty="0" err="1" smtClean="0"/>
              <a:t>displ</a:t>
            </a:r>
            <a:r>
              <a:rPr lang="en-US" sz="1800" dirty="0" smtClean="0"/>
              <a:t>. QF 20 straights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30</a:t>
            </a:fld>
            <a:endParaRPr lang="de-DE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52000" y="909000"/>
            <a:ext cx="58935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Dynamic Aperture – stage 0 – 1000 </a:t>
            </a:r>
            <a:r>
              <a:rPr lang="en-US" dirty="0" smtClean="0"/>
              <a:t>turns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 tune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Chromaticity tuned to +2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Manual variation of SF, SD in matching cell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OPA – optimization of amplitude dependent tune shift</a:t>
            </a:r>
          </a:p>
          <a:p>
            <a:r>
              <a:rPr lang="en-US" dirty="0" smtClean="0"/>
              <a:t>=&gt; Promising start for optimization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01" y="3069000"/>
            <a:ext cx="5580000" cy="36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7000" y="3708670"/>
            <a:ext cx="173637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@</a:t>
            </a:r>
            <a:r>
              <a:rPr lang="en-US" dirty="0"/>
              <a:t> center of </a:t>
            </a:r>
            <a:endParaRPr lang="en-US" dirty="0" smtClean="0"/>
          </a:p>
          <a:p>
            <a:r>
              <a:rPr lang="en-US" dirty="0" smtClean="0"/>
              <a:t>straight section</a:t>
            </a:r>
          </a:p>
          <a:p>
            <a:endParaRPr lang="de-DE" dirty="0"/>
          </a:p>
          <a:p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x</a:t>
            </a:r>
            <a:r>
              <a:rPr lang="de-DE" baseline="-25000" dirty="0" smtClean="0"/>
              <a:t> </a:t>
            </a:r>
            <a:r>
              <a:rPr lang="de-DE" dirty="0" smtClean="0"/>
              <a:t>= 8.8m</a:t>
            </a:r>
          </a:p>
          <a:p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y</a:t>
            </a:r>
            <a:r>
              <a:rPr lang="de-DE" baseline="-25000" dirty="0" smtClean="0"/>
              <a:t> </a:t>
            </a:r>
            <a:r>
              <a:rPr lang="de-DE" dirty="0"/>
              <a:t>= </a:t>
            </a:r>
            <a:r>
              <a:rPr lang="de-DE" dirty="0" smtClean="0"/>
              <a:t>0.6m</a:t>
            </a:r>
            <a:endParaRPr lang="en-US" baseline="-25000" dirty="0"/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06168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Summary I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31</a:t>
            </a:fld>
            <a:endParaRPr lang="de-DE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67203" y="684000"/>
            <a:ext cx="8398453" cy="45550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„</a:t>
            </a:r>
            <a:r>
              <a:rPr lang="en-US" dirty="0" smtClean="0"/>
              <a:t>Take- home“ messages: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Number of straight sections does not necessarily correlate with circumference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dirty="0" smtClean="0"/>
              <a:t># </a:t>
            </a:r>
            <a:r>
              <a:rPr lang="en-US" dirty="0" smtClean="0"/>
              <a:t>MBA-cells </a:t>
            </a:r>
            <a:r>
              <a:rPr lang="en-US" dirty="0" smtClean="0">
                <a:sym typeface="Wingdings" panose="05000000000000000000" pitchFamily="2" charset="2"/>
              </a:rPr>
              <a:t> # periods</a:t>
            </a:r>
            <a:endParaRPr lang="en-US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Using only separated function magnets is an option,</a:t>
            </a:r>
          </a:p>
          <a:p>
            <a:r>
              <a:rPr lang="en-US" dirty="0" smtClean="0"/>
              <a:t>	then, emittance correlates with number of straights (# bends)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Using </a:t>
            </a:r>
            <a:r>
              <a:rPr lang="en-US" dirty="0" smtClean="0"/>
              <a:t>a longitudinal gradient bend as main bend (LGB)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‚undulator-type‘ dipole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drastically reduce the emittance (56% of TME)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lead to negative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baseline="-25000" dirty="0" smtClean="0">
                <a:latin typeface="Symbol" panose="05050102010706020507" pitchFamily="18" charset="2"/>
              </a:rPr>
              <a:t>0</a:t>
            </a:r>
            <a:endParaRPr lang="en-US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Using </a:t>
            </a:r>
            <a:r>
              <a:rPr lang="en-US" dirty="0" smtClean="0"/>
              <a:t>transverse gradient bends (displaced QF quadrupole) (TGB)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reduce the circumference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reduce the emittance (78% of TME)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LGB and TGB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even smaller emittance (45% of TME) and negative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baseline="-25000" dirty="0" smtClean="0">
                <a:latin typeface="Symbol" panose="05050102010706020507" pitchFamily="18" charset="2"/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4987" y="5480002"/>
            <a:ext cx="6782626" cy="646331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=&gt; Using advanced magnet technology allows to achieve ~54pm</a:t>
            </a:r>
          </a:p>
          <a:p>
            <a:pPr algn="ctr"/>
            <a:r>
              <a:rPr lang="en-US" dirty="0" smtClean="0"/>
              <a:t>emittance with 20 periods on 320m circumference!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7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Summary II: Prototype  lattice  comparison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32</a:t>
            </a:fld>
            <a:endParaRPr lang="de-DE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168873"/>
              </p:ext>
            </p:extLst>
          </p:nvPr>
        </p:nvGraphicFramePr>
        <p:xfrm>
          <a:off x="800100" y="1383956"/>
          <a:ext cx="7731900" cy="3977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09697">
                  <a:extLst>
                    <a:ext uri="{9D8B030D-6E8A-4147-A177-3AD203B41FA5}">
                      <a16:colId xmlns:a16="http://schemas.microsoft.com/office/drawing/2014/main" val="3005706647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341124361"/>
                    </a:ext>
                  </a:extLst>
                </a:gridCol>
                <a:gridCol w="1045967">
                  <a:extLst>
                    <a:ext uri="{9D8B030D-6E8A-4147-A177-3AD203B41FA5}">
                      <a16:colId xmlns:a16="http://schemas.microsoft.com/office/drawing/2014/main" val="1291575576"/>
                    </a:ext>
                  </a:extLst>
                </a:gridCol>
                <a:gridCol w="1331231">
                  <a:extLst>
                    <a:ext uri="{9D8B030D-6E8A-4147-A177-3AD203B41FA5}">
                      <a16:colId xmlns:a16="http://schemas.microsoft.com/office/drawing/2014/main" val="557102840"/>
                    </a:ext>
                  </a:extLst>
                </a:gridCol>
                <a:gridCol w="1473863">
                  <a:extLst>
                    <a:ext uri="{9D8B030D-6E8A-4147-A177-3AD203B41FA5}">
                      <a16:colId xmlns:a16="http://schemas.microsoft.com/office/drawing/2014/main" val="260990233"/>
                    </a:ext>
                  </a:extLst>
                </a:gridCol>
                <a:gridCol w="1084302">
                  <a:extLst>
                    <a:ext uri="{9D8B030D-6E8A-4147-A177-3AD203B41FA5}">
                      <a16:colId xmlns:a16="http://schemas.microsoft.com/office/drawing/2014/main" val="3067478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 smtClean="0"/>
                        <a:t>magnet</a:t>
                      </a:r>
                      <a:r>
                        <a:rPr lang="de-DE" dirty="0" smtClean="0"/>
                        <a:t> </a:t>
                      </a:r>
                      <a:r>
                        <a:rPr lang="de-DE" dirty="0" err="1" smtClean="0"/>
                        <a:t>technology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#</a:t>
                      </a:r>
                      <a:r>
                        <a:rPr lang="de-DE" baseline="0" dirty="0" smtClean="0"/>
                        <a:t> </a:t>
                      </a:r>
                      <a:r>
                        <a:rPr lang="de-DE" baseline="0" dirty="0" err="1" smtClean="0"/>
                        <a:t>straight</a:t>
                      </a:r>
                      <a:r>
                        <a:rPr lang="de-DE" baseline="0" dirty="0" smtClean="0"/>
                        <a:t> </a:t>
                      </a:r>
                      <a:r>
                        <a:rPr lang="de-DE" baseline="0" dirty="0" err="1" smtClean="0"/>
                        <a:t>sections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# </a:t>
                      </a:r>
                      <a:r>
                        <a:rPr lang="de-DE" dirty="0" err="1" smtClean="0"/>
                        <a:t>bends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 smtClean="0"/>
                        <a:t>circum</a:t>
                      </a:r>
                      <a:r>
                        <a:rPr lang="de-DE" dirty="0" smtClean="0"/>
                        <a:t>-</a:t>
                      </a:r>
                    </a:p>
                    <a:p>
                      <a:pPr algn="ctr"/>
                      <a:r>
                        <a:rPr lang="de-DE" dirty="0" err="1" smtClean="0"/>
                        <a:t>ference</a:t>
                      </a:r>
                      <a:r>
                        <a:rPr lang="de-DE" dirty="0" smtClean="0"/>
                        <a:t> [m]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mtClean="0"/>
                        <a:t>emittance </a:t>
                      </a:r>
                      <a:r>
                        <a:rPr lang="de-DE" dirty="0" smtClean="0"/>
                        <a:t>[</a:t>
                      </a:r>
                      <a:r>
                        <a:rPr lang="de-DE" dirty="0" err="1" smtClean="0"/>
                        <a:t>pm</a:t>
                      </a:r>
                      <a:r>
                        <a:rPr lang="de-DE" dirty="0" smtClean="0"/>
                        <a:t> </a:t>
                      </a:r>
                      <a:r>
                        <a:rPr lang="de-DE" dirty="0" err="1" smtClean="0"/>
                        <a:t>rad</a:t>
                      </a:r>
                      <a:r>
                        <a:rPr lang="de-DE" dirty="0" smtClean="0"/>
                        <a:t>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latin typeface="Symbol" panose="05050102010706020507" pitchFamily="18" charset="2"/>
                        </a:rPr>
                        <a:t>a</a:t>
                      </a:r>
                      <a:r>
                        <a:rPr lang="de-DE" baseline="-25000" dirty="0" smtClean="0"/>
                        <a:t>0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75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SF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2e-6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90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SF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</a:rPr>
                        <a:t>295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2e-6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960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SF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332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1e-6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602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SF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-3e-6 *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135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LGB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</a:rPr>
                        <a:t>-1.5e-5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52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TGB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</a:rPr>
                        <a:t>307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3e-6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76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TGB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</a:rPr>
                        <a:t>306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87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-1e-6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621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LGB + TGB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</a:rPr>
                        <a:t>-1.4e-5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586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05891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9260" y="5506223"/>
            <a:ext cx="71977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SF=separated function, LGB=longitudinal gradient bend, TGB= transverse gradient bend</a:t>
            </a:r>
          </a:p>
          <a:p>
            <a:endParaRPr lang="de-DE" sz="1400" dirty="0"/>
          </a:p>
          <a:p>
            <a:r>
              <a:rPr lang="de-DE" sz="1400" dirty="0" smtClean="0"/>
              <a:t>* </a:t>
            </a:r>
            <a:r>
              <a:rPr lang="en-US" sz="1400" dirty="0" smtClean="0"/>
              <a:t>Negative contribution from matching cell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0633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Summary </a:t>
            </a:r>
            <a:r>
              <a:rPr lang="en-US" sz="1800" dirty="0" smtClean="0"/>
              <a:t>III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33</a:t>
            </a:fld>
            <a:endParaRPr lang="de-DE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22000" y="774000"/>
            <a:ext cx="8192700" cy="5704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Conclusion</a:t>
            </a:r>
          </a:p>
          <a:p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Lattice design is optimization in a 20-30 (?) parameter space and there exist endless equivalent solutions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600" dirty="0" smtClean="0"/>
              <a:t>We need strategies for the development – not singular solutions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600" dirty="0" smtClean="0"/>
              <a:t>Endless adaption of lattices to changing (technical) demands/restrictions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600" dirty="0" smtClean="0"/>
              <a:t>These demands/restrictions will disqualify many solutions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600" dirty="0" smtClean="0"/>
              <a:t>Using clear strategies, we can analyze why certain lattice types work / don’t work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600" dirty="0" smtClean="0"/>
              <a:t>Strategies reveal ‚open‘ issues</a:t>
            </a:r>
            <a:endParaRPr lang="en-US" sz="1600" dirty="0" smtClean="0"/>
          </a:p>
          <a:p>
            <a:endParaRPr lang="en-US" sz="1600" baseline="-25000" dirty="0" smtClean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600" dirty="0" smtClean="0"/>
              <a:t>In the presented case:  What are our priorities?  </a:t>
            </a:r>
          </a:p>
          <a:p>
            <a:pPr lvl="1"/>
            <a:r>
              <a:rPr lang="en-US" sz="1600" dirty="0" smtClean="0"/>
              <a:t>Lowest emittance? </a:t>
            </a:r>
          </a:p>
          <a:p>
            <a:pPr lvl="1"/>
            <a:r>
              <a:rPr lang="en-US" sz="1600" dirty="0" smtClean="0"/>
              <a:t>Efficiency in terms of number of straight section? </a:t>
            </a:r>
          </a:p>
          <a:p>
            <a:pPr lvl="1"/>
            <a:r>
              <a:rPr lang="en-US" sz="1600" dirty="0" smtClean="0"/>
              <a:t>Boundary on </a:t>
            </a:r>
            <a:r>
              <a:rPr lang="en-US" sz="1600" dirty="0" smtClean="0">
                <a:latin typeface="Symbol" panose="05050102010706020507" pitchFamily="18" charset="2"/>
              </a:rPr>
              <a:t>a</a:t>
            </a:r>
            <a:r>
              <a:rPr lang="en-US" sz="1600" baseline="-25000" dirty="0" smtClean="0"/>
              <a:t>0</a:t>
            </a:r>
            <a:r>
              <a:rPr lang="en-US" sz="1600" dirty="0" smtClean="0"/>
              <a:t>?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600" dirty="0" smtClean="0"/>
              <a:t>Limitation of potential candidates</a:t>
            </a:r>
            <a:r>
              <a:rPr lang="en-US" sz="1600" dirty="0" smtClean="0"/>
              <a:t>! Start non-linear optimization for few promising candidates.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b="1" dirty="0" smtClean="0"/>
              <a:t>Next steps in lattice work: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Analyze options for matching cell</a:t>
            </a:r>
          </a:p>
          <a:p>
            <a:pPr lvl="1"/>
            <a:r>
              <a:rPr lang="en-US" sz="1600" dirty="0" smtClean="0"/>
              <a:t>skip restrictions on reverse bend angle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smtClean="0"/>
              <a:t>Understand effective </a:t>
            </a:r>
            <a:r>
              <a:rPr lang="en-US" sz="1600" smtClean="0">
                <a:latin typeface="Symbol" panose="05050102010706020507" pitchFamily="18" charset="2"/>
              </a:rPr>
              <a:t>a</a:t>
            </a:r>
            <a:r>
              <a:rPr lang="en-US" sz="1600" baseline="-25000" smtClean="0"/>
              <a:t>0 </a:t>
            </a:r>
            <a:r>
              <a:rPr lang="en-US" sz="1600" dirty="0" smtClean="0"/>
              <a:t>manipulation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301802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Comparison of arcs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34</a:t>
            </a:fld>
            <a:endParaRPr lang="de-DE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161" y="729000"/>
            <a:ext cx="6671975" cy="186247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000" y="2818319"/>
            <a:ext cx="6756537" cy="18706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20" y="4716523"/>
            <a:ext cx="6722712" cy="18624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2000" y="1314000"/>
            <a:ext cx="10054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16 </a:t>
            </a:r>
            <a:r>
              <a:rPr lang="de-DE" dirty="0" err="1" smtClean="0"/>
              <a:t>arcs</a:t>
            </a:r>
            <a:r>
              <a:rPr lang="de-DE" dirty="0" smtClean="0"/>
              <a:t>,</a:t>
            </a:r>
          </a:p>
          <a:p>
            <a:r>
              <a:rPr lang="de-DE" dirty="0" smtClean="0"/>
              <a:t>7 </a:t>
            </a:r>
            <a:r>
              <a:rPr lang="de-DE" dirty="0" err="1" smtClean="0"/>
              <a:t>bend</a:t>
            </a:r>
            <a:endParaRPr lang="de-DE" dirty="0" smtClean="0"/>
          </a:p>
          <a:p>
            <a:r>
              <a:rPr lang="de-DE" dirty="0" smtClean="0"/>
              <a:t>64pm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42000" y="3322669"/>
            <a:ext cx="10054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18 </a:t>
            </a:r>
            <a:r>
              <a:rPr lang="de-DE" dirty="0" err="1" smtClean="0"/>
              <a:t>arcs</a:t>
            </a:r>
            <a:r>
              <a:rPr lang="de-DE" dirty="0" smtClean="0"/>
              <a:t>,</a:t>
            </a:r>
          </a:p>
          <a:p>
            <a:r>
              <a:rPr lang="de-DE" dirty="0"/>
              <a:t>6</a:t>
            </a:r>
            <a:r>
              <a:rPr lang="de-DE" dirty="0" smtClean="0"/>
              <a:t> </a:t>
            </a:r>
            <a:r>
              <a:rPr lang="de-DE" dirty="0" err="1" smtClean="0"/>
              <a:t>bend</a:t>
            </a:r>
            <a:endParaRPr lang="de-DE" dirty="0" smtClean="0"/>
          </a:p>
          <a:p>
            <a:r>
              <a:rPr lang="de-DE" dirty="0" smtClean="0"/>
              <a:t>80 </a:t>
            </a:r>
            <a:r>
              <a:rPr lang="de-DE" dirty="0" err="1" smtClean="0"/>
              <a:t>pm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42000" y="5257669"/>
            <a:ext cx="10054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20 </a:t>
            </a:r>
            <a:r>
              <a:rPr lang="de-DE" dirty="0" err="1" smtClean="0"/>
              <a:t>arcs</a:t>
            </a:r>
            <a:r>
              <a:rPr lang="de-DE" dirty="0" smtClean="0"/>
              <a:t>,</a:t>
            </a:r>
          </a:p>
          <a:p>
            <a:r>
              <a:rPr lang="de-DE" dirty="0"/>
              <a:t>5</a:t>
            </a:r>
            <a:r>
              <a:rPr lang="de-DE" dirty="0" smtClean="0"/>
              <a:t> </a:t>
            </a:r>
            <a:r>
              <a:rPr lang="de-DE" dirty="0" err="1" smtClean="0"/>
              <a:t>bend</a:t>
            </a:r>
            <a:endParaRPr lang="de-DE" dirty="0" smtClean="0"/>
          </a:p>
          <a:p>
            <a:r>
              <a:rPr lang="de-DE" dirty="0" smtClean="0"/>
              <a:t>116pm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 rot="20707958">
            <a:off x="2367000" y="2946261"/>
            <a:ext cx="486222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sz="2800" dirty="0" err="1" smtClean="0"/>
              <a:t>Thank</a:t>
            </a:r>
            <a:r>
              <a:rPr lang="de-DE" sz="2800" dirty="0" smtClean="0"/>
              <a:t> </a:t>
            </a:r>
            <a:r>
              <a:rPr lang="de-DE" sz="2800" dirty="0" err="1" smtClean="0"/>
              <a:t>you</a:t>
            </a:r>
            <a:r>
              <a:rPr lang="de-DE" sz="2800" dirty="0" smtClean="0"/>
              <a:t> </a:t>
            </a:r>
            <a:r>
              <a:rPr lang="de-DE" sz="2800" dirty="0" err="1" smtClean="0"/>
              <a:t>for</a:t>
            </a:r>
            <a:r>
              <a:rPr lang="de-DE" sz="2800" dirty="0" smtClean="0"/>
              <a:t> </a:t>
            </a:r>
            <a:r>
              <a:rPr lang="de-DE" sz="2800" dirty="0" err="1" smtClean="0"/>
              <a:t>your</a:t>
            </a:r>
            <a:r>
              <a:rPr lang="de-DE" sz="2800" dirty="0" smtClean="0"/>
              <a:t> </a:t>
            </a:r>
            <a:r>
              <a:rPr lang="de-DE" sz="2800" dirty="0" err="1" smtClean="0"/>
              <a:t>attention</a:t>
            </a:r>
            <a:r>
              <a:rPr lang="de-DE" sz="2800" dirty="0" smtClean="0"/>
              <a:t> 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7763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auto">
          <a:xfrm>
            <a:off x="1775619" y="2631259"/>
            <a:ext cx="1081087" cy="101123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0100" y="188913"/>
            <a:ext cx="8229600" cy="4397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de-DE" sz="1800" dirty="0" smtClean="0"/>
              <a:t>Elements </a:t>
            </a:r>
            <a:r>
              <a:rPr lang="de-DE" sz="1800" dirty="0" err="1" smtClean="0"/>
              <a:t>of</a:t>
            </a:r>
            <a:r>
              <a:rPr lang="de-DE" sz="1800" dirty="0" smtClean="0"/>
              <a:t> MBA </a:t>
            </a:r>
            <a:r>
              <a:rPr lang="en-US" sz="1800" dirty="0" smtClean="0"/>
              <a:t>half-cell</a:t>
            </a:r>
            <a:endParaRPr lang="en-US" sz="1800" dirty="0"/>
          </a:p>
        </p:txBody>
      </p:sp>
      <p:sp>
        <p:nvSpPr>
          <p:cNvPr id="5125" name="Foliennummernplatzhalter 3"/>
          <p:cNvSpPr>
            <a:spLocks noGrp="1"/>
          </p:cNvSpPr>
          <p:nvPr>
            <p:ph type="sldNum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C4F3EC8-92E7-4A93-ABCD-3F6C135EAADC}" type="slidenum">
              <a:rPr lang="de-DE" altLang="en-US" sz="1200"/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35</a:t>
            </a:fld>
            <a:endParaRPr lang="de-DE" altLang="en-US" sz="1200" dirty="0"/>
          </a:p>
        </p:txBody>
      </p:sp>
      <p:sp>
        <p:nvSpPr>
          <p:cNvPr id="35" name="Rechteck 34"/>
          <p:cNvSpPr/>
          <p:nvPr/>
        </p:nvSpPr>
        <p:spPr>
          <a:xfrm>
            <a:off x="696119" y="2627312"/>
            <a:ext cx="1079500" cy="1008063"/>
          </a:xfrm>
          <a:prstGeom prst="rect">
            <a:avLst/>
          </a:prstGeom>
          <a:solidFill>
            <a:srgbClr val="FFFF00">
              <a:alpha val="52941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3" name="Gerade Verbindung 32"/>
          <p:cNvCxnSpPr/>
          <p:nvPr/>
        </p:nvCxnSpPr>
        <p:spPr>
          <a:xfrm flipH="1" flipV="1">
            <a:off x="1733550" y="908050"/>
            <a:ext cx="30163" cy="2727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7" name="Textfeld 33"/>
          <p:cNvSpPr txBox="1">
            <a:spLocks noChangeArrowheads="1"/>
          </p:cNvSpPr>
          <p:nvPr/>
        </p:nvSpPr>
        <p:spPr bwMode="auto">
          <a:xfrm>
            <a:off x="331788" y="703263"/>
            <a:ext cx="12493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MBA cell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symmetry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point</a:t>
            </a:r>
          </a:p>
        </p:txBody>
      </p:sp>
      <p:cxnSp>
        <p:nvCxnSpPr>
          <p:cNvPr id="47" name="Gerade Verbindung 46"/>
          <p:cNvCxnSpPr/>
          <p:nvPr/>
        </p:nvCxnSpPr>
        <p:spPr>
          <a:xfrm flipV="1">
            <a:off x="6416675" y="1349375"/>
            <a:ext cx="0" cy="2295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1" name="Textfeld 2"/>
          <p:cNvSpPr txBox="1">
            <a:spLocks noChangeArrowheads="1"/>
          </p:cNvSpPr>
          <p:nvPr/>
        </p:nvSpPr>
        <p:spPr bwMode="auto">
          <a:xfrm>
            <a:off x="3027363" y="5138738"/>
            <a:ext cx="18415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</p:txBody>
      </p:sp>
      <p:cxnSp>
        <p:nvCxnSpPr>
          <p:cNvPr id="18" name="Gerade Verbindung mit Pfeil 17"/>
          <p:cNvCxnSpPr>
            <a:stCxn id="4107" idx="2"/>
          </p:cNvCxnSpPr>
          <p:nvPr/>
        </p:nvCxnSpPr>
        <p:spPr>
          <a:xfrm>
            <a:off x="955675" y="1627188"/>
            <a:ext cx="777875" cy="288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4" name="Textfeld 47"/>
          <p:cNvSpPr txBox="1">
            <a:spLocks noChangeArrowheads="1"/>
          </p:cNvSpPr>
          <p:nvPr/>
        </p:nvSpPr>
        <p:spPr bwMode="auto">
          <a:xfrm>
            <a:off x="6484938" y="1025525"/>
            <a:ext cx="189071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</a:rPr>
              <a:t>Symmetry </a:t>
            </a:r>
            <a:r>
              <a:rPr lang="en-US" altLang="en-US" sz="1800" b="0" dirty="0">
                <a:solidFill>
                  <a:schemeClr val="tx1"/>
                </a:solidFill>
              </a:rPr>
              <a:t>point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to next MBA cell</a:t>
            </a:r>
          </a:p>
        </p:txBody>
      </p:sp>
      <p:cxnSp>
        <p:nvCxnSpPr>
          <p:cNvPr id="27" name="Gerade Verbindung mit Pfeil 26"/>
          <p:cNvCxnSpPr>
            <a:stCxn id="4114" idx="2"/>
          </p:cNvCxnSpPr>
          <p:nvPr/>
        </p:nvCxnSpPr>
        <p:spPr>
          <a:xfrm flipH="1">
            <a:off x="6416675" y="1673225"/>
            <a:ext cx="1014413" cy="5984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5" name="Rechteck 2"/>
          <p:cNvSpPr>
            <a:spLocks noChangeArrowheads="1"/>
          </p:cNvSpPr>
          <p:nvPr/>
        </p:nvSpPr>
        <p:spPr bwMode="auto">
          <a:xfrm>
            <a:off x="1737000" y="1944000"/>
            <a:ext cx="12620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</a:rPr>
              <a:t>Half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m</a:t>
            </a:r>
            <a:r>
              <a:rPr lang="en-US" altLang="en-US" sz="1800" b="0" dirty="0" smtClean="0">
                <a:solidFill>
                  <a:schemeClr val="tx1"/>
                </a:solidFill>
              </a:rPr>
              <a:t>ain </a:t>
            </a:r>
            <a:r>
              <a:rPr lang="en-US" altLang="en-US" sz="1800" b="0" dirty="0">
                <a:solidFill>
                  <a:schemeClr val="tx1"/>
                </a:solidFill>
              </a:rPr>
              <a:t>bend</a:t>
            </a:r>
          </a:p>
        </p:txBody>
      </p:sp>
      <p:sp>
        <p:nvSpPr>
          <p:cNvPr id="5136" name="Rechteck 45"/>
          <p:cNvSpPr>
            <a:spLocks noChangeArrowheads="1"/>
          </p:cNvSpPr>
          <p:nvPr/>
        </p:nvSpPr>
        <p:spPr bwMode="auto">
          <a:xfrm>
            <a:off x="5292000" y="4104000"/>
            <a:ext cx="1620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Reverse bend</a:t>
            </a:r>
          </a:p>
        </p:txBody>
      </p:sp>
      <p:sp>
        <p:nvSpPr>
          <p:cNvPr id="48" name="Rechteck 47"/>
          <p:cNvSpPr/>
          <p:nvPr/>
        </p:nvSpPr>
        <p:spPr bwMode="auto">
          <a:xfrm>
            <a:off x="6431756" y="2907720"/>
            <a:ext cx="179388" cy="720725"/>
          </a:xfrm>
          <a:prstGeom prst="rect">
            <a:avLst/>
          </a:prstGeom>
          <a:solidFill>
            <a:srgbClr val="00B050">
              <a:alpha val="5098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" name="Gerade Verbindung 4"/>
          <p:cNvCxnSpPr/>
          <p:nvPr/>
        </p:nvCxnSpPr>
        <p:spPr bwMode="auto">
          <a:xfrm>
            <a:off x="323850" y="3635375"/>
            <a:ext cx="7893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/>
          <p:cNvSpPr/>
          <p:nvPr/>
        </p:nvSpPr>
        <p:spPr bwMode="auto">
          <a:xfrm>
            <a:off x="3242958" y="2901628"/>
            <a:ext cx="478445" cy="74067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1" name="Rechteck 10"/>
          <p:cNvSpPr/>
          <p:nvPr/>
        </p:nvSpPr>
        <p:spPr bwMode="auto">
          <a:xfrm>
            <a:off x="4860925" y="2915007"/>
            <a:ext cx="503238" cy="7207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hteck 11"/>
          <p:cNvSpPr/>
          <p:nvPr/>
        </p:nvSpPr>
        <p:spPr bwMode="auto">
          <a:xfrm>
            <a:off x="5725716" y="3642307"/>
            <a:ext cx="276622" cy="50669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hteck 7"/>
          <p:cNvSpPr/>
          <p:nvPr/>
        </p:nvSpPr>
        <p:spPr bwMode="auto">
          <a:xfrm>
            <a:off x="4117975" y="2906959"/>
            <a:ext cx="360362" cy="72072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hteck 13"/>
          <p:cNvSpPr/>
          <p:nvPr/>
        </p:nvSpPr>
        <p:spPr bwMode="auto">
          <a:xfrm>
            <a:off x="6229350" y="2914650"/>
            <a:ext cx="179388" cy="72072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45" name="Textfeld 8"/>
          <p:cNvSpPr txBox="1">
            <a:spLocks noChangeArrowheads="1"/>
          </p:cNvSpPr>
          <p:nvPr/>
        </p:nvSpPr>
        <p:spPr bwMode="auto">
          <a:xfrm>
            <a:off x="1619250" y="3635375"/>
            <a:ext cx="6597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</a:rPr>
              <a:t>0        0.2      0.4      0.6        0.8     1.0       1.2      1.4      1.6   m</a:t>
            </a:r>
          </a:p>
        </p:txBody>
      </p:sp>
      <p:sp>
        <p:nvSpPr>
          <p:cNvPr id="17" name="Rechteck 16"/>
          <p:cNvSpPr/>
          <p:nvPr/>
        </p:nvSpPr>
        <p:spPr>
          <a:xfrm>
            <a:off x="3311525" y="1423988"/>
            <a:ext cx="396875" cy="1441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Textfeld 39"/>
          <p:cNvSpPr txBox="1">
            <a:spLocks noChangeArrowheads="1"/>
          </p:cNvSpPr>
          <p:nvPr/>
        </p:nvSpPr>
        <p:spPr bwMode="auto">
          <a:xfrm>
            <a:off x="477000" y="4914000"/>
            <a:ext cx="4275529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rgbClr val="0070C0"/>
                </a:solidFill>
              </a:rPr>
              <a:t>Elements (separated function magnets):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en-US" sz="1600" b="0" dirty="0" smtClean="0">
                <a:solidFill>
                  <a:schemeClr val="tx1"/>
                </a:solidFill>
              </a:rPr>
              <a:t>Half </a:t>
            </a:r>
            <a:r>
              <a:rPr lang="de-DE" altLang="en-US" sz="1600" b="0" dirty="0" err="1" smtClean="0">
                <a:solidFill>
                  <a:schemeClr val="tx1"/>
                </a:solidFill>
              </a:rPr>
              <a:t>main</a:t>
            </a:r>
            <a:r>
              <a:rPr lang="de-DE" altLang="en-US" sz="1600" b="0" dirty="0" smtClean="0">
                <a:solidFill>
                  <a:schemeClr val="tx1"/>
                </a:solidFill>
              </a:rPr>
              <a:t> </a:t>
            </a:r>
            <a:r>
              <a:rPr lang="de-DE" altLang="en-US" sz="1600" b="0" dirty="0" err="1" smtClean="0">
                <a:solidFill>
                  <a:schemeClr val="tx1"/>
                </a:solidFill>
              </a:rPr>
              <a:t>bend</a:t>
            </a:r>
            <a:r>
              <a:rPr lang="de-DE" altLang="en-US" sz="1600" b="0" dirty="0" smtClean="0">
                <a:solidFill>
                  <a:schemeClr val="tx1"/>
                </a:solidFill>
              </a:rPr>
              <a:t> </a:t>
            </a:r>
            <a:r>
              <a:rPr lang="de-DE" altLang="en-US" sz="1600" b="0" dirty="0" err="1" smtClean="0">
                <a:solidFill>
                  <a:schemeClr val="tx1"/>
                </a:solidFill>
              </a:rPr>
              <a:t>and</a:t>
            </a:r>
            <a:r>
              <a:rPr lang="de-DE" altLang="en-US" sz="1600" b="0" dirty="0" smtClean="0">
                <a:solidFill>
                  <a:schemeClr val="tx1"/>
                </a:solidFill>
              </a:rPr>
              <a:t> </a:t>
            </a:r>
            <a:r>
              <a:rPr lang="de-DE" altLang="en-US" sz="1600" b="0" dirty="0" err="1" smtClean="0">
                <a:solidFill>
                  <a:schemeClr val="tx1"/>
                </a:solidFill>
              </a:rPr>
              <a:t>reverse</a:t>
            </a:r>
            <a:r>
              <a:rPr lang="de-DE" altLang="en-US" sz="1600" b="0" dirty="0" smtClean="0">
                <a:solidFill>
                  <a:schemeClr val="tx1"/>
                </a:solidFill>
              </a:rPr>
              <a:t> </a:t>
            </a:r>
            <a:r>
              <a:rPr lang="de-DE" altLang="en-US" sz="1600" b="0" dirty="0" err="1" smtClean="0">
                <a:solidFill>
                  <a:schemeClr val="tx1"/>
                </a:solidFill>
              </a:rPr>
              <a:t>bend</a:t>
            </a:r>
            <a:endParaRPr lang="de-DE" altLang="en-US" sz="1600" b="0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de-DE" altLang="en-US" sz="1600" b="0" dirty="0">
                <a:solidFill>
                  <a:schemeClr val="tx1"/>
                </a:solidFill>
              </a:rPr>
              <a:t> </a:t>
            </a:r>
            <a:r>
              <a:rPr lang="de-DE" altLang="en-US" sz="1600" b="0" dirty="0" smtClean="0">
                <a:solidFill>
                  <a:schemeClr val="tx1"/>
                </a:solidFill>
              </a:rPr>
              <a:t>     (</a:t>
            </a:r>
            <a:r>
              <a:rPr lang="de-DE" altLang="en-US" sz="1600" b="0" dirty="0" err="1">
                <a:solidFill>
                  <a:schemeClr val="tx1"/>
                </a:solidFill>
              </a:rPr>
              <a:t>k</a:t>
            </a:r>
            <a:r>
              <a:rPr lang="de-DE" altLang="en-US" sz="1600" b="0" dirty="0" err="1" smtClean="0">
                <a:solidFill>
                  <a:schemeClr val="tx1"/>
                </a:solidFill>
              </a:rPr>
              <a:t>now</a:t>
            </a:r>
            <a:r>
              <a:rPr lang="de-DE" altLang="en-US" sz="1600" b="0" dirty="0" smtClean="0">
                <a:solidFill>
                  <a:schemeClr val="tx1"/>
                </a:solidFill>
              </a:rPr>
              <a:t> </a:t>
            </a:r>
            <a:r>
              <a:rPr lang="de-DE" altLang="en-US" sz="1600" b="0" dirty="0" err="1" smtClean="0">
                <a:solidFill>
                  <a:schemeClr val="tx1"/>
                </a:solidFill>
              </a:rPr>
              <a:t>length</a:t>
            </a:r>
            <a:r>
              <a:rPr lang="de-DE" altLang="en-US" sz="1600" b="0" dirty="0" smtClean="0">
                <a:solidFill>
                  <a:schemeClr val="tx1"/>
                </a:solidFill>
              </a:rPr>
              <a:t> </a:t>
            </a:r>
            <a:r>
              <a:rPr lang="de-DE" altLang="en-US" sz="1600" b="0" dirty="0" err="1" smtClean="0">
                <a:solidFill>
                  <a:schemeClr val="tx1"/>
                </a:solidFill>
              </a:rPr>
              <a:t>and</a:t>
            </a:r>
            <a:r>
              <a:rPr lang="de-DE" altLang="en-US" sz="1600" b="0" dirty="0" smtClean="0">
                <a:solidFill>
                  <a:schemeClr val="tx1"/>
                </a:solidFill>
              </a:rPr>
              <a:t> angle)</a:t>
            </a:r>
            <a:endParaRPr lang="en-US" altLang="en-US" sz="1600" b="0" dirty="0" smtClean="0">
              <a:solidFill>
                <a:schemeClr val="tx1"/>
              </a:solidFill>
            </a:endParaRP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600" b="0" dirty="0" smtClean="0">
                <a:solidFill>
                  <a:schemeClr val="tx1"/>
                </a:solidFill>
              </a:rPr>
              <a:t>2 quadrupoles (QF, QD)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600" b="0" dirty="0" smtClean="0">
                <a:solidFill>
                  <a:schemeClr val="tx1"/>
                </a:solidFill>
              </a:rPr>
              <a:t>2 </a:t>
            </a:r>
            <a:r>
              <a:rPr lang="en-US" altLang="en-US" sz="1600" b="0" dirty="0" err="1" smtClean="0">
                <a:solidFill>
                  <a:schemeClr val="tx1"/>
                </a:solidFill>
              </a:rPr>
              <a:t>sextupoles</a:t>
            </a:r>
            <a:r>
              <a:rPr lang="en-US" altLang="en-US" sz="1600" b="0" dirty="0" smtClean="0">
                <a:solidFill>
                  <a:schemeClr val="tx1"/>
                </a:solidFill>
              </a:rPr>
              <a:t>  (SF, SD)</a:t>
            </a:r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40188" y="3050421"/>
            <a:ext cx="588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SX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280237" y="305511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Q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907022" y="30559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Q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966618" y="2952500"/>
            <a:ext cx="588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SX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4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7" grpId="0" animBg="1"/>
      <p:bldP spid="11" grpId="0" animBg="1"/>
      <p:bldP spid="8" grpId="0" animBg="1"/>
      <p:bldP spid="14" grpId="0" animBg="1"/>
      <p:bldP spid="3" grpId="0"/>
      <p:bldP spid="34" grpId="0"/>
      <p:bldP spid="36" grpId="0"/>
      <p:bldP spid="37" grpId="0"/>
    </p:bldLst>
  </p:timing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3448</Words>
  <Application>Microsoft Office PowerPoint</Application>
  <PresentationFormat>On-screen Show (4:3)</PresentationFormat>
  <Paragraphs>715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Cambria Math</vt:lpstr>
      <vt:lpstr>Courier New</vt:lpstr>
      <vt:lpstr>Symbol</vt:lpstr>
      <vt:lpstr>Wingdings</vt:lpstr>
      <vt:lpstr>Larissa-Design</vt:lpstr>
      <vt:lpstr>BIII – Lattice design</vt:lpstr>
      <vt:lpstr>Goal and references</vt:lpstr>
      <vt:lpstr> Content</vt:lpstr>
      <vt:lpstr> Structure  of  MBA-Lattices</vt:lpstr>
      <vt:lpstr>Basic MBA half-cell as transfer line</vt:lpstr>
      <vt:lpstr>General formulas</vt:lpstr>
      <vt:lpstr>Following the paper of Riemann and Streun…</vt:lpstr>
      <vt:lpstr>Emittance of MBA cell with single Bend  and with reverse Bend</vt:lpstr>
      <vt:lpstr>Emittance in a Cell with homo. Bend and homo. Reverse bend</vt:lpstr>
      <vt:lpstr>Twiss parameters in Basic MBA half-cell</vt:lpstr>
      <vt:lpstr>Plugging in numbers</vt:lpstr>
      <vt:lpstr>Prototype  MBA half-cell</vt:lpstr>
      <vt:lpstr>Prototyp MBA cell with reverse bend, minimal emittance</vt:lpstr>
      <vt:lpstr>Matching cell</vt:lpstr>
      <vt:lpstr>MBA cell with reverse bend, minimal emittance</vt:lpstr>
      <vt:lpstr>Separated function,  6-bend  MBA with 18 straight sections</vt:lpstr>
      <vt:lpstr>Dynamic aperture 6-bend  MBA, 18 straights </vt:lpstr>
      <vt:lpstr>Variations of basic MBA - Lattice</vt:lpstr>
      <vt:lpstr>Changing the number of MBA-cells / arcs</vt:lpstr>
      <vt:lpstr>Changing the number of MBA-cells / arcs</vt:lpstr>
      <vt:lpstr>Conclusions – MBA with separated function magnets</vt:lpstr>
      <vt:lpstr>Longitudinal gradient bend </vt:lpstr>
      <vt:lpstr>5-bend  MBA with  LGB main magnet, 20 straights</vt:lpstr>
      <vt:lpstr>Dynamic aperture 5 bend with LGB</vt:lpstr>
      <vt:lpstr>Bends with transverse Gradient – Option 1</vt:lpstr>
      <vt:lpstr>Bends with transverse Gradient – Option 2</vt:lpstr>
      <vt:lpstr>7-bend  MBA with  displaced QF and 16 straight sections</vt:lpstr>
      <vt:lpstr>Dynamic aperture 7 bend with displaced QF</vt:lpstr>
      <vt:lpstr>5-bend  MBA with  LGB, displaced QF and 20 straight sections</vt:lpstr>
      <vt:lpstr>Dynamic aperture 5 bend with LGB and displ. QF 20 straights</vt:lpstr>
      <vt:lpstr>Summary I</vt:lpstr>
      <vt:lpstr>Summary II: Prototype  lattice  comparison</vt:lpstr>
      <vt:lpstr>Summary III</vt:lpstr>
      <vt:lpstr>Comparison of arcs</vt:lpstr>
      <vt:lpstr>Elements of MBA half-cell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Monica Mantel</dc:creator>
  <cp:lastModifiedBy>Kuske, Bettina</cp:lastModifiedBy>
  <cp:revision>363</cp:revision>
  <dcterms:created xsi:type="dcterms:W3CDTF">2009-04-16T12:28:49Z</dcterms:created>
  <dcterms:modified xsi:type="dcterms:W3CDTF">2020-08-20T06:55:53Z</dcterms:modified>
</cp:coreProperties>
</file>